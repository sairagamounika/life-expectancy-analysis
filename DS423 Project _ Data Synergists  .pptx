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notesMasterIdLst>
    <p:notesMasterId r:id="rId5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sldSz cx="12192000" cy="6858000"/>
  <p:notesSz cx="6858000" cy="9144000"/>
  <p:embeddedFontLst>
    <p:embeddedFont>
      <p:font typeface="Corbel" panose="020B0503020204020204" pitchFamily="34" charset="0"/>
      <p:regular r:id="rId51"/>
      <p:bold r:id="rId52"/>
      <p:italic r:id="rId53"/>
      <p:boldItalic r:id="rId54"/>
    </p:embeddedFont>
    <p:embeddedFont>
      <p:font typeface="Inter" panose="020B0604020202020204" charset="0"/>
      <p:regular r:id="rId55"/>
      <p:bold r:id="rId5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font" Target="fonts/font5.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3.fntdata"/><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6.fntdata"/><Relationship Id="rId8" Type="http://schemas.openxmlformats.org/officeDocument/2006/relationships/slide" Target="slides/slide7.xml"/><Relationship Id="rId51" Type="http://schemas.openxmlformats.org/officeDocument/2006/relationships/font" Target="fonts/font1.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2.fntdata"/><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g26b77ddce42_5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 name="Google Shape;73;g26b77ddce42_5_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0" name="Google Shape;80;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26b77ddce42_12_19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26b77ddce42_12_1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26b77ddce42_12_22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6b77ddce42_12_2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26b77ddce42_11_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26b77ddce42_11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5" name="Google Shape;12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26b77ddce42_11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26b77ddce42_11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8" name="Google Shape;13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26b77ddce42_11_14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26b77ddce42_11_1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3" name="Google Shape;153;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26b77ddce42_11_1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 name="Google Shape;160;g26b77ddce42_11_1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26b77ddce42_11_15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26b77ddce42_11_1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7" name="Google Shape;177;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4" name="Google Shape;184;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3" name="Google Shape;193;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0" name="Google Shape;200;p1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8" name="Google Shape;208;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5" name="Google Shape;215;p1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2" name="Google Shape;222;p1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9" name="Google Shape;229;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4" name="Google Shape;234;p2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8" name="Google Shape;248;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26b77de9827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5" name="Google Shape;255;g26b77de982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26b77ddce42_7_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26b77ddce42_7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26b77de9827_0_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 name="Google Shape;267;g26b77de9827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26b77ddce42_7_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3" name="Google Shape;273;g26b77ddce42_7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26b77ddce42_7_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26b77ddce42_7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g26b77ddce42_7_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6" name="Google Shape;286;g26b77ddce42_7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26b77ddce42_7_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26b77ddce42_7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26b77ddce42_7_6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26b77ddce42_7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g26b77ddce42_7_6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5" name="Google Shape;305;g26b77ddce42_7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g26b77ddce42_7_7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1" name="Google Shape;311;g26b77ddce42_7_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g26b77ddce42_7_7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6" name="Google Shape;316;g26b77ddce42_7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26b77ddce42_7_8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3" name="Google Shape;323;g26b77ddce42_7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26b77ddce42_7_8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9" name="Google Shape;329;g26b77ddce42_7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26b77ddce42_7_9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6" name="Google Shape;336;g26b77ddce42_7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g26b77ddce42_7_10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2" name="Google Shape;342;g26b77ddce42_7_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g26b77ddce42_7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9" name="Google Shape;349;g26b77ddce42_7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g26b77ddce42_7_1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6" name="Google Shape;356;g26b77ddce42_7_1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g26b77ddce42_7_1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 name="Google Shape;363;g26b77ddce42_7_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g26b77ddce42_7_1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9" name="Google Shape;369;g26b77ddce42_7_1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g26b77ddce42_7_1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5" name="Google Shape;375;g26b77ddce42_7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g26b77ddce42_7_1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2" name="Google Shape;382;g26b77ddce42_7_1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g26b77ddce42_7_1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9" name="Google Shape;389;g26b77ddce42_7_1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g26b77ddce42_7_1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5" name="Google Shape;395;g26b77ddce42_7_1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g26b77de9827_0_2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2" name="Google Shape;402;g26b77de9827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g26b77de9827_0_3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8" name="Google Shape;408;g26b77de9827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415611" y="992767"/>
            <a:ext cx="11360700" cy="2736900"/>
          </a:xfrm>
          <a:prstGeom prst="rect">
            <a:avLst/>
          </a:prstGeom>
        </p:spPr>
        <p:txBody>
          <a:bodyPr spcFirstLastPara="1" wrap="square" lIns="121900" tIns="121900" rIns="121900" bIns="121900" anchor="b" anchorCtr="0">
            <a:normAutofit/>
          </a:bodyPr>
          <a:lstStyle>
            <a:lvl1pPr lvl="0" algn="ctr">
              <a:spcBef>
                <a:spcPts val="0"/>
              </a:spcBef>
              <a:spcAft>
                <a:spcPts val="0"/>
              </a:spcAft>
              <a:buSzPts val="6900"/>
              <a:buNone/>
              <a:defRPr sz="6900"/>
            </a:lvl1pPr>
            <a:lvl2pPr lvl="1" algn="ctr">
              <a:spcBef>
                <a:spcPts val="0"/>
              </a:spcBef>
              <a:spcAft>
                <a:spcPts val="0"/>
              </a:spcAft>
              <a:buSzPts val="6900"/>
              <a:buNone/>
              <a:defRPr sz="6900"/>
            </a:lvl2pPr>
            <a:lvl3pPr lvl="2" algn="ctr">
              <a:spcBef>
                <a:spcPts val="0"/>
              </a:spcBef>
              <a:spcAft>
                <a:spcPts val="0"/>
              </a:spcAft>
              <a:buSzPts val="6900"/>
              <a:buNone/>
              <a:defRPr sz="6900"/>
            </a:lvl3pPr>
            <a:lvl4pPr lvl="3" algn="ctr">
              <a:spcBef>
                <a:spcPts val="0"/>
              </a:spcBef>
              <a:spcAft>
                <a:spcPts val="0"/>
              </a:spcAft>
              <a:buSzPts val="6900"/>
              <a:buNone/>
              <a:defRPr sz="6900"/>
            </a:lvl4pPr>
            <a:lvl5pPr lvl="4" algn="ctr">
              <a:spcBef>
                <a:spcPts val="0"/>
              </a:spcBef>
              <a:spcAft>
                <a:spcPts val="0"/>
              </a:spcAft>
              <a:buSzPts val="6900"/>
              <a:buNone/>
              <a:defRPr sz="6900"/>
            </a:lvl5pPr>
            <a:lvl6pPr lvl="5" algn="ctr">
              <a:spcBef>
                <a:spcPts val="0"/>
              </a:spcBef>
              <a:spcAft>
                <a:spcPts val="0"/>
              </a:spcAft>
              <a:buSzPts val="6900"/>
              <a:buNone/>
              <a:defRPr sz="6900"/>
            </a:lvl6pPr>
            <a:lvl7pPr lvl="6" algn="ctr">
              <a:spcBef>
                <a:spcPts val="0"/>
              </a:spcBef>
              <a:spcAft>
                <a:spcPts val="0"/>
              </a:spcAft>
              <a:buSzPts val="6900"/>
              <a:buNone/>
              <a:defRPr sz="6900"/>
            </a:lvl7pPr>
            <a:lvl8pPr lvl="7" algn="ctr">
              <a:spcBef>
                <a:spcPts val="0"/>
              </a:spcBef>
              <a:spcAft>
                <a:spcPts val="0"/>
              </a:spcAft>
              <a:buSzPts val="6900"/>
              <a:buNone/>
              <a:defRPr sz="6900"/>
            </a:lvl8pPr>
            <a:lvl9pPr lvl="8" algn="ctr">
              <a:spcBef>
                <a:spcPts val="0"/>
              </a:spcBef>
              <a:spcAft>
                <a:spcPts val="0"/>
              </a:spcAft>
              <a:buSzPts val="6900"/>
              <a:buNone/>
              <a:defRPr sz="6900"/>
            </a:lvl9pPr>
          </a:lstStyle>
          <a:p>
            <a:endParaRPr/>
          </a:p>
        </p:txBody>
      </p:sp>
      <p:sp>
        <p:nvSpPr>
          <p:cNvPr id="11" name="Google Shape;11;p2"/>
          <p:cNvSpPr txBox="1">
            <a:spLocks noGrp="1"/>
          </p:cNvSpPr>
          <p:nvPr>
            <p:ph type="subTitle" idx="1"/>
          </p:nvPr>
        </p:nvSpPr>
        <p:spPr>
          <a:xfrm>
            <a:off x="415600" y="3778833"/>
            <a:ext cx="11360700" cy="1056900"/>
          </a:xfrm>
          <a:prstGeom prst="rect">
            <a:avLst/>
          </a:prstGeom>
        </p:spPr>
        <p:txBody>
          <a:bodyPr spcFirstLastPara="1" wrap="square" lIns="121900" tIns="121900" rIns="121900" bIns="121900" anchor="t" anchorCtr="0">
            <a:norm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a:endParaRPr/>
          </a:p>
        </p:txBody>
      </p:sp>
      <p:sp>
        <p:nvSpPr>
          <p:cNvPr id="12" name="Google Shape;12;p2"/>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415600" y="2867800"/>
            <a:ext cx="11360700" cy="1122300"/>
          </a:xfrm>
          <a:prstGeom prst="rect">
            <a:avLst/>
          </a:prstGeom>
        </p:spPr>
        <p:txBody>
          <a:bodyPr spcFirstLastPara="1" wrap="square" lIns="121900" tIns="121900" rIns="121900" bIns="121900" anchor="ctr" anchorCtr="0">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15" name="Google Shape;15;p3"/>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700" cy="763500"/>
          </a:xfrm>
          <a:prstGeom prst="rect">
            <a:avLst/>
          </a:prstGeom>
        </p:spPr>
        <p:txBody>
          <a:bodyPr spcFirstLastPara="1" wrap="square" lIns="121900" tIns="121900" rIns="121900" bIns="121900" anchor="t" anchorCtr="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18" name="Google Shape;18;p4"/>
          <p:cNvSpPr txBox="1">
            <a:spLocks noGrp="1"/>
          </p:cNvSpPr>
          <p:nvPr>
            <p:ph type="body" idx="1"/>
          </p:nvPr>
        </p:nvSpPr>
        <p:spPr>
          <a:xfrm>
            <a:off x="415600" y="1536633"/>
            <a:ext cx="11360700" cy="4555200"/>
          </a:xfrm>
          <a:prstGeom prst="rect">
            <a:avLst/>
          </a:prstGeom>
        </p:spPr>
        <p:txBody>
          <a:bodyPr spcFirstLastPara="1" wrap="square" lIns="121900" tIns="121900" rIns="121900" bIns="121900" anchor="t" anchorCtr="0">
            <a:normAutofit/>
          </a:bodyPr>
          <a:lstStyle>
            <a:lvl1pPr marL="457200" lvl="0" indent="-381000">
              <a:spcBef>
                <a:spcPts val="0"/>
              </a:spcBef>
              <a:spcAft>
                <a:spcPts val="0"/>
              </a:spcAft>
              <a:buSzPts val="2400"/>
              <a:buChar char="●"/>
              <a:defRPr/>
            </a:lvl1pPr>
            <a:lvl2pPr marL="914400" lvl="1" indent="-349250">
              <a:spcBef>
                <a:spcPts val="0"/>
              </a:spcBef>
              <a:spcAft>
                <a:spcPts val="0"/>
              </a:spcAft>
              <a:buSzPts val="1900"/>
              <a:buChar char="○"/>
              <a:defRPr/>
            </a:lvl2pPr>
            <a:lvl3pPr marL="1371600" lvl="2" indent="-349250">
              <a:spcBef>
                <a:spcPts val="0"/>
              </a:spcBef>
              <a:spcAft>
                <a:spcPts val="0"/>
              </a:spcAft>
              <a:buSzPts val="1900"/>
              <a:buChar char="■"/>
              <a:defRPr/>
            </a:lvl3pPr>
            <a:lvl4pPr marL="1828800" lvl="3" indent="-349250">
              <a:spcBef>
                <a:spcPts val="0"/>
              </a:spcBef>
              <a:spcAft>
                <a:spcPts val="0"/>
              </a:spcAft>
              <a:buSzPts val="1900"/>
              <a:buChar char="●"/>
              <a:defRPr/>
            </a:lvl4pPr>
            <a:lvl5pPr marL="2286000" lvl="4" indent="-349250">
              <a:spcBef>
                <a:spcPts val="0"/>
              </a:spcBef>
              <a:spcAft>
                <a:spcPts val="0"/>
              </a:spcAft>
              <a:buSzPts val="1900"/>
              <a:buChar char="○"/>
              <a:defRPr/>
            </a:lvl5pPr>
            <a:lvl6pPr marL="2743200" lvl="5" indent="-349250">
              <a:spcBef>
                <a:spcPts val="0"/>
              </a:spcBef>
              <a:spcAft>
                <a:spcPts val="0"/>
              </a:spcAft>
              <a:buSzPts val="1900"/>
              <a:buChar char="■"/>
              <a:defRPr/>
            </a:lvl6pPr>
            <a:lvl7pPr marL="3200400" lvl="6" indent="-349250">
              <a:spcBef>
                <a:spcPts val="0"/>
              </a:spcBef>
              <a:spcAft>
                <a:spcPts val="0"/>
              </a:spcAft>
              <a:buSzPts val="1900"/>
              <a:buChar char="●"/>
              <a:defRPr/>
            </a:lvl7pPr>
            <a:lvl8pPr marL="3657600" lvl="7" indent="-349250">
              <a:spcBef>
                <a:spcPts val="0"/>
              </a:spcBef>
              <a:spcAft>
                <a:spcPts val="0"/>
              </a:spcAft>
              <a:buSzPts val="1900"/>
              <a:buChar char="○"/>
              <a:defRPr/>
            </a:lvl8pPr>
            <a:lvl9pPr marL="4114800" lvl="8" indent="-349250">
              <a:spcBef>
                <a:spcPts val="0"/>
              </a:spcBef>
              <a:spcAft>
                <a:spcPts val="0"/>
              </a:spcAft>
              <a:buSzPts val="1900"/>
              <a:buChar char="■"/>
              <a:defRPr/>
            </a:lvl9pPr>
          </a:lstStyle>
          <a:p>
            <a:endParaRPr/>
          </a:p>
        </p:txBody>
      </p:sp>
      <p:sp>
        <p:nvSpPr>
          <p:cNvPr id="19" name="Google Shape;19;p4"/>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415600" y="593367"/>
            <a:ext cx="11360700" cy="763500"/>
          </a:xfrm>
          <a:prstGeom prst="rect">
            <a:avLst/>
          </a:prstGeom>
        </p:spPr>
        <p:txBody>
          <a:bodyPr spcFirstLastPara="1" wrap="square" lIns="121900" tIns="121900" rIns="121900" bIns="121900" anchor="t" anchorCtr="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22" name="Google Shape;22;p5"/>
          <p:cNvSpPr txBox="1">
            <a:spLocks noGrp="1"/>
          </p:cNvSpPr>
          <p:nvPr>
            <p:ph type="body" idx="1"/>
          </p:nvPr>
        </p:nvSpPr>
        <p:spPr>
          <a:xfrm>
            <a:off x="415600" y="1536633"/>
            <a:ext cx="5333100" cy="4555200"/>
          </a:xfrm>
          <a:prstGeom prst="rect">
            <a:avLst/>
          </a:prstGeom>
        </p:spPr>
        <p:txBody>
          <a:bodyPr spcFirstLastPara="1" wrap="square" lIns="121900" tIns="121900" rIns="121900" bIns="121900" anchor="t" anchorCtr="0">
            <a:normAutofit/>
          </a:bodyPr>
          <a:lstStyle>
            <a:lvl1pPr marL="457200" lvl="0" indent="-349250">
              <a:spcBef>
                <a:spcPts val="0"/>
              </a:spcBef>
              <a:spcAft>
                <a:spcPts val="0"/>
              </a:spcAft>
              <a:buSzPts val="1900"/>
              <a:buChar char="●"/>
              <a:defRPr sz="19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23" name="Google Shape;23;p5"/>
          <p:cNvSpPr txBox="1">
            <a:spLocks noGrp="1"/>
          </p:cNvSpPr>
          <p:nvPr>
            <p:ph type="body" idx="2"/>
          </p:nvPr>
        </p:nvSpPr>
        <p:spPr>
          <a:xfrm>
            <a:off x="6443200" y="1536633"/>
            <a:ext cx="5333100" cy="4555200"/>
          </a:xfrm>
          <a:prstGeom prst="rect">
            <a:avLst/>
          </a:prstGeom>
        </p:spPr>
        <p:txBody>
          <a:bodyPr spcFirstLastPara="1" wrap="square" lIns="121900" tIns="121900" rIns="121900" bIns="121900" anchor="t" anchorCtr="0">
            <a:normAutofit/>
          </a:bodyPr>
          <a:lstStyle>
            <a:lvl1pPr marL="457200" lvl="0" indent="-349250">
              <a:spcBef>
                <a:spcPts val="0"/>
              </a:spcBef>
              <a:spcAft>
                <a:spcPts val="0"/>
              </a:spcAft>
              <a:buSzPts val="1900"/>
              <a:buChar char="●"/>
              <a:defRPr sz="19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24" name="Google Shape;24;p5"/>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415600" y="593367"/>
            <a:ext cx="11360700" cy="763500"/>
          </a:xfrm>
          <a:prstGeom prst="rect">
            <a:avLst/>
          </a:prstGeom>
        </p:spPr>
        <p:txBody>
          <a:bodyPr spcFirstLastPara="1" wrap="square" lIns="121900" tIns="121900" rIns="121900" bIns="121900" anchor="t" anchorCtr="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27" name="Google Shape;27;p6"/>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415600" y="740800"/>
            <a:ext cx="3744000" cy="1007700"/>
          </a:xfrm>
          <a:prstGeom prst="rect">
            <a:avLst/>
          </a:prstGeom>
        </p:spPr>
        <p:txBody>
          <a:bodyPr spcFirstLastPara="1" wrap="square" lIns="121900" tIns="121900" rIns="121900" bIns="121900" anchor="b" anchorCtr="0">
            <a:normAutofit/>
          </a:bodyPr>
          <a:lstStyle>
            <a:lvl1pPr lvl="0">
              <a:spcBef>
                <a:spcPts val="0"/>
              </a:spcBef>
              <a:spcAft>
                <a:spcPts val="0"/>
              </a:spcAft>
              <a:buSzPts val="3200"/>
              <a:buNone/>
              <a:defRPr sz="3200"/>
            </a:lvl1pPr>
            <a:lvl2pPr lvl="1">
              <a:spcBef>
                <a:spcPts val="0"/>
              </a:spcBef>
              <a:spcAft>
                <a:spcPts val="0"/>
              </a:spcAft>
              <a:buSzPts val="3200"/>
              <a:buNone/>
              <a:defRPr sz="3200"/>
            </a:lvl2pPr>
            <a:lvl3pPr lvl="2">
              <a:spcBef>
                <a:spcPts val="0"/>
              </a:spcBef>
              <a:spcAft>
                <a:spcPts val="0"/>
              </a:spcAft>
              <a:buSzPts val="3200"/>
              <a:buNone/>
              <a:defRPr sz="3200"/>
            </a:lvl3pPr>
            <a:lvl4pPr lvl="3">
              <a:spcBef>
                <a:spcPts val="0"/>
              </a:spcBef>
              <a:spcAft>
                <a:spcPts val="0"/>
              </a:spcAft>
              <a:buSzPts val="3200"/>
              <a:buNone/>
              <a:defRPr sz="3200"/>
            </a:lvl4pPr>
            <a:lvl5pPr lvl="4">
              <a:spcBef>
                <a:spcPts val="0"/>
              </a:spcBef>
              <a:spcAft>
                <a:spcPts val="0"/>
              </a:spcAft>
              <a:buSzPts val="3200"/>
              <a:buNone/>
              <a:defRPr sz="3200"/>
            </a:lvl5pPr>
            <a:lvl6pPr lvl="5">
              <a:spcBef>
                <a:spcPts val="0"/>
              </a:spcBef>
              <a:spcAft>
                <a:spcPts val="0"/>
              </a:spcAft>
              <a:buSzPts val="3200"/>
              <a:buNone/>
              <a:defRPr sz="3200"/>
            </a:lvl6pPr>
            <a:lvl7pPr lvl="6">
              <a:spcBef>
                <a:spcPts val="0"/>
              </a:spcBef>
              <a:spcAft>
                <a:spcPts val="0"/>
              </a:spcAft>
              <a:buSzPts val="3200"/>
              <a:buNone/>
              <a:defRPr sz="3200"/>
            </a:lvl7pPr>
            <a:lvl8pPr lvl="7">
              <a:spcBef>
                <a:spcPts val="0"/>
              </a:spcBef>
              <a:spcAft>
                <a:spcPts val="0"/>
              </a:spcAft>
              <a:buSzPts val="3200"/>
              <a:buNone/>
              <a:defRPr sz="3200"/>
            </a:lvl8pPr>
            <a:lvl9pPr lvl="8">
              <a:spcBef>
                <a:spcPts val="0"/>
              </a:spcBef>
              <a:spcAft>
                <a:spcPts val="0"/>
              </a:spcAft>
              <a:buSzPts val="3200"/>
              <a:buNone/>
              <a:defRPr sz="3200"/>
            </a:lvl9pPr>
          </a:lstStyle>
          <a:p>
            <a:endParaRPr/>
          </a:p>
        </p:txBody>
      </p:sp>
      <p:sp>
        <p:nvSpPr>
          <p:cNvPr id="30" name="Google Shape;30;p7"/>
          <p:cNvSpPr txBox="1">
            <a:spLocks noGrp="1"/>
          </p:cNvSpPr>
          <p:nvPr>
            <p:ph type="body" idx="1"/>
          </p:nvPr>
        </p:nvSpPr>
        <p:spPr>
          <a:xfrm>
            <a:off x="415600" y="1852800"/>
            <a:ext cx="3744000" cy="4239300"/>
          </a:xfrm>
          <a:prstGeom prst="rect">
            <a:avLst/>
          </a:prstGeom>
        </p:spPr>
        <p:txBody>
          <a:bodyPr spcFirstLastPara="1" wrap="square" lIns="121900" tIns="121900" rIns="121900" bIns="121900" anchor="t" anchorCtr="0">
            <a:normAutofit/>
          </a:bodyPr>
          <a:lstStyle>
            <a:lvl1pPr marL="457200" lvl="0" indent="-330200">
              <a:spcBef>
                <a:spcPts val="0"/>
              </a:spcBef>
              <a:spcAft>
                <a:spcPts val="0"/>
              </a:spcAft>
              <a:buSzPts val="1600"/>
              <a:buChar char="●"/>
              <a:defRPr sz="1600"/>
            </a:lvl1pPr>
            <a:lvl2pPr marL="914400" lvl="1" indent="-330200">
              <a:spcBef>
                <a:spcPts val="0"/>
              </a:spcBef>
              <a:spcAft>
                <a:spcPts val="0"/>
              </a:spcAft>
              <a:buSzPts val="1600"/>
              <a:buChar char="○"/>
              <a:defRPr sz="1600"/>
            </a:lvl2pPr>
            <a:lvl3pPr marL="1371600" lvl="2" indent="-330200">
              <a:spcBef>
                <a:spcPts val="0"/>
              </a:spcBef>
              <a:spcAft>
                <a:spcPts val="0"/>
              </a:spcAft>
              <a:buSzPts val="1600"/>
              <a:buChar char="■"/>
              <a:defRPr sz="1600"/>
            </a:lvl3pPr>
            <a:lvl4pPr marL="1828800" lvl="3" indent="-330200">
              <a:spcBef>
                <a:spcPts val="0"/>
              </a:spcBef>
              <a:spcAft>
                <a:spcPts val="0"/>
              </a:spcAft>
              <a:buSzPts val="1600"/>
              <a:buChar char="●"/>
              <a:defRPr sz="1600"/>
            </a:lvl4pPr>
            <a:lvl5pPr marL="2286000" lvl="4" indent="-330200">
              <a:spcBef>
                <a:spcPts val="0"/>
              </a:spcBef>
              <a:spcAft>
                <a:spcPts val="0"/>
              </a:spcAft>
              <a:buSzPts val="1600"/>
              <a:buChar char="○"/>
              <a:defRPr sz="1600"/>
            </a:lvl5pPr>
            <a:lvl6pPr marL="2743200" lvl="5" indent="-330200">
              <a:spcBef>
                <a:spcPts val="0"/>
              </a:spcBef>
              <a:spcAft>
                <a:spcPts val="0"/>
              </a:spcAft>
              <a:buSzPts val="1600"/>
              <a:buChar char="■"/>
              <a:defRPr sz="1600"/>
            </a:lvl6pPr>
            <a:lvl7pPr marL="3200400" lvl="6" indent="-330200">
              <a:spcBef>
                <a:spcPts val="0"/>
              </a:spcBef>
              <a:spcAft>
                <a:spcPts val="0"/>
              </a:spcAft>
              <a:buSzPts val="1600"/>
              <a:buChar char="●"/>
              <a:defRPr sz="1600"/>
            </a:lvl7pPr>
            <a:lvl8pPr marL="3657600" lvl="7" indent="-330200">
              <a:spcBef>
                <a:spcPts val="0"/>
              </a:spcBef>
              <a:spcAft>
                <a:spcPts val="0"/>
              </a:spcAft>
              <a:buSzPts val="1600"/>
              <a:buChar char="○"/>
              <a:defRPr sz="1600"/>
            </a:lvl8pPr>
            <a:lvl9pPr marL="4114800" lvl="8" indent="-330200">
              <a:spcBef>
                <a:spcPts val="0"/>
              </a:spcBef>
              <a:spcAft>
                <a:spcPts val="0"/>
              </a:spcAft>
              <a:buSzPts val="1600"/>
              <a:buChar char="■"/>
              <a:defRPr sz="1600"/>
            </a:lvl9pPr>
          </a:lstStyle>
          <a:p>
            <a:endParaRPr/>
          </a:p>
        </p:txBody>
      </p:sp>
      <p:sp>
        <p:nvSpPr>
          <p:cNvPr id="31" name="Google Shape;31;p7"/>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653667" y="600200"/>
            <a:ext cx="8490300" cy="5454300"/>
          </a:xfrm>
          <a:prstGeom prst="rect">
            <a:avLst/>
          </a:prstGeom>
        </p:spPr>
        <p:txBody>
          <a:bodyPr spcFirstLastPara="1" wrap="square" lIns="121900" tIns="121900" rIns="121900" bIns="121900" anchor="ctr" anchorCtr="0">
            <a:normAutofit/>
          </a:bodyPr>
          <a:lstStyle>
            <a:lvl1pPr lvl="0">
              <a:spcBef>
                <a:spcPts val="0"/>
              </a:spcBef>
              <a:spcAft>
                <a:spcPts val="0"/>
              </a:spcAft>
              <a:buSzPts val="6400"/>
              <a:buNone/>
              <a:defRPr sz="6400"/>
            </a:lvl1pPr>
            <a:lvl2pPr lvl="1">
              <a:spcBef>
                <a:spcPts val="0"/>
              </a:spcBef>
              <a:spcAft>
                <a:spcPts val="0"/>
              </a:spcAft>
              <a:buSzPts val="6400"/>
              <a:buNone/>
              <a:defRPr sz="6400"/>
            </a:lvl2pPr>
            <a:lvl3pPr lvl="2">
              <a:spcBef>
                <a:spcPts val="0"/>
              </a:spcBef>
              <a:spcAft>
                <a:spcPts val="0"/>
              </a:spcAft>
              <a:buSzPts val="6400"/>
              <a:buNone/>
              <a:defRPr sz="6400"/>
            </a:lvl3pPr>
            <a:lvl4pPr lvl="3">
              <a:spcBef>
                <a:spcPts val="0"/>
              </a:spcBef>
              <a:spcAft>
                <a:spcPts val="0"/>
              </a:spcAft>
              <a:buSzPts val="6400"/>
              <a:buNone/>
              <a:defRPr sz="6400"/>
            </a:lvl4pPr>
            <a:lvl5pPr lvl="4">
              <a:spcBef>
                <a:spcPts val="0"/>
              </a:spcBef>
              <a:spcAft>
                <a:spcPts val="0"/>
              </a:spcAft>
              <a:buSzPts val="6400"/>
              <a:buNone/>
              <a:defRPr sz="6400"/>
            </a:lvl5pPr>
            <a:lvl6pPr lvl="5">
              <a:spcBef>
                <a:spcPts val="0"/>
              </a:spcBef>
              <a:spcAft>
                <a:spcPts val="0"/>
              </a:spcAft>
              <a:buSzPts val="6400"/>
              <a:buNone/>
              <a:defRPr sz="6400"/>
            </a:lvl6pPr>
            <a:lvl7pPr lvl="6">
              <a:spcBef>
                <a:spcPts val="0"/>
              </a:spcBef>
              <a:spcAft>
                <a:spcPts val="0"/>
              </a:spcAft>
              <a:buSzPts val="6400"/>
              <a:buNone/>
              <a:defRPr sz="6400"/>
            </a:lvl7pPr>
            <a:lvl8pPr lvl="7">
              <a:spcBef>
                <a:spcPts val="0"/>
              </a:spcBef>
              <a:spcAft>
                <a:spcPts val="0"/>
              </a:spcAft>
              <a:buSzPts val="6400"/>
              <a:buNone/>
              <a:defRPr sz="6400"/>
            </a:lvl8pPr>
            <a:lvl9pPr lvl="8">
              <a:spcBef>
                <a:spcPts val="0"/>
              </a:spcBef>
              <a:spcAft>
                <a:spcPts val="0"/>
              </a:spcAft>
              <a:buSzPts val="6400"/>
              <a:buNone/>
              <a:defRPr sz="6400"/>
            </a:lvl9pPr>
          </a:lstStyle>
          <a:p>
            <a:endParaRPr/>
          </a:p>
        </p:txBody>
      </p:sp>
      <p:sp>
        <p:nvSpPr>
          <p:cNvPr id="34" name="Google Shape;34;p8"/>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6096000" y="-167"/>
            <a:ext cx="6096000" cy="68580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354000" y="1644233"/>
            <a:ext cx="5393700" cy="1976400"/>
          </a:xfrm>
          <a:prstGeom prst="rect">
            <a:avLst/>
          </a:prstGeom>
        </p:spPr>
        <p:txBody>
          <a:bodyPr spcFirstLastPara="1" wrap="square" lIns="121900" tIns="121900" rIns="121900" bIns="121900" anchor="b" anchorCtr="0">
            <a:normAutofit/>
          </a:bodyPr>
          <a:lstStyle>
            <a:lvl1pPr lvl="0" algn="ctr">
              <a:spcBef>
                <a:spcPts val="0"/>
              </a:spcBef>
              <a:spcAft>
                <a:spcPts val="0"/>
              </a:spcAft>
              <a:buSzPts val="5600"/>
              <a:buNone/>
              <a:defRPr sz="5600"/>
            </a:lvl1pPr>
            <a:lvl2pPr lvl="1" algn="ctr">
              <a:spcBef>
                <a:spcPts val="0"/>
              </a:spcBef>
              <a:spcAft>
                <a:spcPts val="0"/>
              </a:spcAft>
              <a:buSzPts val="5600"/>
              <a:buNone/>
              <a:defRPr sz="5600"/>
            </a:lvl2pPr>
            <a:lvl3pPr lvl="2" algn="ctr">
              <a:spcBef>
                <a:spcPts val="0"/>
              </a:spcBef>
              <a:spcAft>
                <a:spcPts val="0"/>
              </a:spcAft>
              <a:buSzPts val="5600"/>
              <a:buNone/>
              <a:defRPr sz="5600"/>
            </a:lvl3pPr>
            <a:lvl4pPr lvl="3" algn="ctr">
              <a:spcBef>
                <a:spcPts val="0"/>
              </a:spcBef>
              <a:spcAft>
                <a:spcPts val="0"/>
              </a:spcAft>
              <a:buSzPts val="5600"/>
              <a:buNone/>
              <a:defRPr sz="5600"/>
            </a:lvl4pPr>
            <a:lvl5pPr lvl="4" algn="ctr">
              <a:spcBef>
                <a:spcPts val="0"/>
              </a:spcBef>
              <a:spcAft>
                <a:spcPts val="0"/>
              </a:spcAft>
              <a:buSzPts val="5600"/>
              <a:buNone/>
              <a:defRPr sz="5600"/>
            </a:lvl5pPr>
            <a:lvl6pPr lvl="5" algn="ctr">
              <a:spcBef>
                <a:spcPts val="0"/>
              </a:spcBef>
              <a:spcAft>
                <a:spcPts val="0"/>
              </a:spcAft>
              <a:buSzPts val="5600"/>
              <a:buNone/>
              <a:defRPr sz="5600"/>
            </a:lvl6pPr>
            <a:lvl7pPr lvl="6" algn="ctr">
              <a:spcBef>
                <a:spcPts val="0"/>
              </a:spcBef>
              <a:spcAft>
                <a:spcPts val="0"/>
              </a:spcAft>
              <a:buSzPts val="5600"/>
              <a:buNone/>
              <a:defRPr sz="5600"/>
            </a:lvl7pPr>
            <a:lvl8pPr lvl="7" algn="ctr">
              <a:spcBef>
                <a:spcPts val="0"/>
              </a:spcBef>
              <a:spcAft>
                <a:spcPts val="0"/>
              </a:spcAft>
              <a:buSzPts val="5600"/>
              <a:buNone/>
              <a:defRPr sz="5600"/>
            </a:lvl8pPr>
            <a:lvl9pPr lvl="8" algn="ctr">
              <a:spcBef>
                <a:spcPts val="0"/>
              </a:spcBef>
              <a:spcAft>
                <a:spcPts val="0"/>
              </a:spcAft>
              <a:buSzPts val="5600"/>
              <a:buNone/>
              <a:defRPr sz="5600"/>
            </a:lvl9pPr>
          </a:lstStyle>
          <a:p>
            <a:endParaRPr/>
          </a:p>
        </p:txBody>
      </p:sp>
      <p:sp>
        <p:nvSpPr>
          <p:cNvPr id="38" name="Google Shape;38;p9"/>
          <p:cNvSpPr txBox="1">
            <a:spLocks noGrp="1"/>
          </p:cNvSpPr>
          <p:nvPr>
            <p:ph type="subTitle" idx="1"/>
          </p:nvPr>
        </p:nvSpPr>
        <p:spPr>
          <a:xfrm>
            <a:off x="354000" y="3737433"/>
            <a:ext cx="5393700" cy="1646700"/>
          </a:xfrm>
          <a:prstGeom prst="rect">
            <a:avLst/>
          </a:prstGeom>
        </p:spPr>
        <p:txBody>
          <a:bodyPr spcFirstLastPara="1" wrap="square" lIns="121900" tIns="121900" rIns="121900" bIns="121900"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39" name="Google Shape;39;p9"/>
          <p:cNvSpPr txBox="1">
            <a:spLocks noGrp="1"/>
          </p:cNvSpPr>
          <p:nvPr>
            <p:ph type="body" idx="2"/>
          </p:nvPr>
        </p:nvSpPr>
        <p:spPr>
          <a:xfrm>
            <a:off x="6586000" y="965433"/>
            <a:ext cx="5115900" cy="4926900"/>
          </a:xfrm>
          <a:prstGeom prst="rect">
            <a:avLst/>
          </a:prstGeom>
        </p:spPr>
        <p:txBody>
          <a:bodyPr spcFirstLastPara="1" wrap="square" lIns="121900" tIns="121900" rIns="121900" bIns="121900" anchor="ctr" anchorCtr="0">
            <a:normAutofit/>
          </a:bodyPr>
          <a:lstStyle>
            <a:lvl1pPr marL="457200" lvl="0" indent="-381000">
              <a:spcBef>
                <a:spcPts val="0"/>
              </a:spcBef>
              <a:spcAft>
                <a:spcPts val="0"/>
              </a:spcAft>
              <a:buSzPts val="2400"/>
              <a:buChar char="●"/>
              <a:defRPr/>
            </a:lvl1pPr>
            <a:lvl2pPr marL="914400" lvl="1" indent="-349250">
              <a:spcBef>
                <a:spcPts val="0"/>
              </a:spcBef>
              <a:spcAft>
                <a:spcPts val="0"/>
              </a:spcAft>
              <a:buSzPts val="1900"/>
              <a:buChar char="○"/>
              <a:defRPr/>
            </a:lvl2pPr>
            <a:lvl3pPr marL="1371600" lvl="2" indent="-349250">
              <a:spcBef>
                <a:spcPts val="0"/>
              </a:spcBef>
              <a:spcAft>
                <a:spcPts val="0"/>
              </a:spcAft>
              <a:buSzPts val="1900"/>
              <a:buChar char="■"/>
              <a:defRPr/>
            </a:lvl3pPr>
            <a:lvl4pPr marL="1828800" lvl="3" indent="-349250">
              <a:spcBef>
                <a:spcPts val="0"/>
              </a:spcBef>
              <a:spcAft>
                <a:spcPts val="0"/>
              </a:spcAft>
              <a:buSzPts val="1900"/>
              <a:buChar char="●"/>
              <a:defRPr/>
            </a:lvl4pPr>
            <a:lvl5pPr marL="2286000" lvl="4" indent="-349250">
              <a:spcBef>
                <a:spcPts val="0"/>
              </a:spcBef>
              <a:spcAft>
                <a:spcPts val="0"/>
              </a:spcAft>
              <a:buSzPts val="1900"/>
              <a:buChar char="○"/>
              <a:defRPr/>
            </a:lvl5pPr>
            <a:lvl6pPr marL="2743200" lvl="5" indent="-349250">
              <a:spcBef>
                <a:spcPts val="0"/>
              </a:spcBef>
              <a:spcAft>
                <a:spcPts val="0"/>
              </a:spcAft>
              <a:buSzPts val="1900"/>
              <a:buChar char="■"/>
              <a:defRPr/>
            </a:lvl6pPr>
            <a:lvl7pPr marL="3200400" lvl="6" indent="-349250">
              <a:spcBef>
                <a:spcPts val="0"/>
              </a:spcBef>
              <a:spcAft>
                <a:spcPts val="0"/>
              </a:spcAft>
              <a:buSzPts val="1900"/>
              <a:buChar char="●"/>
              <a:defRPr/>
            </a:lvl7pPr>
            <a:lvl8pPr marL="3657600" lvl="7" indent="-349250">
              <a:spcBef>
                <a:spcPts val="0"/>
              </a:spcBef>
              <a:spcAft>
                <a:spcPts val="0"/>
              </a:spcAft>
              <a:buSzPts val="1900"/>
              <a:buChar char="○"/>
              <a:defRPr/>
            </a:lvl8pPr>
            <a:lvl9pPr marL="4114800" lvl="8" indent="-349250">
              <a:spcBef>
                <a:spcPts val="0"/>
              </a:spcBef>
              <a:spcAft>
                <a:spcPts val="0"/>
              </a:spcAft>
              <a:buSzPts val="1900"/>
              <a:buChar char="■"/>
              <a:defRPr/>
            </a:lvl9pPr>
          </a:lstStyle>
          <a:p>
            <a:endParaRPr/>
          </a:p>
        </p:txBody>
      </p:sp>
      <p:sp>
        <p:nvSpPr>
          <p:cNvPr id="40" name="Google Shape;40;p9"/>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415600" y="5640767"/>
            <a:ext cx="7998300" cy="806700"/>
          </a:xfrm>
          <a:prstGeom prst="rect">
            <a:avLst/>
          </a:prstGeom>
        </p:spPr>
        <p:txBody>
          <a:bodyPr spcFirstLastPara="1" wrap="square" lIns="121900" tIns="121900" rIns="121900" bIns="121900" anchor="ctr" anchorCtr="0">
            <a:normAutofit/>
          </a:bodyPr>
          <a:lstStyle>
            <a:lvl1pPr marL="457200" lvl="0" indent="-228600">
              <a:lnSpc>
                <a:spcPct val="100000"/>
              </a:lnSpc>
              <a:spcBef>
                <a:spcPts val="0"/>
              </a:spcBef>
              <a:spcAft>
                <a:spcPts val="0"/>
              </a:spcAft>
              <a:buSzPts val="2400"/>
              <a:buNone/>
              <a:defRPr/>
            </a:lvl1pPr>
          </a:lstStyle>
          <a:p>
            <a:endParaRPr/>
          </a:p>
        </p:txBody>
      </p:sp>
      <p:sp>
        <p:nvSpPr>
          <p:cNvPr id="43" name="Google Shape;43;p10"/>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415600" y="1474833"/>
            <a:ext cx="11360700" cy="2618100"/>
          </a:xfrm>
          <a:prstGeom prst="rect">
            <a:avLst/>
          </a:prstGeom>
        </p:spPr>
        <p:txBody>
          <a:bodyPr spcFirstLastPara="1" wrap="square" lIns="121900" tIns="121900" rIns="121900" bIns="121900" anchor="b" anchorCtr="0">
            <a:normAutofit/>
          </a:bodyPr>
          <a:lstStyle>
            <a:lvl1pPr lvl="0" algn="ctr">
              <a:spcBef>
                <a:spcPts val="0"/>
              </a:spcBef>
              <a:spcAft>
                <a:spcPts val="0"/>
              </a:spcAft>
              <a:buSzPts val="16000"/>
              <a:buNone/>
              <a:defRPr sz="16000"/>
            </a:lvl1pPr>
            <a:lvl2pPr lvl="1" algn="ctr">
              <a:spcBef>
                <a:spcPts val="0"/>
              </a:spcBef>
              <a:spcAft>
                <a:spcPts val="0"/>
              </a:spcAft>
              <a:buSzPts val="16000"/>
              <a:buNone/>
              <a:defRPr sz="16000"/>
            </a:lvl2pPr>
            <a:lvl3pPr lvl="2" algn="ctr">
              <a:spcBef>
                <a:spcPts val="0"/>
              </a:spcBef>
              <a:spcAft>
                <a:spcPts val="0"/>
              </a:spcAft>
              <a:buSzPts val="16000"/>
              <a:buNone/>
              <a:defRPr sz="16000"/>
            </a:lvl3pPr>
            <a:lvl4pPr lvl="3" algn="ctr">
              <a:spcBef>
                <a:spcPts val="0"/>
              </a:spcBef>
              <a:spcAft>
                <a:spcPts val="0"/>
              </a:spcAft>
              <a:buSzPts val="16000"/>
              <a:buNone/>
              <a:defRPr sz="16000"/>
            </a:lvl4pPr>
            <a:lvl5pPr lvl="4" algn="ctr">
              <a:spcBef>
                <a:spcPts val="0"/>
              </a:spcBef>
              <a:spcAft>
                <a:spcPts val="0"/>
              </a:spcAft>
              <a:buSzPts val="16000"/>
              <a:buNone/>
              <a:defRPr sz="16000"/>
            </a:lvl5pPr>
            <a:lvl6pPr lvl="5" algn="ctr">
              <a:spcBef>
                <a:spcPts val="0"/>
              </a:spcBef>
              <a:spcAft>
                <a:spcPts val="0"/>
              </a:spcAft>
              <a:buSzPts val="16000"/>
              <a:buNone/>
              <a:defRPr sz="16000"/>
            </a:lvl6pPr>
            <a:lvl7pPr lvl="6" algn="ctr">
              <a:spcBef>
                <a:spcPts val="0"/>
              </a:spcBef>
              <a:spcAft>
                <a:spcPts val="0"/>
              </a:spcAft>
              <a:buSzPts val="16000"/>
              <a:buNone/>
              <a:defRPr sz="16000"/>
            </a:lvl7pPr>
            <a:lvl8pPr lvl="7" algn="ctr">
              <a:spcBef>
                <a:spcPts val="0"/>
              </a:spcBef>
              <a:spcAft>
                <a:spcPts val="0"/>
              </a:spcAft>
              <a:buSzPts val="16000"/>
              <a:buNone/>
              <a:defRPr sz="16000"/>
            </a:lvl8pPr>
            <a:lvl9pPr lvl="8" algn="ctr">
              <a:spcBef>
                <a:spcPts val="0"/>
              </a:spcBef>
              <a:spcAft>
                <a:spcPts val="0"/>
              </a:spcAft>
              <a:buSzPts val="16000"/>
              <a:buNone/>
              <a:defRPr sz="16000"/>
            </a:lvl9pPr>
          </a:lstStyle>
          <a:p>
            <a:r>
              <a:t>xx%</a:t>
            </a:r>
          </a:p>
        </p:txBody>
      </p:sp>
      <p:sp>
        <p:nvSpPr>
          <p:cNvPr id="46" name="Google Shape;46;p11"/>
          <p:cNvSpPr txBox="1">
            <a:spLocks noGrp="1"/>
          </p:cNvSpPr>
          <p:nvPr>
            <p:ph type="body" idx="1"/>
          </p:nvPr>
        </p:nvSpPr>
        <p:spPr>
          <a:xfrm>
            <a:off x="415600" y="4202967"/>
            <a:ext cx="11360700" cy="1734300"/>
          </a:xfrm>
          <a:prstGeom prst="rect">
            <a:avLst/>
          </a:prstGeom>
        </p:spPr>
        <p:txBody>
          <a:bodyPr spcFirstLastPara="1" wrap="square" lIns="121900" tIns="121900" rIns="121900" bIns="121900" anchor="t" anchorCtr="0">
            <a:normAutofit/>
          </a:bodyPr>
          <a:lstStyle>
            <a:lvl1pPr marL="457200" lvl="0" indent="-381000" algn="ctr">
              <a:spcBef>
                <a:spcPts val="0"/>
              </a:spcBef>
              <a:spcAft>
                <a:spcPts val="0"/>
              </a:spcAft>
              <a:buSzPts val="2400"/>
              <a:buChar char="●"/>
              <a:defRPr/>
            </a:lvl1pPr>
            <a:lvl2pPr marL="914400" lvl="1" indent="-349250" algn="ctr">
              <a:spcBef>
                <a:spcPts val="0"/>
              </a:spcBef>
              <a:spcAft>
                <a:spcPts val="0"/>
              </a:spcAft>
              <a:buSzPts val="1900"/>
              <a:buChar char="○"/>
              <a:defRPr/>
            </a:lvl2pPr>
            <a:lvl3pPr marL="1371600" lvl="2" indent="-349250" algn="ctr">
              <a:spcBef>
                <a:spcPts val="0"/>
              </a:spcBef>
              <a:spcAft>
                <a:spcPts val="0"/>
              </a:spcAft>
              <a:buSzPts val="1900"/>
              <a:buChar char="■"/>
              <a:defRPr/>
            </a:lvl3pPr>
            <a:lvl4pPr marL="1828800" lvl="3" indent="-349250" algn="ctr">
              <a:spcBef>
                <a:spcPts val="0"/>
              </a:spcBef>
              <a:spcAft>
                <a:spcPts val="0"/>
              </a:spcAft>
              <a:buSzPts val="1900"/>
              <a:buChar char="●"/>
              <a:defRPr/>
            </a:lvl4pPr>
            <a:lvl5pPr marL="2286000" lvl="4" indent="-349250" algn="ctr">
              <a:spcBef>
                <a:spcPts val="0"/>
              </a:spcBef>
              <a:spcAft>
                <a:spcPts val="0"/>
              </a:spcAft>
              <a:buSzPts val="1900"/>
              <a:buChar char="○"/>
              <a:defRPr/>
            </a:lvl5pPr>
            <a:lvl6pPr marL="2743200" lvl="5" indent="-349250" algn="ctr">
              <a:spcBef>
                <a:spcPts val="0"/>
              </a:spcBef>
              <a:spcAft>
                <a:spcPts val="0"/>
              </a:spcAft>
              <a:buSzPts val="1900"/>
              <a:buChar char="■"/>
              <a:defRPr/>
            </a:lvl6pPr>
            <a:lvl7pPr marL="3200400" lvl="6" indent="-349250" algn="ctr">
              <a:spcBef>
                <a:spcPts val="0"/>
              </a:spcBef>
              <a:spcAft>
                <a:spcPts val="0"/>
              </a:spcAft>
              <a:buSzPts val="1900"/>
              <a:buChar char="●"/>
              <a:defRPr/>
            </a:lvl7pPr>
            <a:lvl8pPr marL="3657600" lvl="7" indent="-349250" algn="ctr">
              <a:spcBef>
                <a:spcPts val="0"/>
              </a:spcBef>
              <a:spcAft>
                <a:spcPts val="0"/>
              </a:spcAft>
              <a:buSzPts val="1900"/>
              <a:buChar char="○"/>
              <a:defRPr/>
            </a:lvl8pPr>
            <a:lvl9pPr marL="4114800" lvl="8" indent="-349250" algn="ctr">
              <a:spcBef>
                <a:spcPts val="0"/>
              </a:spcBef>
              <a:spcAft>
                <a:spcPts val="0"/>
              </a:spcAft>
              <a:buSzPts val="1900"/>
              <a:buChar char="■"/>
              <a:defRPr/>
            </a:lvl9pPr>
          </a:lstStyle>
          <a:p>
            <a:endParaRPr/>
          </a:p>
        </p:txBody>
      </p:sp>
      <p:sp>
        <p:nvSpPr>
          <p:cNvPr id="47" name="Google Shape;47;p11"/>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1484311" y="685800"/>
            <a:ext cx="10018800" cy="17526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1800"/>
              <a:buNone/>
              <a:defRPr/>
            </a:lvl1pPr>
            <a:lvl2pPr lvl="1" algn="l" rtl="0">
              <a:spcBef>
                <a:spcPts val="0"/>
              </a:spcBef>
              <a:spcAft>
                <a:spcPts val="0"/>
              </a:spcAft>
              <a:buSzPts val="3700"/>
              <a:buNone/>
              <a:defRPr/>
            </a:lvl2pPr>
            <a:lvl3pPr lvl="2" algn="l" rtl="0">
              <a:spcBef>
                <a:spcPts val="0"/>
              </a:spcBef>
              <a:spcAft>
                <a:spcPts val="0"/>
              </a:spcAft>
              <a:buSzPts val="3700"/>
              <a:buNone/>
              <a:defRPr/>
            </a:lvl3pPr>
            <a:lvl4pPr lvl="3" algn="l" rtl="0">
              <a:spcBef>
                <a:spcPts val="0"/>
              </a:spcBef>
              <a:spcAft>
                <a:spcPts val="0"/>
              </a:spcAft>
              <a:buSzPts val="3700"/>
              <a:buNone/>
              <a:defRPr/>
            </a:lvl4pPr>
            <a:lvl5pPr lvl="4" algn="l" rtl="0">
              <a:spcBef>
                <a:spcPts val="0"/>
              </a:spcBef>
              <a:spcAft>
                <a:spcPts val="0"/>
              </a:spcAft>
              <a:buSzPts val="3700"/>
              <a:buNone/>
              <a:defRPr/>
            </a:lvl5pPr>
            <a:lvl6pPr lvl="5" algn="l" rtl="0">
              <a:spcBef>
                <a:spcPts val="0"/>
              </a:spcBef>
              <a:spcAft>
                <a:spcPts val="0"/>
              </a:spcAft>
              <a:buSzPts val="3700"/>
              <a:buNone/>
              <a:defRPr/>
            </a:lvl6pPr>
            <a:lvl7pPr lvl="6" algn="l" rtl="0">
              <a:spcBef>
                <a:spcPts val="0"/>
              </a:spcBef>
              <a:spcAft>
                <a:spcPts val="0"/>
              </a:spcAft>
              <a:buSzPts val="3700"/>
              <a:buNone/>
              <a:defRPr/>
            </a:lvl7pPr>
            <a:lvl8pPr lvl="7" algn="l" rtl="0">
              <a:spcBef>
                <a:spcPts val="0"/>
              </a:spcBef>
              <a:spcAft>
                <a:spcPts val="0"/>
              </a:spcAft>
              <a:buSzPts val="3700"/>
              <a:buNone/>
              <a:defRPr/>
            </a:lvl8pPr>
            <a:lvl9pPr lvl="8" algn="l" rtl="0">
              <a:spcBef>
                <a:spcPts val="0"/>
              </a:spcBef>
              <a:spcAft>
                <a:spcPts val="0"/>
              </a:spcAft>
              <a:buSzPts val="3700"/>
              <a:buNone/>
              <a:defRPr/>
            </a:lvl9pPr>
          </a:lstStyle>
          <a:p>
            <a:endParaRPr/>
          </a:p>
        </p:txBody>
      </p:sp>
      <p:sp>
        <p:nvSpPr>
          <p:cNvPr id="52" name="Google Shape;52;p13"/>
          <p:cNvSpPr txBox="1">
            <a:spLocks noGrp="1"/>
          </p:cNvSpPr>
          <p:nvPr>
            <p:ph type="body" idx="1"/>
          </p:nvPr>
        </p:nvSpPr>
        <p:spPr>
          <a:xfrm>
            <a:off x="1484310" y="2666999"/>
            <a:ext cx="10018800" cy="3124200"/>
          </a:xfrm>
          <a:prstGeom prst="rect">
            <a:avLst/>
          </a:prstGeom>
          <a:noFill/>
          <a:ln>
            <a:noFill/>
          </a:ln>
        </p:spPr>
        <p:txBody>
          <a:bodyPr spcFirstLastPara="1" wrap="square" lIns="91425" tIns="45700" rIns="91425" bIns="45700" anchor="ctr" anchorCtr="0">
            <a:normAutofit/>
          </a:bodyPr>
          <a:lstStyle>
            <a:lvl1pPr marL="457200" lvl="0" indent="-394335" algn="l" rtl="0">
              <a:spcBef>
                <a:spcPts val="360"/>
              </a:spcBef>
              <a:spcAft>
                <a:spcPts val="0"/>
              </a:spcAft>
              <a:buSzPts val="2610"/>
              <a:buChar char="●"/>
              <a:defRPr/>
            </a:lvl1pPr>
            <a:lvl2pPr marL="914400" lvl="1" indent="-394335" algn="l" rtl="0">
              <a:spcBef>
                <a:spcPts val="600"/>
              </a:spcBef>
              <a:spcAft>
                <a:spcPts val="0"/>
              </a:spcAft>
              <a:buSzPts val="2610"/>
              <a:buChar char="○"/>
              <a:defRPr/>
            </a:lvl2pPr>
            <a:lvl3pPr marL="1371600" lvl="2" indent="-394335" algn="l" rtl="0">
              <a:spcBef>
                <a:spcPts val="600"/>
              </a:spcBef>
              <a:spcAft>
                <a:spcPts val="0"/>
              </a:spcAft>
              <a:buSzPts val="2610"/>
              <a:buChar char="■"/>
              <a:defRPr/>
            </a:lvl3pPr>
            <a:lvl4pPr marL="1828800" lvl="3" indent="-394335" algn="l" rtl="0">
              <a:spcBef>
                <a:spcPts val="600"/>
              </a:spcBef>
              <a:spcAft>
                <a:spcPts val="0"/>
              </a:spcAft>
              <a:buSzPts val="2610"/>
              <a:buChar char="●"/>
              <a:defRPr/>
            </a:lvl4pPr>
            <a:lvl5pPr marL="2286000" lvl="4" indent="-394335" algn="l" rtl="0">
              <a:spcBef>
                <a:spcPts val="600"/>
              </a:spcBef>
              <a:spcAft>
                <a:spcPts val="0"/>
              </a:spcAft>
              <a:buSzPts val="2610"/>
              <a:buChar char="○"/>
              <a:defRPr/>
            </a:lvl5pPr>
            <a:lvl6pPr marL="2743200" lvl="5" indent="-394335" algn="l" rtl="0">
              <a:spcBef>
                <a:spcPts val="600"/>
              </a:spcBef>
              <a:spcAft>
                <a:spcPts val="0"/>
              </a:spcAft>
              <a:buSzPts val="2610"/>
              <a:buChar char="■"/>
              <a:defRPr/>
            </a:lvl6pPr>
            <a:lvl7pPr marL="3200400" lvl="6" indent="-394335" algn="l" rtl="0">
              <a:spcBef>
                <a:spcPts val="600"/>
              </a:spcBef>
              <a:spcAft>
                <a:spcPts val="0"/>
              </a:spcAft>
              <a:buSzPts val="2610"/>
              <a:buChar char="●"/>
              <a:defRPr/>
            </a:lvl7pPr>
            <a:lvl8pPr marL="3657600" lvl="7" indent="-394334" algn="l" rtl="0">
              <a:spcBef>
                <a:spcPts val="600"/>
              </a:spcBef>
              <a:spcAft>
                <a:spcPts val="0"/>
              </a:spcAft>
              <a:buSzPts val="2610"/>
              <a:buChar char="○"/>
              <a:defRPr/>
            </a:lvl8pPr>
            <a:lvl9pPr marL="4114800" lvl="8" indent="-394334" algn="l" rtl="0">
              <a:spcBef>
                <a:spcPts val="600"/>
              </a:spcBef>
              <a:spcAft>
                <a:spcPts val="600"/>
              </a:spcAft>
              <a:buSzPts val="2610"/>
              <a:buChar char="■"/>
              <a:defRPr/>
            </a:lvl9pPr>
          </a:lstStyle>
          <a:p>
            <a:endParaRPr/>
          </a:p>
        </p:txBody>
      </p:sp>
      <p:sp>
        <p:nvSpPr>
          <p:cNvPr id="53" name="Google Shape;53;p13"/>
          <p:cNvSpPr txBox="1">
            <a:spLocks noGrp="1"/>
          </p:cNvSpPr>
          <p:nvPr>
            <p:ph type="dt" idx="10"/>
          </p:nvPr>
        </p:nvSpPr>
        <p:spPr>
          <a:xfrm>
            <a:off x="9732656" y="5883275"/>
            <a:ext cx="11430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13"/>
          <p:cNvSpPr txBox="1">
            <a:spLocks noGrp="1"/>
          </p:cNvSpPr>
          <p:nvPr>
            <p:ph type="ftr" idx="11"/>
          </p:nvPr>
        </p:nvSpPr>
        <p:spPr>
          <a:xfrm>
            <a:off x="2572279" y="5883275"/>
            <a:ext cx="7084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13"/>
          <p:cNvSpPr txBox="1">
            <a:spLocks noGrp="1"/>
          </p:cNvSpPr>
          <p:nvPr>
            <p:ph type="sldNum" idx="12"/>
          </p:nvPr>
        </p:nvSpPr>
        <p:spPr>
          <a:xfrm>
            <a:off x="10951856" y="5867131"/>
            <a:ext cx="551100" cy="365100"/>
          </a:xfrm>
          <a:prstGeom prst="rect">
            <a:avLst/>
          </a:prstGeom>
          <a:noFill/>
          <a:ln>
            <a:noFill/>
          </a:ln>
        </p:spPr>
        <p:txBody>
          <a:bodyPr spcFirstLastPara="1" wrap="square" lIns="91425" tIns="45700" rIns="91425" bIns="45700" anchor="ctr" anchorCtr="0">
            <a:norm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6"/>
        <p:cNvGrpSpPr/>
        <p:nvPr/>
      </p:nvGrpSpPr>
      <p:grpSpPr>
        <a:xfrm>
          <a:off x="0" y="0"/>
          <a:ext cx="0" cy="0"/>
          <a:chOff x="0" y="0"/>
          <a:chExt cx="0" cy="0"/>
        </a:xfrm>
      </p:grpSpPr>
      <p:sp>
        <p:nvSpPr>
          <p:cNvPr id="57" name="Google Shape;57;p14"/>
          <p:cNvSpPr txBox="1">
            <a:spLocks noGrp="1"/>
          </p:cNvSpPr>
          <p:nvPr>
            <p:ph type="title"/>
          </p:nvPr>
        </p:nvSpPr>
        <p:spPr>
          <a:xfrm>
            <a:off x="1484311" y="685800"/>
            <a:ext cx="10018800" cy="17526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4000"/>
              <a:buFont typeface="Corbel"/>
              <a:buNone/>
              <a:defRPr/>
            </a:lvl1pPr>
            <a:lvl2pPr lvl="1" algn="l" rtl="0">
              <a:spcBef>
                <a:spcPts val="0"/>
              </a:spcBef>
              <a:spcAft>
                <a:spcPts val="0"/>
              </a:spcAft>
              <a:buSzPts val="3700"/>
              <a:buNone/>
              <a:defRPr/>
            </a:lvl2pPr>
            <a:lvl3pPr lvl="2" algn="l" rtl="0">
              <a:spcBef>
                <a:spcPts val="0"/>
              </a:spcBef>
              <a:spcAft>
                <a:spcPts val="0"/>
              </a:spcAft>
              <a:buSzPts val="3700"/>
              <a:buNone/>
              <a:defRPr/>
            </a:lvl3pPr>
            <a:lvl4pPr lvl="3" algn="l" rtl="0">
              <a:spcBef>
                <a:spcPts val="0"/>
              </a:spcBef>
              <a:spcAft>
                <a:spcPts val="0"/>
              </a:spcAft>
              <a:buSzPts val="3700"/>
              <a:buNone/>
              <a:defRPr/>
            </a:lvl4pPr>
            <a:lvl5pPr lvl="4" algn="l" rtl="0">
              <a:spcBef>
                <a:spcPts val="0"/>
              </a:spcBef>
              <a:spcAft>
                <a:spcPts val="0"/>
              </a:spcAft>
              <a:buSzPts val="3700"/>
              <a:buNone/>
              <a:defRPr/>
            </a:lvl5pPr>
            <a:lvl6pPr lvl="5" algn="l" rtl="0">
              <a:spcBef>
                <a:spcPts val="0"/>
              </a:spcBef>
              <a:spcAft>
                <a:spcPts val="0"/>
              </a:spcAft>
              <a:buSzPts val="3700"/>
              <a:buNone/>
              <a:defRPr/>
            </a:lvl6pPr>
            <a:lvl7pPr lvl="6" algn="l" rtl="0">
              <a:spcBef>
                <a:spcPts val="0"/>
              </a:spcBef>
              <a:spcAft>
                <a:spcPts val="0"/>
              </a:spcAft>
              <a:buSzPts val="3700"/>
              <a:buNone/>
              <a:defRPr/>
            </a:lvl7pPr>
            <a:lvl8pPr lvl="7" algn="l" rtl="0">
              <a:spcBef>
                <a:spcPts val="0"/>
              </a:spcBef>
              <a:spcAft>
                <a:spcPts val="0"/>
              </a:spcAft>
              <a:buSzPts val="3700"/>
              <a:buNone/>
              <a:defRPr/>
            </a:lvl8pPr>
            <a:lvl9pPr lvl="8" algn="l" rtl="0">
              <a:spcBef>
                <a:spcPts val="0"/>
              </a:spcBef>
              <a:spcAft>
                <a:spcPts val="0"/>
              </a:spcAft>
              <a:buSzPts val="3700"/>
              <a:buNone/>
              <a:defRPr/>
            </a:lvl9pPr>
          </a:lstStyle>
          <a:p>
            <a:endParaRPr/>
          </a:p>
        </p:txBody>
      </p:sp>
      <p:sp>
        <p:nvSpPr>
          <p:cNvPr id="58" name="Google Shape;58;p14"/>
          <p:cNvSpPr txBox="1">
            <a:spLocks noGrp="1"/>
          </p:cNvSpPr>
          <p:nvPr>
            <p:ph type="body" idx="1"/>
          </p:nvPr>
        </p:nvSpPr>
        <p:spPr>
          <a:xfrm>
            <a:off x="1772179" y="2658533"/>
            <a:ext cx="4607100" cy="576300"/>
          </a:xfrm>
          <a:prstGeom prst="rect">
            <a:avLst/>
          </a:prstGeom>
          <a:noFill/>
          <a:ln>
            <a:noFill/>
          </a:ln>
        </p:spPr>
        <p:txBody>
          <a:bodyPr spcFirstLastPara="1" wrap="square" lIns="91425" tIns="45700" rIns="91425" bIns="45700" anchor="b" anchorCtr="0">
            <a:noAutofit/>
          </a:bodyPr>
          <a:lstStyle>
            <a:lvl1pPr marL="457200" lvl="0" indent="-228600" algn="l" rtl="0">
              <a:spcBef>
                <a:spcPts val="560"/>
              </a:spcBef>
              <a:spcAft>
                <a:spcPts val="0"/>
              </a:spcAft>
              <a:buSzPts val="4060"/>
              <a:buNone/>
              <a:defRPr sz="2800" b="0">
                <a:solidFill>
                  <a:srgbClr val="1186C3"/>
                </a:solidFill>
              </a:defRPr>
            </a:lvl1pPr>
            <a:lvl2pPr marL="914400" lvl="1" indent="-228600" algn="l" rtl="0">
              <a:spcBef>
                <a:spcPts val="600"/>
              </a:spcBef>
              <a:spcAft>
                <a:spcPts val="0"/>
              </a:spcAft>
              <a:buSzPts val="2900"/>
              <a:buNone/>
              <a:defRPr sz="2000" b="1"/>
            </a:lvl2pPr>
            <a:lvl3pPr marL="1371600" lvl="2" indent="-228600" algn="l" rtl="0">
              <a:spcBef>
                <a:spcPts val="600"/>
              </a:spcBef>
              <a:spcAft>
                <a:spcPts val="0"/>
              </a:spcAft>
              <a:buSzPts val="2610"/>
              <a:buNone/>
              <a:defRPr sz="1800" b="1"/>
            </a:lvl3pPr>
            <a:lvl4pPr marL="1828800" lvl="3" indent="-228600" algn="l" rtl="0">
              <a:spcBef>
                <a:spcPts val="600"/>
              </a:spcBef>
              <a:spcAft>
                <a:spcPts val="0"/>
              </a:spcAft>
              <a:buSzPts val="2320"/>
              <a:buNone/>
              <a:defRPr sz="1600" b="1"/>
            </a:lvl4pPr>
            <a:lvl5pPr marL="2286000" lvl="4" indent="-228600" algn="l" rtl="0">
              <a:spcBef>
                <a:spcPts val="600"/>
              </a:spcBef>
              <a:spcAft>
                <a:spcPts val="0"/>
              </a:spcAft>
              <a:buSzPts val="2320"/>
              <a:buNone/>
              <a:defRPr sz="1600" b="1"/>
            </a:lvl5pPr>
            <a:lvl6pPr marL="2743200" lvl="5" indent="-228600" algn="l" rtl="0">
              <a:spcBef>
                <a:spcPts val="600"/>
              </a:spcBef>
              <a:spcAft>
                <a:spcPts val="0"/>
              </a:spcAft>
              <a:buSzPts val="2320"/>
              <a:buNone/>
              <a:defRPr sz="1600" b="1"/>
            </a:lvl6pPr>
            <a:lvl7pPr marL="3200400" lvl="6" indent="-228600" algn="l" rtl="0">
              <a:spcBef>
                <a:spcPts val="600"/>
              </a:spcBef>
              <a:spcAft>
                <a:spcPts val="0"/>
              </a:spcAft>
              <a:buSzPts val="2320"/>
              <a:buNone/>
              <a:defRPr sz="1600" b="1"/>
            </a:lvl7pPr>
            <a:lvl8pPr marL="3657600" lvl="7" indent="-228600" algn="l" rtl="0">
              <a:spcBef>
                <a:spcPts val="600"/>
              </a:spcBef>
              <a:spcAft>
                <a:spcPts val="0"/>
              </a:spcAft>
              <a:buSzPts val="2320"/>
              <a:buNone/>
              <a:defRPr sz="1600" b="1"/>
            </a:lvl8pPr>
            <a:lvl9pPr marL="4114800" lvl="8" indent="-228600" algn="l" rtl="0">
              <a:spcBef>
                <a:spcPts val="600"/>
              </a:spcBef>
              <a:spcAft>
                <a:spcPts val="600"/>
              </a:spcAft>
              <a:buSzPts val="2320"/>
              <a:buNone/>
              <a:defRPr sz="1600" b="1"/>
            </a:lvl9pPr>
          </a:lstStyle>
          <a:p>
            <a:endParaRPr/>
          </a:p>
        </p:txBody>
      </p:sp>
      <p:sp>
        <p:nvSpPr>
          <p:cNvPr id="59" name="Google Shape;59;p14"/>
          <p:cNvSpPr txBox="1">
            <a:spLocks noGrp="1"/>
          </p:cNvSpPr>
          <p:nvPr>
            <p:ph type="body" idx="2"/>
          </p:nvPr>
        </p:nvSpPr>
        <p:spPr>
          <a:xfrm>
            <a:off x="1484311" y="3335337"/>
            <a:ext cx="4895100" cy="2455800"/>
          </a:xfrm>
          <a:prstGeom prst="rect">
            <a:avLst/>
          </a:prstGeom>
          <a:noFill/>
          <a:ln>
            <a:noFill/>
          </a:ln>
        </p:spPr>
        <p:txBody>
          <a:bodyPr spcFirstLastPara="1" wrap="square" lIns="91425" tIns="45700" rIns="91425" bIns="45700" anchor="t" anchorCtr="0">
            <a:normAutofit/>
          </a:bodyPr>
          <a:lstStyle>
            <a:lvl1pPr marL="457200" lvl="0" indent="-394335" algn="l" rtl="0">
              <a:spcBef>
                <a:spcPts val="360"/>
              </a:spcBef>
              <a:spcAft>
                <a:spcPts val="0"/>
              </a:spcAft>
              <a:buSzPts val="2610"/>
              <a:buChar char="●"/>
              <a:defRPr sz="1800"/>
            </a:lvl1pPr>
            <a:lvl2pPr marL="914400" lvl="1" indent="-375919" algn="l" rtl="0">
              <a:spcBef>
                <a:spcPts val="600"/>
              </a:spcBef>
              <a:spcAft>
                <a:spcPts val="0"/>
              </a:spcAft>
              <a:buSzPts val="2320"/>
              <a:buChar char="○"/>
              <a:defRPr sz="1600"/>
            </a:lvl2pPr>
            <a:lvl3pPr marL="1371600" lvl="2" indent="-357505" algn="l" rtl="0">
              <a:spcBef>
                <a:spcPts val="600"/>
              </a:spcBef>
              <a:spcAft>
                <a:spcPts val="0"/>
              </a:spcAft>
              <a:buSzPts val="2030"/>
              <a:buChar char="■"/>
              <a:defRPr sz="1400"/>
            </a:lvl3pPr>
            <a:lvl4pPr marL="1828800" lvl="3" indent="-339089" algn="l" rtl="0">
              <a:spcBef>
                <a:spcPts val="600"/>
              </a:spcBef>
              <a:spcAft>
                <a:spcPts val="0"/>
              </a:spcAft>
              <a:buSzPts val="1740"/>
              <a:buChar char="●"/>
              <a:defRPr sz="1200"/>
            </a:lvl4pPr>
            <a:lvl5pPr marL="2286000" lvl="4" indent="-339089" algn="l" rtl="0">
              <a:spcBef>
                <a:spcPts val="600"/>
              </a:spcBef>
              <a:spcAft>
                <a:spcPts val="0"/>
              </a:spcAft>
              <a:buSzPts val="1740"/>
              <a:buChar char="○"/>
              <a:defRPr sz="1200"/>
            </a:lvl5pPr>
            <a:lvl6pPr marL="2743200" lvl="5" indent="-339089" algn="l" rtl="0">
              <a:spcBef>
                <a:spcPts val="600"/>
              </a:spcBef>
              <a:spcAft>
                <a:spcPts val="0"/>
              </a:spcAft>
              <a:buSzPts val="1740"/>
              <a:buChar char="■"/>
              <a:defRPr sz="1200"/>
            </a:lvl6pPr>
            <a:lvl7pPr marL="3200400" lvl="6" indent="-339089" algn="l" rtl="0">
              <a:spcBef>
                <a:spcPts val="600"/>
              </a:spcBef>
              <a:spcAft>
                <a:spcPts val="0"/>
              </a:spcAft>
              <a:buSzPts val="1740"/>
              <a:buChar char="●"/>
              <a:defRPr sz="1200"/>
            </a:lvl7pPr>
            <a:lvl8pPr marL="3657600" lvl="7" indent="-339090" algn="l" rtl="0">
              <a:spcBef>
                <a:spcPts val="600"/>
              </a:spcBef>
              <a:spcAft>
                <a:spcPts val="0"/>
              </a:spcAft>
              <a:buSzPts val="1740"/>
              <a:buChar char="○"/>
              <a:defRPr sz="1200"/>
            </a:lvl8pPr>
            <a:lvl9pPr marL="4114800" lvl="8" indent="-339090" algn="l" rtl="0">
              <a:spcBef>
                <a:spcPts val="600"/>
              </a:spcBef>
              <a:spcAft>
                <a:spcPts val="600"/>
              </a:spcAft>
              <a:buSzPts val="1740"/>
              <a:buChar char="■"/>
              <a:defRPr sz="1200"/>
            </a:lvl9pPr>
          </a:lstStyle>
          <a:p>
            <a:endParaRPr/>
          </a:p>
        </p:txBody>
      </p:sp>
      <p:sp>
        <p:nvSpPr>
          <p:cNvPr id="60" name="Google Shape;60;p14"/>
          <p:cNvSpPr txBox="1">
            <a:spLocks noGrp="1"/>
          </p:cNvSpPr>
          <p:nvPr>
            <p:ph type="body" idx="3"/>
          </p:nvPr>
        </p:nvSpPr>
        <p:spPr>
          <a:xfrm>
            <a:off x="6880487" y="2667000"/>
            <a:ext cx="4622400" cy="576300"/>
          </a:xfrm>
          <a:prstGeom prst="rect">
            <a:avLst/>
          </a:prstGeom>
          <a:noFill/>
          <a:ln>
            <a:noFill/>
          </a:ln>
        </p:spPr>
        <p:txBody>
          <a:bodyPr spcFirstLastPara="1" wrap="square" lIns="91425" tIns="45700" rIns="91425" bIns="45700" anchor="b" anchorCtr="0">
            <a:noAutofit/>
          </a:bodyPr>
          <a:lstStyle>
            <a:lvl1pPr marL="457200" lvl="0" indent="-228600" algn="l" rtl="0">
              <a:spcBef>
                <a:spcPts val="560"/>
              </a:spcBef>
              <a:spcAft>
                <a:spcPts val="0"/>
              </a:spcAft>
              <a:buSzPts val="4060"/>
              <a:buNone/>
              <a:defRPr sz="2800" b="0">
                <a:solidFill>
                  <a:srgbClr val="1186C3"/>
                </a:solidFill>
              </a:defRPr>
            </a:lvl1pPr>
            <a:lvl2pPr marL="914400" lvl="1" indent="-228600" algn="l" rtl="0">
              <a:spcBef>
                <a:spcPts val="600"/>
              </a:spcBef>
              <a:spcAft>
                <a:spcPts val="0"/>
              </a:spcAft>
              <a:buSzPts val="2900"/>
              <a:buNone/>
              <a:defRPr sz="2000" b="1"/>
            </a:lvl2pPr>
            <a:lvl3pPr marL="1371600" lvl="2" indent="-228600" algn="l" rtl="0">
              <a:spcBef>
                <a:spcPts val="600"/>
              </a:spcBef>
              <a:spcAft>
                <a:spcPts val="0"/>
              </a:spcAft>
              <a:buSzPts val="2610"/>
              <a:buNone/>
              <a:defRPr sz="1800" b="1"/>
            </a:lvl3pPr>
            <a:lvl4pPr marL="1828800" lvl="3" indent="-228600" algn="l" rtl="0">
              <a:spcBef>
                <a:spcPts val="600"/>
              </a:spcBef>
              <a:spcAft>
                <a:spcPts val="0"/>
              </a:spcAft>
              <a:buSzPts val="2320"/>
              <a:buNone/>
              <a:defRPr sz="1600" b="1"/>
            </a:lvl4pPr>
            <a:lvl5pPr marL="2286000" lvl="4" indent="-228600" algn="l" rtl="0">
              <a:spcBef>
                <a:spcPts val="600"/>
              </a:spcBef>
              <a:spcAft>
                <a:spcPts val="0"/>
              </a:spcAft>
              <a:buSzPts val="2320"/>
              <a:buNone/>
              <a:defRPr sz="1600" b="1"/>
            </a:lvl5pPr>
            <a:lvl6pPr marL="2743200" lvl="5" indent="-228600" algn="l" rtl="0">
              <a:spcBef>
                <a:spcPts val="600"/>
              </a:spcBef>
              <a:spcAft>
                <a:spcPts val="0"/>
              </a:spcAft>
              <a:buSzPts val="2320"/>
              <a:buNone/>
              <a:defRPr sz="1600" b="1"/>
            </a:lvl6pPr>
            <a:lvl7pPr marL="3200400" lvl="6" indent="-228600" algn="l" rtl="0">
              <a:spcBef>
                <a:spcPts val="600"/>
              </a:spcBef>
              <a:spcAft>
                <a:spcPts val="0"/>
              </a:spcAft>
              <a:buSzPts val="2320"/>
              <a:buNone/>
              <a:defRPr sz="1600" b="1"/>
            </a:lvl7pPr>
            <a:lvl8pPr marL="3657600" lvl="7" indent="-228600" algn="l" rtl="0">
              <a:spcBef>
                <a:spcPts val="600"/>
              </a:spcBef>
              <a:spcAft>
                <a:spcPts val="0"/>
              </a:spcAft>
              <a:buSzPts val="2320"/>
              <a:buNone/>
              <a:defRPr sz="1600" b="1"/>
            </a:lvl8pPr>
            <a:lvl9pPr marL="4114800" lvl="8" indent="-228600" algn="l" rtl="0">
              <a:spcBef>
                <a:spcPts val="600"/>
              </a:spcBef>
              <a:spcAft>
                <a:spcPts val="600"/>
              </a:spcAft>
              <a:buSzPts val="2320"/>
              <a:buNone/>
              <a:defRPr sz="1600" b="1"/>
            </a:lvl9pPr>
          </a:lstStyle>
          <a:p>
            <a:endParaRPr/>
          </a:p>
        </p:txBody>
      </p:sp>
      <p:sp>
        <p:nvSpPr>
          <p:cNvPr id="61" name="Google Shape;61;p14"/>
          <p:cNvSpPr txBox="1">
            <a:spLocks noGrp="1"/>
          </p:cNvSpPr>
          <p:nvPr>
            <p:ph type="body" idx="4"/>
          </p:nvPr>
        </p:nvSpPr>
        <p:spPr>
          <a:xfrm>
            <a:off x="6607967" y="3335337"/>
            <a:ext cx="4895100" cy="2455800"/>
          </a:xfrm>
          <a:prstGeom prst="rect">
            <a:avLst/>
          </a:prstGeom>
          <a:noFill/>
          <a:ln>
            <a:noFill/>
          </a:ln>
        </p:spPr>
        <p:txBody>
          <a:bodyPr spcFirstLastPara="1" wrap="square" lIns="91425" tIns="45700" rIns="91425" bIns="45700" anchor="t" anchorCtr="0">
            <a:normAutofit/>
          </a:bodyPr>
          <a:lstStyle>
            <a:lvl1pPr marL="457200" lvl="0" indent="-394335" algn="l" rtl="0">
              <a:spcBef>
                <a:spcPts val="360"/>
              </a:spcBef>
              <a:spcAft>
                <a:spcPts val="0"/>
              </a:spcAft>
              <a:buSzPts val="2610"/>
              <a:buChar char="●"/>
              <a:defRPr sz="1800"/>
            </a:lvl1pPr>
            <a:lvl2pPr marL="914400" lvl="1" indent="-375919" algn="l" rtl="0">
              <a:spcBef>
                <a:spcPts val="600"/>
              </a:spcBef>
              <a:spcAft>
                <a:spcPts val="0"/>
              </a:spcAft>
              <a:buSzPts val="2320"/>
              <a:buChar char="○"/>
              <a:defRPr sz="1600"/>
            </a:lvl2pPr>
            <a:lvl3pPr marL="1371600" lvl="2" indent="-357505" algn="l" rtl="0">
              <a:spcBef>
                <a:spcPts val="600"/>
              </a:spcBef>
              <a:spcAft>
                <a:spcPts val="0"/>
              </a:spcAft>
              <a:buSzPts val="2030"/>
              <a:buChar char="■"/>
              <a:defRPr sz="1400"/>
            </a:lvl3pPr>
            <a:lvl4pPr marL="1828800" lvl="3" indent="-339089" algn="l" rtl="0">
              <a:spcBef>
                <a:spcPts val="600"/>
              </a:spcBef>
              <a:spcAft>
                <a:spcPts val="0"/>
              </a:spcAft>
              <a:buSzPts val="1740"/>
              <a:buChar char="●"/>
              <a:defRPr sz="1200"/>
            </a:lvl4pPr>
            <a:lvl5pPr marL="2286000" lvl="4" indent="-339089" algn="l" rtl="0">
              <a:spcBef>
                <a:spcPts val="600"/>
              </a:spcBef>
              <a:spcAft>
                <a:spcPts val="0"/>
              </a:spcAft>
              <a:buSzPts val="1740"/>
              <a:buChar char="○"/>
              <a:defRPr sz="1200"/>
            </a:lvl5pPr>
            <a:lvl6pPr marL="2743200" lvl="5" indent="-339089" algn="l" rtl="0">
              <a:spcBef>
                <a:spcPts val="600"/>
              </a:spcBef>
              <a:spcAft>
                <a:spcPts val="0"/>
              </a:spcAft>
              <a:buSzPts val="1740"/>
              <a:buChar char="■"/>
              <a:defRPr sz="1200"/>
            </a:lvl6pPr>
            <a:lvl7pPr marL="3200400" lvl="6" indent="-339089" algn="l" rtl="0">
              <a:spcBef>
                <a:spcPts val="600"/>
              </a:spcBef>
              <a:spcAft>
                <a:spcPts val="0"/>
              </a:spcAft>
              <a:buSzPts val="1740"/>
              <a:buChar char="●"/>
              <a:defRPr sz="1200"/>
            </a:lvl7pPr>
            <a:lvl8pPr marL="3657600" lvl="7" indent="-339090" algn="l" rtl="0">
              <a:spcBef>
                <a:spcPts val="600"/>
              </a:spcBef>
              <a:spcAft>
                <a:spcPts val="0"/>
              </a:spcAft>
              <a:buSzPts val="1740"/>
              <a:buChar char="○"/>
              <a:defRPr sz="1200"/>
            </a:lvl8pPr>
            <a:lvl9pPr marL="4114800" lvl="8" indent="-339090" algn="l" rtl="0">
              <a:spcBef>
                <a:spcPts val="600"/>
              </a:spcBef>
              <a:spcAft>
                <a:spcPts val="600"/>
              </a:spcAft>
              <a:buSzPts val="1740"/>
              <a:buChar char="■"/>
              <a:defRPr sz="1200"/>
            </a:lvl9pPr>
          </a:lstStyle>
          <a:p>
            <a:endParaRPr/>
          </a:p>
        </p:txBody>
      </p:sp>
      <p:sp>
        <p:nvSpPr>
          <p:cNvPr id="62" name="Google Shape;62;p14"/>
          <p:cNvSpPr txBox="1">
            <a:spLocks noGrp="1"/>
          </p:cNvSpPr>
          <p:nvPr>
            <p:ph type="dt" idx="10"/>
          </p:nvPr>
        </p:nvSpPr>
        <p:spPr>
          <a:xfrm>
            <a:off x="9732656" y="5883275"/>
            <a:ext cx="11430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14"/>
          <p:cNvSpPr txBox="1">
            <a:spLocks noGrp="1"/>
          </p:cNvSpPr>
          <p:nvPr>
            <p:ph type="ftr" idx="11"/>
          </p:nvPr>
        </p:nvSpPr>
        <p:spPr>
          <a:xfrm>
            <a:off x="2572279" y="5883275"/>
            <a:ext cx="7084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4" name="Google Shape;64;p14"/>
          <p:cNvSpPr txBox="1">
            <a:spLocks noGrp="1"/>
          </p:cNvSpPr>
          <p:nvPr>
            <p:ph type="sldNum" idx="12"/>
          </p:nvPr>
        </p:nvSpPr>
        <p:spPr>
          <a:xfrm>
            <a:off x="10951856" y="5883275"/>
            <a:ext cx="551100" cy="365100"/>
          </a:xfrm>
          <a:prstGeom prst="rect">
            <a:avLst/>
          </a:prstGeom>
          <a:noFill/>
          <a:ln>
            <a:noFill/>
          </a:ln>
        </p:spPr>
        <p:txBody>
          <a:bodyPr spcFirstLastPara="1" wrap="square" lIns="91425" tIns="45700" rIns="91425" bIns="45700" anchor="ctr" anchorCtr="0">
            <a:norm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1484311" y="685800"/>
            <a:ext cx="10018800" cy="17526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4000"/>
              <a:buFont typeface="Corbel"/>
              <a:buNone/>
              <a:defRPr/>
            </a:lvl1pPr>
            <a:lvl2pPr lvl="1" algn="l" rtl="0">
              <a:spcBef>
                <a:spcPts val="0"/>
              </a:spcBef>
              <a:spcAft>
                <a:spcPts val="0"/>
              </a:spcAft>
              <a:buSzPts val="3700"/>
              <a:buNone/>
              <a:defRPr/>
            </a:lvl2pPr>
            <a:lvl3pPr lvl="2" algn="l" rtl="0">
              <a:spcBef>
                <a:spcPts val="0"/>
              </a:spcBef>
              <a:spcAft>
                <a:spcPts val="0"/>
              </a:spcAft>
              <a:buSzPts val="3700"/>
              <a:buNone/>
              <a:defRPr/>
            </a:lvl3pPr>
            <a:lvl4pPr lvl="3" algn="l" rtl="0">
              <a:spcBef>
                <a:spcPts val="0"/>
              </a:spcBef>
              <a:spcAft>
                <a:spcPts val="0"/>
              </a:spcAft>
              <a:buSzPts val="3700"/>
              <a:buNone/>
              <a:defRPr/>
            </a:lvl4pPr>
            <a:lvl5pPr lvl="4" algn="l" rtl="0">
              <a:spcBef>
                <a:spcPts val="0"/>
              </a:spcBef>
              <a:spcAft>
                <a:spcPts val="0"/>
              </a:spcAft>
              <a:buSzPts val="3700"/>
              <a:buNone/>
              <a:defRPr/>
            </a:lvl5pPr>
            <a:lvl6pPr lvl="5" algn="l" rtl="0">
              <a:spcBef>
                <a:spcPts val="0"/>
              </a:spcBef>
              <a:spcAft>
                <a:spcPts val="0"/>
              </a:spcAft>
              <a:buSzPts val="3700"/>
              <a:buNone/>
              <a:defRPr/>
            </a:lvl6pPr>
            <a:lvl7pPr lvl="6" algn="l" rtl="0">
              <a:spcBef>
                <a:spcPts val="0"/>
              </a:spcBef>
              <a:spcAft>
                <a:spcPts val="0"/>
              </a:spcAft>
              <a:buSzPts val="3700"/>
              <a:buNone/>
              <a:defRPr/>
            </a:lvl7pPr>
            <a:lvl8pPr lvl="7" algn="l" rtl="0">
              <a:spcBef>
                <a:spcPts val="0"/>
              </a:spcBef>
              <a:spcAft>
                <a:spcPts val="0"/>
              </a:spcAft>
              <a:buSzPts val="3700"/>
              <a:buNone/>
              <a:defRPr/>
            </a:lvl8pPr>
            <a:lvl9pPr lvl="8" algn="l" rtl="0">
              <a:spcBef>
                <a:spcPts val="0"/>
              </a:spcBef>
              <a:spcAft>
                <a:spcPts val="0"/>
              </a:spcAft>
              <a:buSzPts val="3700"/>
              <a:buNone/>
              <a:defRPr/>
            </a:lvl9pPr>
          </a:lstStyle>
          <a:p>
            <a:endParaRPr/>
          </a:p>
        </p:txBody>
      </p:sp>
      <p:sp>
        <p:nvSpPr>
          <p:cNvPr id="67" name="Google Shape;67;p15"/>
          <p:cNvSpPr txBox="1">
            <a:spLocks noGrp="1"/>
          </p:cNvSpPr>
          <p:nvPr>
            <p:ph type="body" idx="1"/>
          </p:nvPr>
        </p:nvSpPr>
        <p:spPr>
          <a:xfrm rot="5400000">
            <a:off x="4931523" y="-780301"/>
            <a:ext cx="3124200" cy="10018800"/>
          </a:xfrm>
          <a:prstGeom prst="rect">
            <a:avLst/>
          </a:prstGeom>
          <a:noFill/>
          <a:ln>
            <a:noFill/>
          </a:ln>
        </p:spPr>
        <p:txBody>
          <a:bodyPr spcFirstLastPara="1" wrap="square" lIns="91425" tIns="45700" rIns="91425" bIns="45700" anchor="t" anchorCtr="0">
            <a:normAutofit/>
          </a:bodyPr>
          <a:lstStyle>
            <a:lvl1pPr marL="457200" lvl="0" indent="-394335" algn="l" rtl="0">
              <a:spcBef>
                <a:spcPts val="360"/>
              </a:spcBef>
              <a:spcAft>
                <a:spcPts val="0"/>
              </a:spcAft>
              <a:buSzPts val="2610"/>
              <a:buChar char="●"/>
              <a:defRPr/>
            </a:lvl1pPr>
            <a:lvl2pPr marL="914400" lvl="1" indent="-394335" algn="l" rtl="0">
              <a:spcBef>
                <a:spcPts val="600"/>
              </a:spcBef>
              <a:spcAft>
                <a:spcPts val="0"/>
              </a:spcAft>
              <a:buSzPts val="2610"/>
              <a:buChar char="○"/>
              <a:defRPr/>
            </a:lvl2pPr>
            <a:lvl3pPr marL="1371600" lvl="2" indent="-394335" algn="l" rtl="0">
              <a:spcBef>
                <a:spcPts val="600"/>
              </a:spcBef>
              <a:spcAft>
                <a:spcPts val="0"/>
              </a:spcAft>
              <a:buSzPts val="2610"/>
              <a:buChar char="■"/>
              <a:defRPr/>
            </a:lvl3pPr>
            <a:lvl4pPr marL="1828800" lvl="3" indent="-394335" algn="l" rtl="0">
              <a:spcBef>
                <a:spcPts val="600"/>
              </a:spcBef>
              <a:spcAft>
                <a:spcPts val="0"/>
              </a:spcAft>
              <a:buSzPts val="2610"/>
              <a:buChar char="●"/>
              <a:defRPr/>
            </a:lvl4pPr>
            <a:lvl5pPr marL="2286000" lvl="4" indent="-394335" algn="l" rtl="0">
              <a:spcBef>
                <a:spcPts val="600"/>
              </a:spcBef>
              <a:spcAft>
                <a:spcPts val="0"/>
              </a:spcAft>
              <a:buSzPts val="2610"/>
              <a:buChar char="○"/>
              <a:defRPr/>
            </a:lvl5pPr>
            <a:lvl6pPr marL="2743200" lvl="5" indent="-394335" algn="l" rtl="0">
              <a:spcBef>
                <a:spcPts val="600"/>
              </a:spcBef>
              <a:spcAft>
                <a:spcPts val="0"/>
              </a:spcAft>
              <a:buSzPts val="2610"/>
              <a:buChar char="■"/>
              <a:defRPr/>
            </a:lvl6pPr>
            <a:lvl7pPr marL="3200400" lvl="6" indent="-394335" algn="l" rtl="0">
              <a:spcBef>
                <a:spcPts val="600"/>
              </a:spcBef>
              <a:spcAft>
                <a:spcPts val="0"/>
              </a:spcAft>
              <a:buSzPts val="2610"/>
              <a:buChar char="●"/>
              <a:defRPr/>
            </a:lvl7pPr>
            <a:lvl8pPr marL="3657600" lvl="7" indent="-394334" algn="l" rtl="0">
              <a:spcBef>
                <a:spcPts val="600"/>
              </a:spcBef>
              <a:spcAft>
                <a:spcPts val="0"/>
              </a:spcAft>
              <a:buSzPts val="2610"/>
              <a:buChar char="○"/>
              <a:defRPr/>
            </a:lvl8pPr>
            <a:lvl9pPr marL="4114800" lvl="8" indent="-394334" algn="l" rtl="0">
              <a:spcBef>
                <a:spcPts val="600"/>
              </a:spcBef>
              <a:spcAft>
                <a:spcPts val="600"/>
              </a:spcAft>
              <a:buSzPts val="2610"/>
              <a:buChar char="■"/>
              <a:defRPr/>
            </a:lvl9pPr>
          </a:lstStyle>
          <a:p>
            <a:endParaRPr/>
          </a:p>
        </p:txBody>
      </p:sp>
      <p:sp>
        <p:nvSpPr>
          <p:cNvPr id="68" name="Google Shape;68;p15"/>
          <p:cNvSpPr txBox="1">
            <a:spLocks noGrp="1"/>
          </p:cNvSpPr>
          <p:nvPr>
            <p:ph type="dt" idx="10"/>
          </p:nvPr>
        </p:nvSpPr>
        <p:spPr>
          <a:xfrm>
            <a:off x="9732656" y="5883275"/>
            <a:ext cx="1143000" cy="365100"/>
          </a:xfrm>
          <a:prstGeom prst="rect">
            <a:avLst/>
          </a:prstGeom>
          <a:noFill/>
          <a:ln>
            <a:noFill/>
          </a:ln>
        </p:spPr>
        <p:txBody>
          <a:bodyPr spcFirstLastPara="1" wrap="square" lIns="91425" tIns="45700" rIns="91425" bIns="45700" anchor="ctr" anchorCtr="0">
            <a:noAutofit/>
          </a:bodyPr>
          <a:lstStyle>
            <a:lvl1pPr lvl="0" algn="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5"/>
          <p:cNvSpPr txBox="1">
            <a:spLocks noGrp="1"/>
          </p:cNvSpPr>
          <p:nvPr>
            <p:ph type="ftr" idx="11"/>
          </p:nvPr>
        </p:nvSpPr>
        <p:spPr>
          <a:xfrm>
            <a:off x="2572279" y="5883275"/>
            <a:ext cx="7084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5"/>
          <p:cNvSpPr txBox="1">
            <a:spLocks noGrp="1"/>
          </p:cNvSpPr>
          <p:nvPr>
            <p:ph type="sldNum" idx="12"/>
          </p:nvPr>
        </p:nvSpPr>
        <p:spPr>
          <a:xfrm>
            <a:off x="10951856" y="5883275"/>
            <a:ext cx="551100" cy="365100"/>
          </a:xfrm>
          <a:prstGeom prst="rect">
            <a:avLst/>
          </a:prstGeom>
          <a:noFill/>
          <a:ln>
            <a:noFill/>
          </a:ln>
        </p:spPr>
        <p:txBody>
          <a:bodyPr spcFirstLastPara="1" wrap="square" lIns="91425" tIns="45700" rIns="91425" bIns="45700" anchor="ctr" anchorCtr="0">
            <a:norm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rmAutofit/>
          </a:bodyPr>
          <a:lstStyle>
            <a:lvl1pPr lvl="0">
              <a:spcBef>
                <a:spcPts val="0"/>
              </a:spcBef>
              <a:spcAft>
                <a:spcPts val="0"/>
              </a:spcAft>
              <a:buClr>
                <a:schemeClr val="dk1"/>
              </a:buClr>
              <a:buSzPts val="3700"/>
              <a:buNone/>
              <a:defRPr sz="3700">
                <a:solidFill>
                  <a:schemeClr val="dk1"/>
                </a:solidFill>
              </a:defRPr>
            </a:lvl1pPr>
            <a:lvl2pPr lvl="1">
              <a:spcBef>
                <a:spcPts val="0"/>
              </a:spcBef>
              <a:spcAft>
                <a:spcPts val="0"/>
              </a:spcAft>
              <a:buClr>
                <a:schemeClr val="dk1"/>
              </a:buClr>
              <a:buSzPts val="3700"/>
              <a:buNone/>
              <a:defRPr sz="3700">
                <a:solidFill>
                  <a:schemeClr val="dk1"/>
                </a:solidFill>
              </a:defRPr>
            </a:lvl2pPr>
            <a:lvl3pPr lvl="2">
              <a:spcBef>
                <a:spcPts val="0"/>
              </a:spcBef>
              <a:spcAft>
                <a:spcPts val="0"/>
              </a:spcAft>
              <a:buClr>
                <a:schemeClr val="dk1"/>
              </a:buClr>
              <a:buSzPts val="3700"/>
              <a:buNone/>
              <a:defRPr sz="3700">
                <a:solidFill>
                  <a:schemeClr val="dk1"/>
                </a:solidFill>
              </a:defRPr>
            </a:lvl3pPr>
            <a:lvl4pPr lvl="3">
              <a:spcBef>
                <a:spcPts val="0"/>
              </a:spcBef>
              <a:spcAft>
                <a:spcPts val="0"/>
              </a:spcAft>
              <a:buClr>
                <a:schemeClr val="dk1"/>
              </a:buClr>
              <a:buSzPts val="3700"/>
              <a:buNone/>
              <a:defRPr sz="3700">
                <a:solidFill>
                  <a:schemeClr val="dk1"/>
                </a:solidFill>
              </a:defRPr>
            </a:lvl4pPr>
            <a:lvl5pPr lvl="4">
              <a:spcBef>
                <a:spcPts val="0"/>
              </a:spcBef>
              <a:spcAft>
                <a:spcPts val="0"/>
              </a:spcAft>
              <a:buClr>
                <a:schemeClr val="dk1"/>
              </a:buClr>
              <a:buSzPts val="3700"/>
              <a:buNone/>
              <a:defRPr sz="3700">
                <a:solidFill>
                  <a:schemeClr val="dk1"/>
                </a:solidFill>
              </a:defRPr>
            </a:lvl5pPr>
            <a:lvl6pPr lvl="5">
              <a:spcBef>
                <a:spcPts val="0"/>
              </a:spcBef>
              <a:spcAft>
                <a:spcPts val="0"/>
              </a:spcAft>
              <a:buClr>
                <a:schemeClr val="dk1"/>
              </a:buClr>
              <a:buSzPts val="3700"/>
              <a:buNone/>
              <a:defRPr sz="3700">
                <a:solidFill>
                  <a:schemeClr val="dk1"/>
                </a:solidFill>
              </a:defRPr>
            </a:lvl6pPr>
            <a:lvl7pPr lvl="6">
              <a:spcBef>
                <a:spcPts val="0"/>
              </a:spcBef>
              <a:spcAft>
                <a:spcPts val="0"/>
              </a:spcAft>
              <a:buClr>
                <a:schemeClr val="dk1"/>
              </a:buClr>
              <a:buSzPts val="3700"/>
              <a:buNone/>
              <a:defRPr sz="3700">
                <a:solidFill>
                  <a:schemeClr val="dk1"/>
                </a:solidFill>
              </a:defRPr>
            </a:lvl7pPr>
            <a:lvl8pPr lvl="7">
              <a:spcBef>
                <a:spcPts val="0"/>
              </a:spcBef>
              <a:spcAft>
                <a:spcPts val="0"/>
              </a:spcAft>
              <a:buClr>
                <a:schemeClr val="dk1"/>
              </a:buClr>
              <a:buSzPts val="3700"/>
              <a:buNone/>
              <a:defRPr sz="3700">
                <a:solidFill>
                  <a:schemeClr val="dk1"/>
                </a:solidFill>
              </a:defRPr>
            </a:lvl8pPr>
            <a:lvl9pPr lvl="8">
              <a:spcBef>
                <a:spcPts val="0"/>
              </a:spcBef>
              <a:spcAft>
                <a:spcPts val="0"/>
              </a:spcAft>
              <a:buClr>
                <a:schemeClr val="dk1"/>
              </a:buClr>
              <a:buSzPts val="3700"/>
              <a:buNone/>
              <a:defRPr sz="3700">
                <a:solidFill>
                  <a:schemeClr val="dk1"/>
                </a:solidFill>
              </a:defRPr>
            </a:lvl9pPr>
          </a:lstStyle>
          <a:p>
            <a:endParaRPr/>
          </a:p>
        </p:txBody>
      </p:sp>
      <p:sp>
        <p:nvSpPr>
          <p:cNvPr id="7" name="Google Shape;7;p1"/>
          <p:cNvSpPr txBox="1">
            <a:spLocks noGrp="1"/>
          </p:cNvSpPr>
          <p:nvPr>
            <p:ph type="body" idx="1"/>
          </p:nvPr>
        </p:nvSpPr>
        <p:spPr>
          <a:xfrm>
            <a:off x="415600" y="1536633"/>
            <a:ext cx="11360700" cy="4555200"/>
          </a:xfrm>
          <a:prstGeom prst="rect">
            <a:avLst/>
          </a:prstGeom>
          <a:noFill/>
          <a:ln>
            <a:noFill/>
          </a:ln>
        </p:spPr>
        <p:txBody>
          <a:bodyPr spcFirstLastPara="1" wrap="square" lIns="121900" tIns="121900" rIns="121900" bIns="121900" anchor="t" anchorCtr="0">
            <a:normAutofit/>
          </a:bodyPr>
          <a:lstStyle>
            <a:lvl1pPr marL="457200" lvl="0" indent="-381000">
              <a:lnSpc>
                <a:spcPct val="115000"/>
              </a:lnSpc>
              <a:spcBef>
                <a:spcPts val="0"/>
              </a:spcBef>
              <a:spcAft>
                <a:spcPts val="0"/>
              </a:spcAft>
              <a:buClr>
                <a:schemeClr val="dk2"/>
              </a:buClr>
              <a:buSzPts val="2400"/>
              <a:buChar char="●"/>
              <a:defRPr sz="2400">
                <a:solidFill>
                  <a:schemeClr val="dk2"/>
                </a:solidFill>
              </a:defRPr>
            </a:lvl1pPr>
            <a:lvl2pPr marL="914400" lvl="1" indent="-349250">
              <a:lnSpc>
                <a:spcPct val="115000"/>
              </a:lnSpc>
              <a:spcBef>
                <a:spcPts val="0"/>
              </a:spcBef>
              <a:spcAft>
                <a:spcPts val="0"/>
              </a:spcAft>
              <a:buClr>
                <a:schemeClr val="dk2"/>
              </a:buClr>
              <a:buSzPts val="1900"/>
              <a:buChar char="○"/>
              <a:defRPr sz="1900">
                <a:solidFill>
                  <a:schemeClr val="dk2"/>
                </a:solidFill>
              </a:defRPr>
            </a:lvl2pPr>
            <a:lvl3pPr marL="1371600" lvl="2" indent="-349250">
              <a:lnSpc>
                <a:spcPct val="115000"/>
              </a:lnSpc>
              <a:spcBef>
                <a:spcPts val="0"/>
              </a:spcBef>
              <a:spcAft>
                <a:spcPts val="0"/>
              </a:spcAft>
              <a:buClr>
                <a:schemeClr val="dk2"/>
              </a:buClr>
              <a:buSzPts val="1900"/>
              <a:buChar char="■"/>
              <a:defRPr sz="1900">
                <a:solidFill>
                  <a:schemeClr val="dk2"/>
                </a:solidFill>
              </a:defRPr>
            </a:lvl3pPr>
            <a:lvl4pPr marL="1828800" lvl="3" indent="-349250">
              <a:lnSpc>
                <a:spcPct val="115000"/>
              </a:lnSpc>
              <a:spcBef>
                <a:spcPts val="0"/>
              </a:spcBef>
              <a:spcAft>
                <a:spcPts val="0"/>
              </a:spcAft>
              <a:buClr>
                <a:schemeClr val="dk2"/>
              </a:buClr>
              <a:buSzPts val="1900"/>
              <a:buChar char="●"/>
              <a:defRPr sz="1900">
                <a:solidFill>
                  <a:schemeClr val="dk2"/>
                </a:solidFill>
              </a:defRPr>
            </a:lvl4pPr>
            <a:lvl5pPr marL="2286000" lvl="4" indent="-349250">
              <a:lnSpc>
                <a:spcPct val="115000"/>
              </a:lnSpc>
              <a:spcBef>
                <a:spcPts val="0"/>
              </a:spcBef>
              <a:spcAft>
                <a:spcPts val="0"/>
              </a:spcAft>
              <a:buClr>
                <a:schemeClr val="dk2"/>
              </a:buClr>
              <a:buSzPts val="1900"/>
              <a:buChar char="○"/>
              <a:defRPr sz="1900">
                <a:solidFill>
                  <a:schemeClr val="dk2"/>
                </a:solidFill>
              </a:defRPr>
            </a:lvl5pPr>
            <a:lvl6pPr marL="2743200" lvl="5" indent="-349250">
              <a:lnSpc>
                <a:spcPct val="115000"/>
              </a:lnSpc>
              <a:spcBef>
                <a:spcPts val="0"/>
              </a:spcBef>
              <a:spcAft>
                <a:spcPts val="0"/>
              </a:spcAft>
              <a:buClr>
                <a:schemeClr val="dk2"/>
              </a:buClr>
              <a:buSzPts val="1900"/>
              <a:buChar char="■"/>
              <a:defRPr sz="1900">
                <a:solidFill>
                  <a:schemeClr val="dk2"/>
                </a:solidFill>
              </a:defRPr>
            </a:lvl6pPr>
            <a:lvl7pPr marL="3200400" lvl="6" indent="-349250">
              <a:lnSpc>
                <a:spcPct val="115000"/>
              </a:lnSpc>
              <a:spcBef>
                <a:spcPts val="0"/>
              </a:spcBef>
              <a:spcAft>
                <a:spcPts val="0"/>
              </a:spcAft>
              <a:buClr>
                <a:schemeClr val="dk2"/>
              </a:buClr>
              <a:buSzPts val="1900"/>
              <a:buChar char="●"/>
              <a:defRPr sz="1900">
                <a:solidFill>
                  <a:schemeClr val="dk2"/>
                </a:solidFill>
              </a:defRPr>
            </a:lvl7pPr>
            <a:lvl8pPr marL="3657600" lvl="7" indent="-349250">
              <a:lnSpc>
                <a:spcPct val="115000"/>
              </a:lnSpc>
              <a:spcBef>
                <a:spcPts val="0"/>
              </a:spcBef>
              <a:spcAft>
                <a:spcPts val="0"/>
              </a:spcAft>
              <a:buClr>
                <a:schemeClr val="dk2"/>
              </a:buClr>
              <a:buSzPts val="1900"/>
              <a:buChar char="○"/>
              <a:defRPr sz="1900">
                <a:solidFill>
                  <a:schemeClr val="dk2"/>
                </a:solidFill>
              </a:defRPr>
            </a:lvl8pPr>
            <a:lvl9pPr marL="4114800" lvl="8" indent="-349250">
              <a:lnSpc>
                <a:spcPct val="115000"/>
              </a:lnSpc>
              <a:spcBef>
                <a:spcPts val="0"/>
              </a:spcBef>
              <a:spcAft>
                <a:spcPts val="0"/>
              </a:spcAft>
              <a:buClr>
                <a:schemeClr val="dk2"/>
              </a:buClr>
              <a:buSzPts val="1900"/>
              <a:buChar char="■"/>
              <a:defRPr sz="1900">
                <a:solidFill>
                  <a:schemeClr val="dk2"/>
                </a:solidFill>
              </a:defRPr>
            </a:lvl9pPr>
          </a:lstStyle>
          <a:p>
            <a:endParaRPr/>
          </a:p>
        </p:txBody>
      </p:sp>
      <p:sp>
        <p:nvSpPr>
          <p:cNvPr id="8" name="Google Shape;8;p1"/>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rmAutofit/>
          </a:bodyPr>
          <a:lstStyle>
            <a:lvl1pPr lvl="0" algn="r">
              <a:buNone/>
              <a:defRPr sz="1300">
                <a:solidFill>
                  <a:schemeClr val="dk2"/>
                </a:solidFill>
              </a:defRPr>
            </a:lvl1pPr>
            <a:lvl2pPr lvl="1" algn="r">
              <a:buNone/>
              <a:defRPr sz="1300">
                <a:solidFill>
                  <a:schemeClr val="dk2"/>
                </a:solidFill>
              </a:defRPr>
            </a:lvl2pPr>
            <a:lvl3pPr lvl="2" algn="r">
              <a:buNone/>
              <a:defRPr sz="1300">
                <a:solidFill>
                  <a:schemeClr val="dk2"/>
                </a:solidFill>
              </a:defRPr>
            </a:lvl3pPr>
            <a:lvl4pPr lvl="3" algn="r">
              <a:buNone/>
              <a:defRPr sz="1300">
                <a:solidFill>
                  <a:schemeClr val="dk2"/>
                </a:solidFill>
              </a:defRPr>
            </a:lvl4pPr>
            <a:lvl5pPr lvl="4" algn="r">
              <a:buNone/>
              <a:defRPr sz="1300">
                <a:solidFill>
                  <a:schemeClr val="dk2"/>
                </a:solidFill>
              </a:defRPr>
            </a:lvl5pPr>
            <a:lvl6pPr lvl="5" algn="r">
              <a:buNone/>
              <a:defRPr sz="1300">
                <a:solidFill>
                  <a:schemeClr val="dk2"/>
                </a:solidFill>
              </a:defRPr>
            </a:lvl6pPr>
            <a:lvl7pPr lvl="6" algn="r">
              <a:buNone/>
              <a:defRPr sz="1300">
                <a:solidFill>
                  <a:schemeClr val="dk2"/>
                </a:solidFill>
              </a:defRPr>
            </a:lvl7pPr>
            <a:lvl8pPr lvl="7" algn="r">
              <a:buNone/>
              <a:defRPr sz="1300">
                <a:solidFill>
                  <a:schemeClr val="dk2"/>
                </a:solidFill>
              </a:defRPr>
            </a:lvl8pPr>
            <a:lvl9pPr lvl="8" algn="r">
              <a:buNone/>
              <a:defRPr sz="1300">
                <a:solidFill>
                  <a:schemeClr val="dk2"/>
                </a:solidFil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3.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11.xml"/><Relationship Id="rId5" Type="http://schemas.openxmlformats.org/officeDocument/2006/relationships/image" Target="../media/image17.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11.xml"/><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11.xml"/><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9.xml"/><Relationship Id="rId1" Type="http://schemas.openxmlformats.org/officeDocument/2006/relationships/slideLayout" Target="../slideLayouts/slideLayout3.xml"/><Relationship Id="rId4" Type="http://schemas.openxmlformats.org/officeDocument/2006/relationships/image" Target="../media/image30.png"/></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0.xml"/><Relationship Id="rId1" Type="http://schemas.openxmlformats.org/officeDocument/2006/relationships/slideLayout" Target="../slideLayouts/slideLayout3.xml"/><Relationship Id="rId4" Type="http://schemas.openxmlformats.org/officeDocument/2006/relationships/image" Target="../media/image32.png"/></Relationships>
</file>

<file path=ppt/slides/_rels/slide3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1.xml"/><Relationship Id="rId1" Type="http://schemas.openxmlformats.org/officeDocument/2006/relationships/slideLayout" Target="../slideLayouts/slideLayout3.xml"/><Relationship Id="rId4" Type="http://schemas.openxmlformats.org/officeDocument/2006/relationships/image" Target="../media/image34.png"/></Relationships>
</file>

<file path=ppt/slides/_rels/slide3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2.xml"/><Relationship Id="rId1" Type="http://schemas.openxmlformats.org/officeDocument/2006/relationships/slideLayout" Target="../slideLayouts/slideLayout3.xml"/><Relationship Id="rId4" Type="http://schemas.openxmlformats.org/officeDocument/2006/relationships/image" Target="../media/image36.png"/></Relationships>
</file>

<file path=ppt/slides/_rels/slide3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4.xml"/><Relationship Id="rId1" Type="http://schemas.openxmlformats.org/officeDocument/2006/relationships/slideLayout" Target="../slideLayouts/slideLayout3.xml"/><Relationship Id="rId4" Type="http://schemas.openxmlformats.org/officeDocument/2006/relationships/image" Target="../media/image39.png"/></Relationships>
</file>

<file path=ppt/slides/_rels/slide3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5.xml"/><Relationship Id="rId1" Type="http://schemas.openxmlformats.org/officeDocument/2006/relationships/slideLayout" Target="../slideLayouts/slideLayout3.xml"/><Relationship Id="rId4" Type="http://schemas.openxmlformats.org/officeDocument/2006/relationships/image" Target="../media/image41.png"/></Relationships>
</file>

<file path=ppt/slides/_rels/slide3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6.xml"/><Relationship Id="rId1" Type="http://schemas.openxmlformats.org/officeDocument/2006/relationships/slideLayout" Target="../slideLayouts/slideLayout3.xml"/><Relationship Id="rId4" Type="http://schemas.openxmlformats.org/officeDocument/2006/relationships/image" Target="../media/image43.png"/></Relationships>
</file>

<file path=ppt/slides/_rels/slide3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3.xml"/><Relationship Id="rId1" Type="http://schemas.openxmlformats.org/officeDocument/2006/relationships/slideLayout" Target="../slideLayouts/slideLayout3.xml"/><Relationship Id="rId4" Type="http://schemas.openxmlformats.org/officeDocument/2006/relationships/image" Target="../media/image46.png"/></Relationships>
</file>

<file path=ppt/slides/_rels/slide4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4.xml"/><Relationship Id="rId1" Type="http://schemas.openxmlformats.org/officeDocument/2006/relationships/slideLayout" Target="../slideLayouts/slideLayout3.xml"/><Relationship Id="rId4" Type="http://schemas.openxmlformats.org/officeDocument/2006/relationships/image" Target="../media/image48.png"/></Relationships>
</file>

<file path=ppt/slides/_rels/slide4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5.xml"/><Relationship Id="rId1" Type="http://schemas.openxmlformats.org/officeDocument/2006/relationships/slideLayout" Target="../slideLayouts/slideLayout3.xml"/><Relationship Id="rId4" Type="http://schemas.openxmlformats.org/officeDocument/2006/relationships/image" Target="../media/image50.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74"/>
        <p:cNvGrpSpPr/>
        <p:nvPr/>
      </p:nvGrpSpPr>
      <p:grpSpPr>
        <a:xfrm>
          <a:off x="0" y="0"/>
          <a:ext cx="0" cy="0"/>
          <a:chOff x="0" y="0"/>
          <a:chExt cx="0" cy="0"/>
        </a:xfrm>
      </p:grpSpPr>
      <p:sp>
        <p:nvSpPr>
          <p:cNvPr id="75" name="Google Shape;75;p16"/>
          <p:cNvSpPr txBox="1">
            <a:spLocks noGrp="1"/>
          </p:cNvSpPr>
          <p:nvPr>
            <p:ph type="subTitle" idx="1"/>
          </p:nvPr>
        </p:nvSpPr>
        <p:spPr>
          <a:xfrm>
            <a:off x="2436832" y="3515551"/>
            <a:ext cx="7550700" cy="18378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SzPts val="3045"/>
              <a:buNone/>
            </a:pPr>
            <a:r>
              <a:rPr lang="en-US" sz="2900">
                <a:solidFill>
                  <a:schemeClr val="lt1"/>
                </a:solidFill>
              </a:rPr>
              <a:t>Sai Raga Mounika Darimireddy</a:t>
            </a:r>
            <a:endParaRPr sz="2900">
              <a:solidFill>
                <a:schemeClr val="lt1"/>
              </a:solidFill>
            </a:endParaRPr>
          </a:p>
          <a:p>
            <a:pPr marL="0" lvl="0" indent="0" algn="ctr" rtl="0">
              <a:spcBef>
                <a:spcPts val="1020"/>
              </a:spcBef>
              <a:spcAft>
                <a:spcPts val="0"/>
              </a:spcAft>
              <a:buSzPts val="3045"/>
              <a:buNone/>
            </a:pPr>
            <a:r>
              <a:rPr lang="en-US" sz="2900">
                <a:solidFill>
                  <a:schemeClr val="lt1"/>
                </a:solidFill>
              </a:rPr>
              <a:t>Venkata Ashwath Vennela</a:t>
            </a:r>
            <a:endParaRPr sz="2900">
              <a:solidFill>
                <a:schemeClr val="lt1"/>
              </a:solidFill>
            </a:endParaRPr>
          </a:p>
          <a:p>
            <a:pPr marL="0" lvl="0" indent="0" algn="ctr" rtl="0">
              <a:spcBef>
                <a:spcPts val="1020"/>
              </a:spcBef>
              <a:spcAft>
                <a:spcPts val="0"/>
              </a:spcAft>
              <a:buSzPts val="3045"/>
              <a:buNone/>
            </a:pPr>
            <a:r>
              <a:rPr lang="en-US" sz="2900">
                <a:solidFill>
                  <a:schemeClr val="lt1"/>
                </a:solidFill>
              </a:rPr>
              <a:t>Anudeep Thumu</a:t>
            </a:r>
            <a:endParaRPr sz="2900">
              <a:solidFill>
                <a:schemeClr val="lt1"/>
              </a:solidFill>
            </a:endParaRPr>
          </a:p>
          <a:p>
            <a:pPr marL="0" lvl="0" indent="0" algn="ctr" rtl="0">
              <a:spcBef>
                <a:spcPts val="1020"/>
              </a:spcBef>
              <a:spcAft>
                <a:spcPts val="0"/>
              </a:spcAft>
              <a:buSzPts val="3045"/>
              <a:buNone/>
            </a:pPr>
            <a:r>
              <a:rPr lang="en-US" sz="2900">
                <a:solidFill>
                  <a:schemeClr val="lt1"/>
                </a:solidFill>
              </a:rPr>
              <a:t>Yogitha Pollisetty</a:t>
            </a:r>
            <a:endParaRPr sz="2900">
              <a:solidFill>
                <a:schemeClr val="lt1"/>
              </a:solidFill>
            </a:endParaRPr>
          </a:p>
        </p:txBody>
      </p:sp>
      <p:pic>
        <p:nvPicPr>
          <p:cNvPr id="76" name="Google Shape;76;p16" descr="Triangular abstract background"/>
          <p:cNvPicPr preferRelativeResize="0"/>
          <p:nvPr/>
        </p:nvPicPr>
        <p:blipFill rotWithShape="1">
          <a:blip r:embed="rId3">
            <a:alphaModFix/>
          </a:blip>
          <a:srcRect t="15711"/>
          <a:stretch/>
        </p:blipFill>
        <p:spPr>
          <a:xfrm>
            <a:off x="1524" y="10"/>
            <a:ext cx="12188954" cy="6857989"/>
          </a:xfrm>
          <a:prstGeom prst="rect">
            <a:avLst/>
          </a:prstGeom>
          <a:noFill/>
          <a:ln>
            <a:noFill/>
          </a:ln>
        </p:spPr>
      </p:pic>
      <p:sp>
        <p:nvSpPr>
          <p:cNvPr id="77" name="Google Shape;77;p16"/>
          <p:cNvSpPr txBox="1">
            <a:spLocks noGrp="1"/>
          </p:cNvSpPr>
          <p:nvPr>
            <p:ph type="ctrTitle"/>
          </p:nvPr>
        </p:nvSpPr>
        <p:spPr>
          <a:xfrm>
            <a:off x="2152975" y="637758"/>
            <a:ext cx="7718400" cy="5025600"/>
          </a:xfrm>
          <a:prstGeom prst="rect">
            <a:avLst/>
          </a:prstGeom>
          <a:noFill/>
          <a:ln>
            <a:noFill/>
          </a:ln>
        </p:spPr>
        <p:txBody>
          <a:bodyPr spcFirstLastPara="1" wrap="square" lIns="91425" tIns="45700" rIns="91425" bIns="45700" anchor="b" anchorCtr="0">
            <a:normAutofit fontScale="90000"/>
          </a:bodyPr>
          <a:lstStyle/>
          <a:p>
            <a:pPr marL="0" lvl="0" indent="0" algn="ctr" rtl="0">
              <a:spcBef>
                <a:spcPts val="0"/>
              </a:spcBef>
              <a:spcAft>
                <a:spcPts val="0"/>
              </a:spcAft>
              <a:buClr>
                <a:schemeClr val="dk1"/>
              </a:buClr>
              <a:buSzPct val="100000"/>
              <a:buFont typeface="Corbel"/>
              <a:buNone/>
            </a:pPr>
            <a:r>
              <a:rPr lang="en-US" sz="7200"/>
              <a:t>Life Expectancy Based on Various Health and Demographic Factors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81"/>
        <p:cNvGrpSpPr/>
        <p:nvPr/>
      </p:nvGrpSpPr>
      <p:grpSpPr>
        <a:xfrm>
          <a:off x="0" y="0"/>
          <a:ext cx="0" cy="0"/>
          <a:chOff x="0" y="0"/>
          <a:chExt cx="0" cy="0"/>
        </a:xfrm>
      </p:grpSpPr>
      <p:pic>
        <p:nvPicPr>
          <p:cNvPr id="82" name="Google Shape;82;p17" descr="Triangular abstract background"/>
          <p:cNvPicPr preferRelativeResize="0"/>
          <p:nvPr/>
        </p:nvPicPr>
        <p:blipFill rotWithShape="1">
          <a:blip r:embed="rId3">
            <a:alphaModFix/>
          </a:blip>
          <a:srcRect t="15710" r="-1"/>
          <a:stretch/>
        </p:blipFill>
        <p:spPr>
          <a:xfrm>
            <a:off x="1524" y="10"/>
            <a:ext cx="12188952" cy="6857990"/>
          </a:xfrm>
          <a:prstGeom prst="rect">
            <a:avLst/>
          </a:prstGeom>
          <a:noFill/>
          <a:ln>
            <a:noFill/>
          </a:ln>
        </p:spPr>
      </p:pic>
      <p:sp>
        <p:nvSpPr>
          <p:cNvPr id="83" name="Google Shape;83;p17"/>
          <p:cNvSpPr txBox="1">
            <a:spLocks noGrp="1"/>
          </p:cNvSpPr>
          <p:nvPr>
            <p:ph type="ctrTitle"/>
          </p:nvPr>
        </p:nvSpPr>
        <p:spPr>
          <a:xfrm>
            <a:off x="2152968" y="637742"/>
            <a:ext cx="7718400" cy="2489100"/>
          </a:xfrm>
          <a:prstGeom prst="rect">
            <a:avLst/>
          </a:prstGeom>
          <a:noFill/>
          <a:ln>
            <a:noFill/>
          </a:ln>
        </p:spPr>
        <p:txBody>
          <a:bodyPr spcFirstLastPara="1" wrap="square" lIns="91425" tIns="45700" rIns="91425" bIns="45700" anchor="b" anchorCtr="0">
            <a:normAutofit/>
          </a:bodyPr>
          <a:lstStyle/>
          <a:p>
            <a:pPr marL="0" lvl="0" indent="0" algn="ctr" rtl="0">
              <a:spcBef>
                <a:spcPts val="0"/>
              </a:spcBef>
              <a:spcAft>
                <a:spcPts val="0"/>
              </a:spcAft>
              <a:buClr>
                <a:schemeClr val="dk1"/>
              </a:buClr>
              <a:buSzPts val="7200"/>
              <a:buFont typeface="Corbel"/>
              <a:buNone/>
            </a:pPr>
            <a:r>
              <a:rPr lang="en-US" sz="7200"/>
              <a:t>DATA SYNERGISTS</a:t>
            </a:r>
            <a:endParaRPr/>
          </a:p>
        </p:txBody>
      </p:sp>
      <p:sp>
        <p:nvSpPr>
          <p:cNvPr id="84" name="Google Shape;84;p17"/>
          <p:cNvSpPr txBox="1">
            <a:spLocks noGrp="1"/>
          </p:cNvSpPr>
          <p:nvPr>
            <p:ph type="subTitle" idx="1"/>
          </p:nvPr>
        </p:nvSpPr>
        <p:spPr>
          <a:xfrm>
            <a:off x="2436832" y="3515551"/>
            <a:ext cx="7550700" cy="18378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SzPts val="3045"/>
              <a:buNone/>
            </a:pPr>
            <a:r>
              <a:rPr lang="en-US" sz="2900">
                <a:solidFill>
                  <a:schemeClr val="lt1"/>
                </a:solidFill>
              </a:rPr>
              <a:t>Sai Raga Mounika Darimireddy</a:t>
            </a:r>
            <a:endParaRPr sz="2900">
              <a:solidFill>
                <a:schemeClr val="lt1"/>
              </a:solidFill>
            </a:endParaRPr>
          </a:p>
          <a:p>
            <a:pPr marL="0" lvl="0" indent="0" algn="ctr" rtl="0">
              <a:spcBef>
                <a:spcPts val="1020"/>
              </a:spcBef>
              <a:spcAft>
                <a:spcPts val="0"/>
              </a:spcAft>
              <a:buSzPts val="3045"/>
              <a:buNone/>
            </a:pPr>
            <a:r>
              <a:rPr lang="en-US" sz="2900">
                <a:solidFill>
                  <a:schemeClr val="lt1"/>
                </a:solidFill>
              </a:rPr>
              <a:t>Venkata Ashwath Vennela</a:t>
            </a:r>
            <a:endParaRPr sz="2900">
              <a:solidFill>
                <a:schemeClr val="lt1"/>
              </a:solidFill>
            </a:endParaRPr>
          </a:p>
          <a:p>
            <a:pPr marL="0" lvl="0" indent="0" algn="ctr" rtl="0">
              <a:spcBef>
                <a:spcPts val="1020"/>
              </a:spcBef>
              <a:spcAft>
                <a:spcPts val="0"/>
              </a:spcAft>
              <a:buSzPts val="3045"/>
              <a:buNone/>
            </a:pPr>
            <a:r>
              <a:rPr lang="en-US" sz="2900">
                <a:solidFill>
                  <a:schemeClr val="lt1"/>
                </a:solidFill>
              </a:rPr>
              <a:t>Anudeep Thumu</a:t>
            </a:r>
            <a:endParaRPr sz="2900">
              <a:solidFill>
                <a:schemeClr val="lt1"/>
              </a:solidFill>
            </a:endParaRPr>
          </a:p>
          <a:p>
            <a:pPr marL="0" lvl="0" indent="0" algn="ctr" rtl="0">
              <a:spcBef>
                <a:spcPts val="1020"/>
              </a:spcBef>
              <a:spcAft>
                <a:spcPts val="0"/>
              </a:spcAft>
              <a:buSzPts val="3045"/>
              <a:buNone/>
            </a:pPr>
            <a:r>
              <a:rPr lang="en-US" sz="2900">
                <a:solidFill>
                  <a:schemeClr val="lt1"/>
                </a:solidFill>
              </a:rPr>
              <a:t>Yogitha Pollisetty</a:t>
            </a:r>
            <a:endParaRPr sz="2900">
              <a:solidFill>
                <a:schemeClr val="lt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grpSp>
        <p:nvGrpSpPr>
          <p:cNvPr id="89" name="Google Shape;89;p18"/>
          <p:cNvGrpSpPr/>
          <p:nvPr/>
        </p:nvGrpSpPr>
        <p:grpSpPr>
          <a:xfrm>
            <a:off x="4985225" y="627413"/>
            <a:ext cx="6492900" cy="5097452"/>
            <a:chOff x="0" y="3988"/>
            <a:chExt cx="6492900" cy="5097452"/>
          </a:xfrm>
        </p:grpSpPr>
        <p:sp>
          <p:nvSpPr>
            <p:cNvPr id="90" name="Google Shape;90;p18"/>
            <p:cNvSpPr/>
            <p:nvPr/>
          </p:nvSpPr>
          <p:spPr>
            <a:xfrm>
              <a:off x="0" y="3988"/>
              <a:ext cx="6492900" cy="849600"/>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18"/>
            <p:cNvSpPr/>
            <p:nvPr/>
          </p:nvSpPr>
          <p:spPr>
            <a:xfrm>
              <a:off x="256995" y="195141"/>
              <a:ext cx="467400" cy="467400"/>
            </a:xfrm>
            <a:prstGeom prst="rect">
              <a:avLst/>
            </a:prstGeom>
            <a:blipFill rotWithShape="1">
              <a:blip r:embed="rId3">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18"/>
            <p:cNvSpPr/>
            <p:nvPr/>
          </p:nvSpPr>
          <p:spPr>
            <a:xfrm>
              <a:off x="981253" y="3988"/>
              <a:ext cx="5511600" cy="849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18"/>
            <p:cNvSpPr txBox="1"/>
            <p:nvPr/>
          </p:nvSpPr>
          <p:spPr>
            <a:xfrm>
              <a:off x="981253" y="3988"/>
              <a:ext cx="5511600" cy="849600"/>
            </a:xfrm>
            <a:prstGeom prst="rect">
              <a:avLst/>
            </a:prstGeom>
            <a:noFill/>
            <a:ln>
              <a:noFill/>
            </a:ln>
          </p:spPr>
          <p:txBody>
            <a:bodyPr spcFirstLastPara="1" wrap="square" lIns="89900" tIns="89900" rIns="89900" bIns="89900" anchor="ctr" anchorCtr="0">
              <a:noAutofit/>
            </a:bodyPr>
            <a:lstStyle/>
            <a:p>
              <a:pPr marL="0" marR="0" lvl="0" indent="0" algn="l" rtl="0">
                <a:lnSpc>
                  <a:spcPct val="90000"/>
                </a:lnSpc>
                <a:spcBef>
                  <a:spcPts val="0"/>
                </a:spcBef>
                <a:spcAft>
                  <a:spcPts val="0"/>
                </a:spcAft>
                <a:buClr>
                  <a:schemeClr val="dk1"/>
                </a:buClr>
                <a:buSzPts val="1900"/>
                <a:buFont typeface="Corbel"/>
                <a:buNone/>
              </a:pPr>
              <a:r>
                <a:rPr lang="en-US" sz="1900">
                  <a:solidFill>
                    <a:schemeClr val="dk1"/>
                  </a:solidFill>
                  <a:latin typeface="Corbel"/>
                  <a:ea typeface="Corbel"/>
                  <a:cs typeface="Corbel"/>
                  <a:sym typeface="Corbel"/>
                </a:rPr>
                <a:t>Dataset Introduction</a:t>
              </a:r>
              <a:endParaRPr/>
            </a:p>
          </p:txBody>
        </p:sp>
        <p:sp>
          <p:nvSpPr>
            <p:cNvPr id="94" name="Google Shape;94;p18"/>
            <p:cNvSpPr/>
            <p:nvPr/>
          </p:nvSpPr>
          <p:spPr>
            <a:xfrm>
              <a:off x="0" y="1065951"/>
              <a:ext cx="6492900" cy="849600"/>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18"/>
            <p:cNvSpPr/>
            <p:nvPr/>
          </p:nvSpPr>
          <p:spPr>
            <a:xfrm>
              <a:off x="256995" y="1257105"/>
              <a:ext cx="467400" cy="467400"/>
            </a:xfrm>
            <a:prstGeom prst="rect">
              <a:avLst/>
            </a:prstGeom>
            <a:blipFill rotWithShape="1">
              <a:blip r:embed="rId4">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18"/>
            <p:cNvSpPr/>
            <p:nvPr/>
          </p:nvSpPr>
          <p:spPr>
            <a:xfrm>
              <a:off x="981253" y="1065951"/>
              <a:ext cx="5511600" cy="849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18"/>
            <p:cNvSpPr txBox="1"/>
            <p:nvPr/>
          </p:nvSpPr>
          <p:spPr>
            <a:xfrm>
              <a:off x="981253" y="1065951"/>
              <a:ext cx="5511600" cy="849600"/>
            </a:xfrm>
            <a:prstGeom prst="rect">
              <a:avLst/>
            </a:prstGeom>
            <a:noFill/>
            <a:ln>
              <a:noFill/>
            </a:ln>
          </p:spPr>
          <p:txBody>
            <a:bodyPr spcFirstLastPara="1" wrap="square" lIns="89900" tIns="89900" rIns="89900" bIns="89900" anchor="ctr" anchorCtr="0">
              <a:noAutofit/>
            </a:bodyPr>
            <a:lstStyle/>
            <a:p>
              <a:pPr marL="0" marR="0" lvl="0" indent="0" algn="l" rtl="0">
                <a:lnSpc>
                  <a:spcPct val="90000"/>
                </a:lnSpc>
                <a:spcBef>
                  <a:spcPts val="0"/>
                </a:spcBef>
                <a:spcAft>
                  <a:spcPts val="0"/>
                </a:spcAft>
                <a:buClr>
                  <a:schemeClr val="dk1"/>
                </a:buClr>
                <a:buSzPts val="1900"/>
                <a:buFont typeface="Corbel"/>
                <a:buNone/>
              </a:pPr>
              <a:r>
                <a:rPr lang="en-US" sz="1900">
                  <a:solidFill>
                    <a:schemeClr val="dk1"/>
                  </a:solidFill>
                  <a:latin typeface="Corbel"/>
                  <a:ea typeface="Corbel"/>
                  <a:cs typeface="Corbel"/>
                  <a:sym typeface="Corbel"/>
                </a:rPr>
                <a:t>Dataset Preprocessing</a:t>
              </a:r>
              <a:endParaRPr/>
            </a:p>
          </p:txBody>
        </p:sp>
        <p:sp>
          <p:nvSpPr>
            <p:cNvPr id="98" name="Google Shape;98;p18"/>
            <p:cNvSpPr/>
            <p:nvPr/>
          </p:nvSpPr>
          <p:spPr>
            <a:xfrm>
              <a:off x="0" y="2127914"/>
              <a:ext cx="6492900" cy="849600"/>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18"/>
            <p:cNvSpPr/>
            <p:nvPr/>
          </p:nvSpPr>
          <p:spPr>
            <a:xfrm>
              <a:off x="256995" y="2319068"/>
              <a:ext cx="467400" cy="467400"/>
            </a:xfrm>
            <a:prstGeom prst="rect">
              <a:avLst/>
            </a:pr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18"/>
            <p:cNvSpPr/>
            <p:nvPr/>
          </p:nvSpPr>
          <p:spPr>
            <a:xfrm>
              <a:off x="981253" y="2127914"/>
              <a:ext cx="5511600" cy="849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18"/>
            <p:cNvSpPr txBox="1"/>
            <p:nvPr/>
          </p:nvSpPr>
          <p:spPr>
            <a:xfrm>
              <a:off x="981253" y="2127914"/>
              <a:ext cx="5511600" cy="849600"/>
            </a:xfrm>
            <a:prstGeom prst="rect">
              <a:avLst/>
            </a:prstGeom>
            <a:noFill/>
            <a:ln>
              <a:noFill/>
            </a:ln>
          </p:spPr>
          <p:txBody>
            <a:bodyPr spcFirstLastPara="1" wrap="square" lIns="89900" tIns="89900" rIns="89900" bIns="89900" anchor="ctr" anchorCtr="0">
              <a:noAutofit/>
            </a:bodyPr>
            <a:lstStyle/>
            <a:p>
              <a:pPr marL="0" marR="0" lvl="0" indent="0" algn="l" rtl="0">
                <a:lnSpc>
                  <a:spcPct val="90000"/>
                </a:lnSpc>
                <a:spcBef>
                  <a:spcPts val="0"/>
                </a:spcBef>
                <a:spcAft>
                  <a:spcPts val="0"/>
                </a:spcAft>
                <a:buClr>
                  <a:schemeClr val="dk1"/>
                </a:buClr>
                <a:buSzPts val="1900"/>
                <a:buFont typeface="Corbel"/>
                <a:buNone/>
              </a:pPr>
              <a:r>
                <a:rPr lang="en-US" sz="1900">
                  <a:solidFill>
                    <a:schemeClr val="dk1"/>
                  </a:solidFill>
                  <a:latin typeface="Corbel"/>
                  <a:ea typeface="Corbel"/>
                  <a:cs typeface="Corbel"/>
                  <a:sym typeface="Corbel"/>
                </a:rPr>
                <a:t>Methodology</a:t>
              </a:r>
              <a:endParaRPr/>
            </a:p>
          </p:txBody>
        </p:sp>
        <p:sp>
          <p:nvSpPr>
            <p:cNvPr id="102" name="Google Shape;102;p18"/>
            <p:cNvSpPr/>
            <p:nvPr/>
          </p:nvSpPr>
          <p:spPr>
            <a:xfrm>
              <a:off x="0" y="3189877"/>
              <a:ext cx="6492900" cy="849600"/>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18"/>
            <p:cNvSpPr/>
            <p:nvPr/>
          </p:nvSpPr>
          <p:spPr>
            <a:xfrm>
              <a:off x="256995" y="3381031"/>
              <a:ext cx="467400" cy="467400"/>
            </a:xfrm>
            <a:prstGeom prst="rect">
              <a:avLst/>
            </a:prstGeom>
            <a:blipFill rotWithShape="1">
              <a:blip r:embed="rId6">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18"/>
            <p:cNvSpPr/>
            <p:nvPr/>
          </p:nvSpPr>
          <p:spPr>
            <a:xfrm>
              <a:off x="981253" y="3189877"/>
              <a:ext cx="5511600" cy="849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18"/>
            <p:cNvSpPr txBox="1"/>
            <p:nvPr/>
          </p:nvSpPr>
          <p:spPr>
            <a:xfrm>
              <a:off x="981253" y="3189877"/>
              <a:ext cx="5511600" cy="849600"/>
            </a:xfrm>
            <a:prstGeom prst="rect">
              <a:avLst/>
            </a:prstGeom>
            <a:noFill/>
            <a:ln>
              <a:noFill/>
            </a:ln>
          </p:spPr>
          <p:txBody>
            <a:bodyPr spcFirstLastPara="1" wrap="square" lIns="89900" tIns="89900" rIns="89900" bIns="89900" anchor="ctr" anchorCtr="0">
              <a:noAutofit/>
            </a:bodyPr>
            <a:lstStyle/>
            <a:p>
              <a:pPr marL="0" marR="0" lvl="0" indent="0" algn="l" rtl="0">
                <a:lnSpc>
                  <a:spcPct val="90000"/>
                </a:lnSpc>
                <a:spcBef>
                  <a:spcPts val="0"/>
                </a:spcBef>
                <a:spcAft>
                  <a:spcPts val="0"/>
                </a:spcAft>
                <a:buClr>
                  <a:schemeClr val="dk1"/>
                </a:buClr>
                <a:buSzPts val="1900"/>
                <a:buFont typeface="Corbel"/>
                <a:buNone/>
              </a:pPr>
              <a:r>
                <a:rPr lang="en-US" sz="1900">
                  <a:solidFill>
                    <a:schemeClr val="dk1"/>
                  </a:solidFill>
                  <a:latin typeface="Corbel"/>
                  <a:ea typeface="Corbel"/>
                  <a:cs typeface="Corbel"/>
                  <a:sym typeface="Corbel"/>
                </a:rPr>
                <a:t>Results</a:t>
              </a:r>
              <a:endParaRPr/>
            </a:p>
          </p:txBody>
        </p:sp>
        <p:sp>
          <p:nvSpPr>
            <p:cNvPr id="106" name="Google Shape;106;p18"/>
            <p:cNvSpPr/>
            <p:nvPr/>
          </p:nvSpPr>
          <p:spPr>
            <a:xfrm>
              <a:off x="0" y="4251840"/>
              <a:ext cx="6492900" cy="849600"/>
            </a:xfrm>
            <a:prstGeom prst="roundRect">
              <a:avLst>
                <a:gd name="adj" fmla="val 10000"/>
              </a:avLst>
            </a:prstGeom>
            <a:solidFill>
              <a:srgbClr val="F2F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18"/>
            <p:cNvSpPr/>
            <p:nvPr/>
          </p:nvSpPr>
          <p:spPr>
            <a:xfrm>
              <a:off x="256995" y="4442994"/>
              <a:ext cx="467400" cy="467400"/>
            </a:xfrm>
            <a:prstGeom prst="rect">
              <a:avLst/>
            </a:prstGeom>
            <a:blipFill rotWithShape="1">
              <a:blip r:embed="rId7">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18"/>
            <p:cNvSpPr/>
            <p:nvPr/>
          </p:nvSpPr>
          <p:spPr>
            <a:xfrm>
              <a:off x="981253" y="4251840"/>
              <a:ext cx="5511600" cy="849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18"/>
            <p:cNvSpPr txBox="1"/>
            <p:nvPr/>
          </p:nvSpPr>
          <p:spPr>
            <a:xfrm>
              <a:off x="981253" y="4251840"/>
              <a:ext cx="5511600" cy="849600"/>
            </a:xfrm>
            <a:prstGeom prst="rect">
              <a:avLst/>
            </a:prstGeom>
            <a:noFill/>
            <a:ln>
              <a:noFill/>
            </a:ln>
          </p:spPr>
          <p:txBody>
            <a:bodyPr spcFirstLastPara="1" wrap="square" lIns="89900" tIns="89900" rIns="89900" bIns="89900" anchor="ctr" anchorCtr="0">
              <a:noAutofit/>
            </a:bodyPr>
            <a:lstStyle/>
            <a:p>
              <a:pPr marL="0" marR="0" lvl="0" indent="0" algn="l" rtl="0">
                <a:lnSpc>
                  <a:spcPct val="90000"/>
                </a:lnSpc>
                <a:spcBef>
                  <a:spcPts val="0"/>
                </a:spcBef>
                <a:spcAft>
                  <a:spcPts val="0"/>
                </a:spcAft>
                <a:buClr>
                  <a:schemeClr val="dk1"/>
                </a:buClr>
                <a:buSzPts val="1900"/>
                <a:buFont typeface="Corbel"/>
                <a:buNone/>
              </a:pPr>
              <a:r>
                <a:rPr lang="en-US" sz="1900">
                  <a:solidFill>
                    <a:schemeClr val="dk1"/>
                  </a:solidFill>
                  <a:latin typeface="Corbel"/>
                  <a:ea typeface="Corbel"/>
                  <a:cs typeface="Corbel"/>
                  <a:sym typeface="Corbel"/>
                </a:rPr>
                <a:t>Conclusion</a:t>
              </a:r>
              <a:endParaRPr/>
            </a:p>
          </p:txBody>
        </p:sp>
      </p:grpSp>
      <p:sp>
        <p:nvSpPr>
          <p:cNvPr id="110" name="Google Shape;110;p18"/>
          <p:cNvSpPr txBox="1">
            <a:spLocks noGrp="1"/>
          </p:cNvSpPr>
          <p:nvPr>
            <p:ph type="title"/>
          </p:nvPr>
        </p:nvSpPr>
        <p:spPr>
          <a:xfrm>
            <a:off x="510021" y="627425"/>
            <a:ext cx="2640000" cy="51054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FFFFFF"/>
              </a:buClr>
              <a:buSzPts val="4000"/>
              <a:buFont typeface="Corbel"/>
              <a:buNone/>
            </a:pPr>
            <a:r>
              <a:rPr lang="en-US"/>
              <a:t>Overview</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19"/>
          <p:cNvSpPr txBox="1">
            <a:spLocks noGrp="1"/>
          </p:cNvSpPr>
          <p:nvPr>
            <p:ph type="body" idx="1"/>
          </p:nvPr>
        </p:nvSpPr>
        <p:spPr>
          <a:xfrm>
            <a:off x="1900802" y="2048925"/>
            <a:ext cx="9602400" cy="3742200"/>
          </a:xfrm>
          <a:prstGeom prst="rect">
            <a:avLst/>
          </a:prstGeom>
          <a:noFill/>
          <a:ln>
            <a:noFill/>
          </a:ln>
        </p:spPr>
        <p:txBody>
          <a:bodyPr spcFirstLastPara="1" wrap="square" lIns="91425" tIns="45700" rIns="91425" bIns="45700" anchor="ctr" anchorCtr="0">
            <a:normAutofit/>
          </a:bodyPr>
          <a:lstStyle/>
          <a:p>
            <a:pPr marL="285750" lvl="0" indent="-285750" algn="l" rtl="0">
              <a:lnSpc>
                <a:spcPct val="90000"/>
              </a:lnSpc>
              <a:spcBef>
                <a:spcPts val="0"/>
              </a:spcBef>
              <a:spcAft>
                <a:spcPts val="0"/>
              </a:spcAft>
              <a:buSzPts val="2465"/>
              <a:buChar char="●"/>
            </a:pPr>
            <a:r>
              <a:rPr lang="en-US" sz="1700" b="0" i="0" dirty="0">
                <a:latin typeface="Arial"/>
                <a:ea typeface="Arial"/>
                <a:cs typeface="Arial"/>
                <a:sym typeface="Arial"/>
              </a:rPr>
              <a:t>In this exploration of the Life Expectancy dataset, we aim to understand the factors that significantly impact life expectancy globally. The main goal is figuring out which health indicators can accurately predict life expectancy. </a:t>
            </a:r>
            <a:endParaRPr dirty="0"/>
          </a:p>
          <a:p>
            <a:pPr marL="285750" lvl="0" indent="-285750" algn="l" rtl="0">
              <a:lnSpc>
                <a:spcPct val="90000"/>
              </a:lnSpc>
              <a:spcBef>
                <a:spcPts val="940"/>
              </a:spcBef>
              <a:spcAft>
                <a:spcPts val="0"/>
              </a:spcAft>
              <a:buSzPts val="2465"/>
              <a:buChar char="●"/>
            </a:pPr>
            <a:r>
              <a:rPr lang="en-US" sz="1700" b="0" i="0" dirty="0">
                <a:latin typeface="Arial"/>
                <a:ea typeface="Arial"/>
                <a:cs typeface="Arial"/>
                <a:sym typeface="Arial"/>
              </a:rPr>
              <a:t>Firstly, by exploring various health and demographic indicators, we can better understand how these factors relate to life expectancy. Secondly, by building models to predict life expectancy, we can improve the accuracy of these predictions. Identifying the most important variables allows us to enhance these models, making them reliable. </a:t>
            </a:r>
            <a:endParaRPr dirty="0"/>
          </a:p>
          <a:p>
            <a:pPr marL="285750" lvl="0" indent="-285750" algn="l" rtl="0">
              <a:lnSpc>
                <a:spcPct val="90000"/>
              </a:lnSpc>
              <a:spcBef>
                <a:spcPts val="940"/>
              </a:spcBef>
              <a:spcAft>
                <a:spcPts val="0"/>
              </a:spcAft>
              <a:buSzPts val="2465"/>
              <a:buChar char="●"/>
            </a:pPr>
            <a:r>
              <a:rPr lang="en-US" sz="1700" b="0" i="0" dirty="0">
                <a:latin typeface="Arial"/>
                <a:ea typeface="Arial"/>
                <a:cs typeface="Arial"/>
                <a:sym typeface="Arial"/>
              </a:rPr>
              <a:t>Lastly, our exploration aims to reveal the diverse influences on life expectancy. Factors like economic indicators (GDP), disease prevalence (HIV/AIDS, Measles), healthcare infrastructure (immunization coverage), and social determinants (education, income distribution) all play a role. </a:t>
            </a:r>
            <a:endParaRPr sz="1700" dirty="0"/>
          </a:p>
        </p:txBody>
      </p:sp>
      <p:sp>
        <p:nvSpPr>
          <p:cNvPr id="116" name="Google Shape;116;p19"/>
          <p:cNvSpPr txBox="1">
            <a:spLocks noGrp="1"/>
          </p:cNvSpPr>
          <p:nvPr>
            <p:ph type="title"/>
          </p:nvPr>
        </p:nvSpPr>
        <p:spPr>
          <a:xfrm>
            <a:off x="3085024" y="635025"/>
            <a:ext cx="7345800" cy="14139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000"/>
              <a:buFont typeface="Corbel"/>
              <a:buNone/>
            </a:pPr>
            <a:r>
              <a:rPr lang="en-US"/>
              <a:t>Introduction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0"/>
          <p:cNvSpPr txBox="1">
            <a:spLocks noGrp="1"/>
          </p:cNvSpPr>
          <p:nvPr>
            <p:ph type="title"/>
          </p:nvPr>
        </p:nvSpPr>
        <p:spPr>
          <a:xfrm>
            <a:off x="1484310" y="190501"/>
            <a:ext cx="10018800" cy="17526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600"/>
              <a:buFont typeface="Corbel"/>
              <a:buNone/>
            </a:pPr>
            <a:r>
              <a:rPr lang="en-US" sz="3600" dirty="0"/>
              <a:t>Data Description Summary</a:t>
            </a:r>
            <a:endParaRPr dirty="0"/>
          </a:p>
          <a:p>
            <a:pPr marL="0" lvl="0" indent="0" algn="ctr" rtl="0">
              <a:spcBef>
                <a:spcPts val="0"/>
              </a:spcBef>
              <a:spcAft>
                <a:spcPts val="0"/>
              </a:spcAft>
              <a:buNone/>
            </a:pPr>
            <a:endParaRPr dirty="0"/>
          </a:p>
        </p:txBody>
      </p:sp>
      <p:sp>
        <p:nvSpPr>
          <p:cNvPr id="122" name="Google Shape;122;p20"/>
          <p:cNvSpPr txBox="1">
            <a:spLocks noGrp="1"/>
          </p:cNvSpPr>
          <p:nvPr>
            <p:ph type="body" idx="1"/>
          </p:nvPr>
        </p:nvSpPr>
        <p:spPr>
          <a:xfrm>
            <a:off x="1169678" y="2526890"/>
            <a:ext cx="10018800" cy="3215148"/>
          </a:xfrm>
          <a:prstGeom prst="rect">
            <a:avLst/>
          </a:prstGeom>
        </p:spPr>
        <p:txBody>
          <a:bodyPr spcFirstLastPara="1" wrap="square" lIns="91425" tIns="45700" rIns="91425" bIns="45700" anchor="ctr" anchorCtr="0">
            <a:normAutofit fontScale="25000" lnSpcReduction="20000"/>
          </a:bodyPr>
          <a:lstStyle/>
          <a:p>
            <a:pPr marL="285750" lvl="0" indent="-285750" algn="l" rtl="0">
              <a:lnSpc>
                <a:spcPct val="120000"/>
              </a:lnSpc>
              <a:spcBef>
                <a:spcPts val="920"/>
              </a:spcBef>
              <a:spcAft>
                <a:spcPts val="0"/>
              </a:spcAft>
              <a:buClr>
                <a:schemeClr val="dk1"/>
              </a:buClr>
              <a:buSzPct val="27493"/>
              <a:buFont typeface="Arial"/>
              <a:buNone/>
            </a:pPr>
            <a:r>
              <a:rPr lang="en-US" sz="7200" b="1" dirty="0"/>
              <a:t>Scope and Time Frame:</a:t>
            </a:r>
            <a:endParaRPr sz="7200" dirty="0"/>
          </a:p>
          <a:p>
            <a:pPr marL="285750" lvl="0" indent="-285750" algn="l" rtl="0">
              <a:lnSpc>
                <a:spcPct val="120000"/>
              </a:lnSpc>
              <a:spcBef>
                <a:spcPts val="920"/>
              </a:spcBef>
              <a:spcAft>
                <a:spcPts val="0"/>
              </a:spcAft>
              <a:buClr>
                <a:schemeClr val="dk1"/>
              </a:buClr>
              <a:buSzPct val="27493"/>
              <a:buFont typeface="Arial"/>
              <a:buNone/>
            </a:pPr>
            <a:r>
              <a:rPr lang="en-US" sz="7200" dirty="0"/>
              <a:t>This </a:t>
            </a:r>
            <a:r>
              <a:rPr lang="en-US" sz="6800" dirty="0"/>
              <a:t>dataset likely covers health and demographic information for various countries across the globe.</a:t>
            </a:r>
            <a:endParaRPr sz="6800" dirty="0"/>
          </a:p>
          <a:p>
            <a:pPr marL="285750" lvl="0" indent="-285750" algn="l" rtl="0">
              <a:lnSpc>
                <a:spcPct val="120000"/>
              </a:lnSpc>
              <a:spcBef>
                <a:spcPts val="920"/>
              </a:spcBef>
              <a:spcAft>
                <a:spcPts val="0"/>
              </a:spcAft>
              <a:buClr>
                <a:schemeClr val="dk1"/>
              </a:buClr>
              <a:buSzPct val="27493"/>
              <a:buFont typeface="Arial"/>
              <a:buNone/>
            </a:pPr>
            <a:r>
              <a:rPr lang="en-US" sz="6800" b="1" dirty="0"/>
              <a:t>Features:</a:t>
            </a:r>
            <a:endParaRPr sz="6800" dirty="0"/>
          </a:p>
          <a:p>
            <a:pPr marL="285750" lvl="0" indent="-285750" algn="l" rtl="0">
              <a:lnSpc>
                <a:spcPct val="120000"/>
              </a:lnSpc>
              <a:spcBef>
                <a:spcPts val="920"/>
              </a:spcBef>
              <a:spcAft>
                <a:spcPts val="0"/>
              </a:spcAft>
              <a:buClr>
                <a:schemeClr val="dk1"/>
              </a:buClr>
              <a:buSzPct val="27493"/>
              <a:buFont typeface="Arial"/>
              <a:buNone/>
            </a:pPr>
            <a:r>
              <a:rPr lang="en-US" sz="6800" dirty="0"/>
              <a:t>The dataset includes over  1650 rows  with a mix of categorical and numerical variables offering insights into various health and demographic aspects.</a:t>
            </a:r>
            <a:endParaRPr sz="6800" dirty="0"/>
          </a:p>
          <a:p>
            <a:pPr marL="285750" lvl="0" indent="-285750" algn="l" rtl="0">
              <a:lnSpc>
                <a:spcPct val="120000"/>
              </a:lnSpc>
              <a:spcBef>
                <a:spcPts val="920"/>
              </a:spcBef>
              <a:spcAft>
                <a:spcPts val="0"/>
              </a:spcAft>
              <a:buClr>
                <a:schemeClr val="dk1"/>
              </a:buClr>
              <a:buSzPct val="27493"/>
              <a:buFont typeface="Arial"/>
              <a:buNone/>
            </a:pPr>
            <a:r>
              <a:rPr lang="en-US" sz="6800" b="1" dirty="0"/>
              <a:t>Demographics:</a:t>
            </a:r>
            <a:r>
              <a:rPr lang="en-US" sz="6800" dirty="0"/>
              <a:t> Country, Year, Population</a:t>
            </a:r>
            <a:endParaRPr sz="6800" dirty="0"/>
          </a:p>
          <a:p>
            <a:pPr marL="285750" lvl="0" indent="-285750" algn="l" rtl="0">
              <a:lnSpc>
                <a:spcPct val="120000"/>
              </a:lnSpc>
              <a:spcBef>
                <a:spcPts val="920"/>
              </a:spcBef>
              <a:spcAft>
                <a:spcPts val="0"/>
              </a:spcAft>
              <a:buClr>
                <a:schemeClr val="dk1"/>
              </a:buClr>
              <a:buSzPct val="27493"/>
              <a:buFont typeface="Arial"/>
              <a:buNone/>
            </a:pPr>
            <a:r>
              <a:rPr lang="en-US" sz="6800" b="1" dirty="0"/>
              <a:t>Health Indicators:</a:t>
            </a:r>
            <a:r>
              <a:rPr lang="en-US" sz="6800" dirty="0"/>
              <a:t> Life expectancy, Adult Mortality, Infant Deaths, Under-five deaths, BMI (Body Mass Index), Thinness (various </a:t>
            </a:r>
            <a:r>
              <a:rPr lang="en-US" sz="7200" dirty="0"/>
              <a:t>age groups)</a:t>
            </a:r>
            <a:endParaRPr sz="7200" dirty="0"/>
          </a:p>
          <a:p>
            <a:pPr marL="285750" lvl="0" indent="-285750" algn="l" rtl="0">
              <a:lnSpc>
                <a:spcPct val="120000"/>
              </a:lnSpc>
              <a:spcBef>
                <a:spcPts val="920"/>
              </a:spcBef>
              <a:spcAft>
                <a:spcPts val="0"/>
              </a:spcAft>
              <a:buClr>
                <a:schemeClr val="dk1"/>
              </a:buClr>
              <a:buSzPct val="27493"/>
              <a:buFont typeface="Arial"/>
              <a:buNone/>
            </a:pPr>
            <a:r>
              <a:rPr lang="en-US" sz="7200" b="1" dirty="0"/>
              <a:t>Healthcare:</a:t>
            </a:r>
            <a:r>
              <a:rPr lang="en-US" sz="7200" dirty="0"/>
              <a:t> Hepatitis B, Measles, Polio, Diphtheria, HIV/AIDS (presence or vaccination rates)</a:t>
            </a:r>
            <a:endParaRPr sz="7200" dirty="0"/>
          </a:p>
          <a:p>
            <a:pPr marL="285750" lvl="0" indent="-285750" algn="l" rtl="0">
              <a:lnSpc>
                <a:spcPct val="120000"/>
              </a:lnSpc>
              <a:spcBef>
                <a:spcPts val="920"/>
              </a:spcBef>
              <a:spcAft>
                <a:spcPts val="0"/>
              </a:spcAft>
              <a:buClr>
                <a:schemeClr val="dk1"/>
              </a:buClr>
              <a:buSzPct val="27493"/>
              <a:buFont typeface="Arial"/>
              <a:buNone/>
            </a:pPr>
            <a:r>
              <a:rPr lang="en-US" sz="7200" b="1" dirty="0"/>
              <a:t>Socioeconomic factors:</a:t>
            </a:r>
            <a:r>
              <a:rPr lang="en-US" sz="7200" dirty="0"/>
              <a:t> Total expenditure, Percentage expenditure on Alcohol, Income composition of resources, GDP (Gross Domestic Product), Schooling</a:t>
            </a:r>
            <a:endParaRPr sz="7200" dirty="0"/>
          </a:p>
          <a:p>
            <a:pPr marL="285750" lvl="0" indent="-285750" algn="l" rtl="0">
              <a:lnSpc>
                <a:spcPct val="120000"/>
              </a:lnSpc>
              <a:spcBef>
                <a:spcPts val="920"/>
              </a:spcBef>
              <a:spcAft>
                <a:spcPts val="0"/>
              </a:spcAft>
              <a:buClr>
                <a:schemeClr val="dk1"/>
              </a:buClr>
              <a:buSzPct val="145000"/>
              <a:buFont typeface="Arial"/>
              <a:buNone/>
            </a:pPr>
            <a:endParaRPr sz="7200" dirty="0"/>
          </a:p>
          <a:p>
            <a:pPr marL="0" lvl="0" indent="0" algn="l" rtl="0">
              <a:lnSpc>
                <a:spcPct val="120000"/>
              </a:lnSpc>
              <a:spcBef>
                <a:spcPts val="360"/>
              </a:spcBef>
              <a:spcAft>
                <a:spcPts val="600"/>
              </a:spcAft>
              <a:buNone/>
            </a:pP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1"/>
          <p:cNvSpPr txBox="1">
            <a:spLocks noGrp="1"/>
          </p:cNvSpPr>
          <p:nvPr>
            <p:ph type="title"/>
          </p:nvPr>
        </p:nvSpPr>
        <p:spPr>
          <a:xfrm>
            <a:off x="1331911" y="-153510"/>
            <a:ext cx="9803449" cy="93583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000"/>
              <a:buFont typeface="Corbel"/>
              <a:buNone/>
            </a:pPr>
            <a:r>
              <a:rPr lang="en-US" dirty="0"/>
              <a:t> Data Description</a:t>
            </a:r>
            <a:endParaRPr dirty="0"/>
          </a:p>
        </p:txBody>
      </p:sp>
      <p:sp>
        <p:nvSpPr>
          <p:cNvPr id="128" name="Google Shape;128;p21"/>
          <p:cNvSpPr txBox="1">
            <a:spLocks noGrp="1"/>
          </p:cNvSpPr>
          <p:nvPr>
            <p:ph type="body" idx="2"/>
          </p:nvPr>
        </p:nvSpPr>
        <p:spPr>
          <a:xfrm>
            <a:off x="1056640" y="787892"/>
            <a:ext cx="5918991" cy="6664959"/>
          </a:xfrm>
          <a:prstGeom prst="rect">
            <a:avLst/>
          </a:prstGeom>
          <a:noFill/>
          <a:ln>
            <a:noFill/>
          </a:ln>
        </p:spPr>
        <p:txBody>
          <a:bodyPr spcFirstLastPara="1" wrap="square" lIns="91425" tIns="45700" rIns="91425" bIns="45700" anchor="t" anchorCtr="0">
            <a:noAutofit/>
          </a:bodyPr>
          <a:lstStyle/>
          <a:p>
            <a:pPr marL="285750" lvl="0" indent="-285750" algn="l" rtl="0">
              <a:spcBef>
                <a:spcPts val="0"/>
              </a:spcBef>
              <a:spcAft>
                <a:spcPts val="0"/>
              </a:spcAft>
              <a:buSzPct val="145000"/>
              <a:buChar char="●"/>
            </a:pPr>
            <a:r>
              <a:rPr lang="en-US" sz="1400" b="1" i="0" dirty="0">
                <a:solidFill>
                  <a:srgbClr val="3C4043"/>
                </a:solidFill>
                <a:latin typeface="+mn-lt"/>
                <a:ea typeface="Inter"/>
                <a:cs typeface="Inter"/>
                <a:sym typeface="Inter"/>
              </a:rPr>
              <a:t>Country</a:t>
            </a:r>
            <a:r>
              <a:rPr lang="en-US" sz="1400" b="0" i="0" dirty="0">
                <a:solidFill>
                  <a:srgbClr val="3C4043"/>
                </a:solidFill>
                <a:latin typeface="+mn-lt"/>
                <a:ea typeface="Inter"/>
                <a:cs typeface="Inter"/>
                <a:sym typeface="Inter"/>
              </a:rPr>
              <a:t>: The name of the country for which the data is recorded.</a:t>
            </a:r>
            <a:endParaRPr sz="1400" dirty="0">
              <a:latin typeface="+mn-lt"/>
            </a:endParaRPr>
          </a:p>
          <a:p>
            <a:pPr marL="285750" lvl="0" indent="-285750" algn="l" rtl="0">
              <a:spcBef>
                <a:spcPts val="920"/>
              </a:spcBef>
              <a:spcAft>
                <a:spcPts val="0"/>
              </a:spcAft>
              <a:buSzPct val="145000"/>
              <a:buChar char="●"/>
            </a:pPr>
            <a:r>
              <a:rPr lang="en-US" sz="1400" b="1" i="0" dirty="0">
                <a:solidFill>
                  <a:srgbClr val="3C4043"/>
                </a:solidFill>
                <a:latin typeface="+mn-lt"/>
                <a:ea typeface="Inter"/>
                <a:cs typeface="Inter"/>
                <a:sym typeface="Inter"/>
              </a:rPr>
              <a:t>Year</a:t>
            </a:r>
            <a:r>
              <a:rPr lang="en-US" sz="1400" b="0" i="0" dirty="0">
                <a:solidFill>
                  <a:srgbClr val="3C4043"/>
                </a:solidFill>
                <a:latin typeface="+mn-lt"/>
                <a:ea typeface="Inter"/>
                <a:cs typeface="Inter"/>
                <a:sym typeface="Inter"/>
              </a:rPr>
              <a:t>: The year in which the data was collected, representing the temporal aspect of the dataset.</a:t>
            </a:r>
            <a:endParaRPr sz="1400" dirty="0">
              <a:latin typeface="+mn-lt"/>
            </a:endParaRPr>
          </a:p>
          <a:p>
            <a:pPr marL="285750" lvl="0" indent="-285750" algn="l" rtl="0">
              <a:spcBef>
                <a:spcPts val="920"/>
              </a:spcBef>
              <a:spcAft>
                <a:spcPts val="0"/>
              </a:spcAft>
              <a:buSzPct val="145000"/>
              <a:buChar char="●"/>
            </a:pPr>
            <a:r>
              <a:rPr lang="en-US" sz="1400" b="1" i="0" dirty="0">
                <a:solidFill>
                  <a:srgbClr val="3C4043"/>
                </a:solidFill>
                <a:latin typeface="+mn-lt"/>
                <a:ea typeface="Inter"/>
                <a:cs typeface="Inter"/>
                <a:sym typeface="Inter"/>
              </a:rPr>
              <a:t>Status</a:t>
            </a:r>
            <a:r>
              <a:rPr lang="en-US" sz="1400" b="0" i="0" dirty="0">
                <a:solidFill>
                  <a:srgbClr val="3C4043"/>
                </a:solidFill>
                <a:latin typeface="+mn-lt"/>
                <a:ea typeface="Inter"/>
                <a:cs typeface="Inter"/>
                <a:sym typeface="Inter"/>
              </a:rPr>
              <a:t>: The development status of the country, often categorized as "Developed" or "Developing." This indicates the overall economic and social development of the country.</a:t>
            </a:r>
            <a:endParaRPr sz="1400" dirty="0">
              <a:latin typeface="+mn-lt"/>
            </a:endParaRPr>
          </a:p>
          <a:p>
            <a:pPr marL="285750" lvl="0" indent="-285750" algn="l" rtl="0">
              <a:spcBef>
                <a:spcPts val="920"/>
              </a:spcBef>
              <a:spcAft>
                <a:spcPts val="0"/>
              </a:spcAft>
              <a:buSzPct val="145000"/>
              <a:buChar char="●"/>
            </a:pPr>
            <a:r>
              <a:rPr lang="en-US" sz="1400" b="1" i="0" dirty="0">
                <a:solidFill>
                  <a:srgbClr val="3C4043"/>
                </a:solidFill>
                <a:latin typeface="+mn-lt"/>
                <a:ea typeface="Inter"/>
                <a:cs typeface="Inter"/>
                <a:sym typeface="Inter"/>
              </a:rPr>
              <a:t>Life Expectancy</a:t>
            </a:r>
            <a:r>
              <a:rPr lang="en-US" sz="1400" b="0" i="0" dirty="0">
                <a:solidFill>
                  <a:srgbClr val="3C4043"/>
                </a:solidFill>
                <a:latin typeface="+mn-lt"/>
                <a:ea typeface="Inter"/>
                <a:cs typeface="Inter"/>
                <a:sym typeface="Inter"/>
              </a:rPr>
              <a:t>: The average number of years a person born in that year can expect to live, serving as an important health indicator.</a:t>
            </a:r>
            <a:endParaRPr sz="1400" dirty="0">
              <a:latin typeface="+mn-lt"/>
            </a:endParaRPr>
          </a:p>
          <a:p>
            <a:pPr marL="285750" lvl="0" indent="-285750" algn="l" rtl="0">
              <a:spcBef>
                <a:spcPts val="920"/>
              </a:spcBef>
              <a:spcAft>
                <a:spcPts val="0"/>
              </a:spcAft>
              <a:buSzPct val="145000"/>
              <a:buChar char="●"/>
            </a:pPr>
            <a:r>
              <a:rPr lang="en-US" sz="1400" b="1" i="0" dirty="0">
                <a:solidFill>
                  <a:srgbClr val="3C4043"/>
                </a:solidFill>
                <a:latin typeface="+mn-lt"/>
                <a:ea typeface="Inter"/>
                <a:cs typeface="Inter"/>
                <a:sym typeface="Inter"/>
              </a:rPr>
              <a:t>Adult Mortality</a:t>
            </a:r>
            <a:r>
              <a:rPr lang="en-US" sz="1400" b="0" i="0" dirty="0">
                <a:solidFill>
                  <a:srgbClr val="3C4043"/>
                </a:solidFill>
                <a:latin typeface="+mn-lt"/>
                <a:ea typeface="Inter"/>
                <a:cs typeface="Inter"/>
                <a:sym typeface="Inter"/>
              </a:rPr>
              <a:t>: The probability of dying between the ages of 15 and 60 per 1,000 population.</a:t>
            </a:r>
            <a:endParaRPr sz="1400" dirty="0">
              <a:latin typeface="+mn-lt"/>
            </a:endParaRPr>
          </a:p>
          <a:p>
            <a:pPr marL="285750" lvl="0" indent="-285750" algn="l" rtl="0">
              <a:spcBef>
                <a:spcPts val="920"/>
              </a:spcBef>
              <a:spcAft>
                <a:spcPts val="0"/>
              </a:spcAft>
              <a:buSzPct val="145000"/>
              <a:buChar char="●"/>
            </a:pPr>
            <a:r>
              <a:rPr lang="en-US" sz="1400" b="1" i="0" dirty="0">
                <a:solidFill>
                  <a:srgbClr val="3C4043"/>
                </a:solidFill>
                <a:latin typeface="+mn-lt"/>
                <a:ea typeface="Inter"/>
                <a:cs typeface="Inter"/>
                <a:sym typeface="Inter"/>
              </a:rPr>
              <a:t>Infant Deaths</a:t>
            </a:r>
            <a:r>
              <a:rPr lang="en-US" sz="1400" b="0" i="0" dirty="0">
                <a:solidFill>
                  <a:srgbClr val="3C4043"/>
                </a:solidFill>
                <a:latin typeface="+mn-lt"/>
                <a:ea typeface="Inter"/>
                <a:cs typeface="Inter"/>
                <a:sym typeface="Inter"/>
              </a:rPr>
              <a:t>: The number of infant deaths per 1,000 live births.</a:t>
            </a:r>
            <a:endParaRPr sz="1400" dirty="0">
              <a:latin typeface="+mn-lt"/>
            </a:endParaRPr>
          </a:p>
          <a:p>
            <a:pPr marL="285750" lvl="0" indent="-285750" algn="l" rtl="0">
              <a:spcBef>
                <a:spcPts val="920"/>
              </a:spcBef>
              <a:spcAft>
                <a:spcPts val="0"/>
              </a:spcAft>
              <a:buSzPct val="145000"/>
              <a:buChar char="●"/>
            </a:pPr>
            <a:r>
              <a:rPr lang="en-US" sz="1400" b="1" i="0" dirty="0">
                <a:solidFill>
                  <a:srgbClr val="3C4043"/>
                </a:solidFill>
                <a:latin typeface="+mn-lt"/>
                <a:ea typeface="Inter"/>
                <a:cs typeface="Inter"/>
                <a:sym typeface="Inter"/>
              </a:rPr>
              <a:t>Alcohol</a:t>
            </a:r>
            <a:r>
              <a:rPr lang="en-US" sz="1400" b="0" i="0" dirty="0">
                <a:solidFill>
                  <a:srgbClr val="3C4043"/>
                </a:solidFill>
                <a:latin typeface="+mn-lt"/>
                <a:ea typeface="Inter"/>
                <a:cs typeface="Inter"/>
                <a:sym typeface="Inter"/>
              </a:rPr>
              <a:t>: The average alcohol consumption in liters per capita.</a:t>
            </a:r>
            <a:endParaRPr sz="1400" dirty="0">
              <a:latin typeface="+mn-lt"/>
            </a:endParaRPr>
          </a:p>
          <a:p>
            <a:pPr marL="285750" lvl="0" indent="-285750" algn="l" rtl="0">
              <a:spcBef>
                <a:spcPts val="920"/>
              </a:spcBef>
              <a:spcAft>
                <a:spcPts val="0"/>
              </a:spcAft>
              <a:buSzPct val="145000"/>
              <a:buChar char="●"/>
            </a:pPr>
            <a:r>
              <a:rPr lang="en-US" sz="1400" b="1" i="0" dirty="0">
                <a:solidFill>
                  <a:srgbClr val="3C4043"/>
                </a:solidFill>
                <a:latin typeface="+mn-lt"/>
                <a:ea typeface="Inter"/>
                <a:cs typeface="Inter"/>
                <a:sym typeface="Inter"/>
              </a:rPr>
              <a:t>Percentage Expenditure</a:t>
            </a:r>
            <a:r>
              <a:rPr lang="en-US" sz="1400" b="0" i="0" dirty="0">
                <a:solidFill>
                  <a:srgbClr val="3C4043"/>
                </a:solidFill>
                <a:latin typeface="+mn-lt"/>
                <a:ea typeface="Inter"/>
                <a:cs typeface="Inter"/>
                <a:sym typeface="Inter"/>
              </a:rPr>
              <a:t>: Health expenditure as a percentage of the country's GDP.</a:t>
            </a:r>
            <a:endParaRPr sz="1400" dirty="0">
              <a:latin typeface="+mn-lt"/>
            </a:endParaRPr>
          </a:p>
          <a:p>
            <a:pPr marL="285750" lvl="0" indent="-285750" algn="l" rtl="0">
              <a:spcBef>
                <a:spcPts val="920"/>
              </a:spcBef>
              <a:spcAft>
                <a:spcPts val="0"/>
              </a:spcAft>
              <a:buSzPct val="145000"/>
              <a:buChar char="●"/>
            </a:pPr>
            <a:r>
              <a:rPr lang="en-US" sz="1400" b="1" i="0" dirty="0">
                <a:solidFill>
                  <a:srgbClr val="3C4043"/>
                </a:solidFill>
                <a:latin typeface="+mn-lt"/>
                <a:ea typeface="Inter"/>
                <a:cs typeface="Inter"/>
                <a:sym typeface="Inter"/>
              </a:rPr>
              <a:t>Hepatitis B</a:t>
            </a:r>
            <a:r>
              <a:rPr lang="en-US" sz="1400" b="0" i="0" dirty="0">
                <a:solidFill>
                  <a:srgbClr val="3C4043"/>
                </a:solidFill>
                <a:latin typeface="+mn-lt"/>
                <a:ea typeface="Inter"/>
                <a:cs typeface="Inter"/>
                <a:sym typeface="Inter"/>
              </a:rPr>
              <a:t>: Immunization coverage for Hepatitis B in the country.</a:t>
            </a:r>
            <a:endParaRPr sz="1400" dirty="0">
              <a:latin typeface="+mn-lt"/>
            </a:endParaRPr>
          </a:p>
          <a:p>
            <a:pPr marL="285750" lvl="0" indent="-285750" algn="l" rtl="0">
              <a:spcBef>
                <a:spcPts val="920"/>
              </a:spcBef>
              <a:spcAft>
                <a:spcPts val="0"/>
              </a:spcAft>
              <a:buSzPct val="145000"/>
              <a:buChar char="●"/>
            </a:pPr>
            <a:r>
              <a:rPr lang="en-US" sz="1400" b="1" i="0" dirty="0">
                <a:solidFill>
                  <a:srgbClr val="3C4043"/>
                </a:solidFill>
                <a:latin typeface="+mn-lt"/>
                <a:ea typeface="Inter"/>
                <a:cs typeface="Inter"/>
                <a:sym typeface="Inter"/>
              </a:rPr>
              <a:t>Measles</a:t>
            </a:r>
            <a:r>
              <a:rPr lang="en-US" sz="1400" b="0" i="0" dirty="0">
                <a:solidFill>
                  <a:srgbClr val="3C4043"/>
                </a:solidFill>
                <a:latin typeface="+mn-lt"/>
                <a:ea typeface="Inter"/>
                <a:cs typeface="Inter"/>
                <a:sym typeface="Inter"/>
              </a:rPr>
              <a:t>: The number of reported cases of measles per 1,000 population.</a:t>
            </a:r>
            <a:endParaRPr sz="1400" dirty="0">
              <a:latin typeface="+mn-lt"/>
            </a:endParaRPr>
          </a:p>
          <a:p>
            <a:pPr marL="285750" lvl="0" indent="-285750" algn="l" rtl="0">
              <a:spcBef>
                <a:spcPts val="920"/>
              </a:spcBef>
              <a:spcAft>
                <a:spcPts val="0"/>
              </a:spcAft>
              <a:buSzPct val="145000"/>
              <a:buChar char="●"/>
            </a:pPr>
            <a:r>
              <a:rPr lang="en-US" sz="1400" b="1" i="0" dirty="0">
                <a:solidFill>
                  <a:srgbClr val="3C4043"/>
                </a:solidFill>
                <a:latin typeface="+mn-lt"/>
                <a:ea typeface="Inter"/>
                <a:cs typeface="Inter"/>
                <a:sym typeface="Inter"/>
              </a:rPr>
              <a:t>BMI:</a:t>
            </a:r>
            <a:r>
              <a:rPr lang="en-US" sz="1400" b="0" i="0" dirty="0">
                <a:solidFill>
                  <a:srgbClr val="3C4043"/>
                </a:solidFill>
                <a:latin typeface="+mn-lt"/>
                <a:ea typeface="Inter"/>
                <a:cs typeface="Inter"/>
                <a:sym typeface="Inter"/>
              </a:rPr>
              <a:t> The average Body Mass Index (BMI) of the population.</a:t>
            </a:r>
            <a:endParaRPr sz="1400" dirty="0">
              <a:latin typeface="+mn-lt"/>
            </a:endParaRPr>
          </a:p>
          <a:p>
            <a:pPr marL="285750" indent="-285750">
              <a:spcBef>
                <a:spcPts val="920"/>
              </a:spcBef>
              <a:buSzPct val="145000"/>
            </a:pPr>
            <a:r>
              <a:rPr lang="en-US" sz="1400" b="1" dirty="0">
                <a:solidFill>
                  <a:srgbClr val="3C4043"/>
                </a:solidFill>
                <a:ea typeface="Inter"/>
                <a:cs typeface="Inter"/>
                <a:sym typeface="Inter"/>
              </a:rPr>
              <a:t>Polio</a:t>
            </a:r>
            <a:r>
              <a:rPr lang="en-US" sz="1400" dirty="0">
                <a:solidFill>
                  <a:srgbClr val="3C4043"/>
                </a:solidFill>
                <a:ea typeface="Inter"/>
                <a:cs typeface="Inter"/>
                <a:sym typeface="Inter"/>
              </a:rPr>
              <a:t>: Immunization coverage for Polio in the country.</a:t>
            </a:r>
            <a:endParaRPr sz="1600" b="0" i="0" dirty="0">
              <a:solidFill>
                <a:srgbClr val="3C4043"/>
              </a:solidFill>
              <a:latin typeface="+mn-lt"/>
              <a:ea typeface="Inter"/>
              <a:cs typeface="Inter"/>
              <a:sym typeface="Inter"/>
            </a:endParaRPr>
          </a:p>
          <a:p>
            <a:pPr marL="285750" lvl="0" indent="-138430" algn="l" rtl="0">
              <a:spcBef>
                <a:spcPts val="920"/>
              </a:spcBef>
              <a:spcAft>
                <a:spcPts val="0"/>
              </a:spcAft>
              <a:buSzPct val="145000"/>
              <a:buNone/>
            </a:pPr>
            <a:endParaRPr sz="1600" b="0" i="0" dirty="0">
              <a:solidFill>
                <a:srgbClr val="3C4043"/>
              </a:solidFill>
              <a:latin typeface="+mn-lt"/>
              <a:ea typeface="Inter"/>
              <a:cs typeface="Inter"/>
              <a:sym typeface="Inter"/>
            </a:endParaRPr>
          </a:p>
          <a:p>
            <a:pPr marL="285750" lvl="0" indent="-159146" algn="l" rtl="0">
              <a:spcBef>
                <a:spcPts val="875"/>
              </a:spcBef>
              <a:spcAft>
                <a:spcPts val="0"/>
              </a:spcAft>
              <a:buSzPct val="145000"/>
              <a:buNone/>
            </a:pPr>
            <a:endParaRPr sz="1600" b="0" i="0" dirty="0">
              <a:solidFill>
                <a:srgbClr val="3C4043"/>
              </a:solidFill>
              <a:latin typeface="+mn-lt"/>
              <a:ea typeface="Inter"/>
              <a:cs typeface="Inter"/>
              <a:sym typeface="Inter"/>
            </a:endParaRPr>
          </a:p>
          <a:p>
            <a:pPr marL="285750" lvl="0" indent="-242014" algn="l" rtl="0">
              <a:spcBef>
                <a:spcPts val="695"/>
              </a:spcBef>
              <a:spcAft>
                <a:spcPts val="0"/>
              </a:spcAft>
              <a:buSzPct val="145000"/>
              <a:buNone/>
            </a:pPr>
            <a:endParaRPr sz="1600" b="0" i="0" dirty="0">
              <a:solidFill>
                <a:srgbClr val="3C4043"/>
              </a:solidFill>
              <a:latin typeface="+mn-lt"/>
              <a:ea typeface="Inter"/>
              <a:cs typeface="Inter"/>
              <a:sym typeface="Inter"/>
            </a:endParaRPr>
          </a:p>
        </p:txBody>
      </p:sp>
      <p:sp>
        <p:nvSpPr>
          <p:cNvPr id="129" name="Google Shape;129;p21"/>
          <p:cNvSpPr txBox="1">
            <a:spLocks noGrp="1"/>
          </p:cNvSpPr>
          <p:nvPr>
            <p:ph type="body" idx="4"/>
          </p:nvPr>
        </p:nvSpPr>
        <p:spPr>
          <a:xfrm>
            <a:off x="7126127" y="674166"/>
            <a:ext cx="4882993" cy="3951686"/>
          </a:xfrm>
          <a:prstGeom prst="rect">
            <a:avLst/>
          </a:prstGeom>
          <a:noFill/>
          <a:ln>
            <a:noFill/>
          </a:ln>
        </p:spPr>
        <p:txBody>
          <a:bodyPr spcFirstLastPara="1" wrap="square" lIns="91425" tIns="45700" rIns="91425" bIns="45700" anchor="t" anchorCtr="0">
            <a:noAutofit/>
          </a:bodyPr>
          <a:lstStyle/>
          <a:p>
            <a:pPr marL="285750" indent="-285750">
              <a:spcBef>
                <a:spcPts val="920"/>
              </a:spcBef>
              <a:buSzPts val="2320"/>
            </a:pPr>
            <a:r>
              <a:rPr lang="en-US" sz="1400" b="1" dirty="0">
                <a:solidFill>
                  <a:srgbClr val="3C4043"/>
                </a:solidFill>
                <a:ea typeface="Inter"/>
                <a:cs typeface="Inter"/>
                <a:sym typeface="Inter"/>
              </a:rPr>
              <a:t>Under-Five Deaths</a:t>
            </a:r>
            <a:r>
              <a:rPr lang="en-US" sz="1400" dirty="0">
                <a:solidFill>
                  <a:srgbClr val="3C4043"/>
                </a:solidFill>
                <a:ea typeface="Inter"/>
                <a:cs typeface="Inter"/>
                <a:sym typeface="Inter"/>
              </a:rPr>
              <a:t>: The number of deaths of children under the age of five per 1,000 live births.</a:t>
            </a:r>
            <a:endParaRPr lang="en-US" sz="1400" dirty="0"/>
          </a:p>
          <a:p>
            <a:pPr marL="285750" lvl="0" indent="-285750" algn="l" rtl="0">
              <a:spcBef>
                <a:spcPts val="920"/>
              </a:spcBef>
              <a:spcAft>
                <a:spcPts val="0"/>
              </a:spcAft>
              <a:buSzPts val="2320"/>
              <a:buChar char="●"/>
            </a:pPr>
            <a:r>
              <a:rPr lang="en-US" sz="1400" b="1" i="0" dirty="0">
                <a:solidFill>
                  <a:srgbClr val="3C4043"/>
                </a:solidFill>
                <a:latin typeface="+mn-lt"/>
                <a:ea typeface="Inter"/>
                <a:cs typeface="Inter"/>
                <a:sym typeface="Inter"/>
              </a:rPr>
              <a:t>Total Expenditure</a:t>
            </a:r>
            <a:r>
              <a:rPr lang="en-US" sz="1400" b="0" i="0" dirty="0">
                <a:solidFill>
                  <a:srgbClr val="3C4043"/>
                </a:solidFill>
                <a:latin typeface="+mn-lt"/>
                <a:ea typeface="Inter"/>
                <a:cs typeface="Inter"/>
                <a:sym typeface="Inter"/>
              </a:rPr>
              <a:t>: The total health expenditure as a percentage of the country's GDP.</a:t>
            </a:r>
            <a:endParaRPr sz="1400" dirty="0">
              <a:latin typeface="+mn-lt"/>
            </a:endParaRPr>
          </a:p>
          <a:p>
            <a:pPr marL="285750" lvl="0" indent="-285750" algn="l" rtl="0">
              <a:spcBef>
                <a:spcPts val="920"/>
              </a:spcBef>
              <a:spcAft>
                <a:spcPts val="0"/>
              </a:spcAft>
              <a:buSzPts val="2320"/>
              <a:buChar char="●"/>
            </a:pPr>
            <a:r>
              <a:rPr lang="en-US" sz="1400" b="1" i="0" dirty="0">
                <a:solidFill>
                  <a:srgbClr val="3C4043"/>
                </a:solidFill>
                <a:latin typeface="+mn-lt"/>
                <a:ea typeface="Inter"/>
                <a:cs typeface="Inter"/>
                <a:sym typeface="Inter"/>
              </a:rPr>
              <a:t>Diphtheria</a:t>
            </a:r>
            <a:r>
              <a:rPr lang="en-US" sz="1400" b="0" i="0" dirty="0">
                <a:solidFill>
                  <a:srgbClr val="3C4043"/>
                </a:solidFill>
                <a:latin typeface="+mn-lt"/>
                <a:ea typeface="Inter"/>
                <a:cs typeface="Inter"/>
                <a:sym typeface="Inter"/>
              </a:rPr>
              <a:t>: Immunization coverage for Diphtheria in the country.</a:t>
            </a:r>
            <a:endParaRPr sz="1400" dirty="0">
              <a:latin typeface="+mn-lt"/>
            </a:endParaRPr>
          </a:p>
          <a:p>
            <a:pPr marL="285750" lvl="0" indent="-285750" algn="l" rtl="0">
              <a:spcBef>
                <a:spcPts val="920"/>
              </a:spcBef>
              <a:spcAft>
                <a:spcPts val="0"/>
              </a:spcAft>
              <a:buSzPts val="2320"/>
              <a:buChar char="●"/>
            </a:pPr>
            <a:r>
              <a:rPr lang="en-US" sz="1400" b="1" i="0" dirty="0">
                <a:solidFill>
                  <a:srgbClr val="3C4043"/>
                </a:solidFill>
                <a:latin typeface="+mn-lt"/>
                <a:ea typeface="Inter"/>
                <a:cs typeface="Inter"/>
                <a:sym typeface="Inter"/>
              </a:rPr>
              <a:t>HIV/AIDS</a:t>
            </a:r>
            <a:r>
              <a:rPr lang="en-US" sz="1400" b="0" i="0" dirty="0">
                <a:solidFill>
                  <a:srgbClr val="3C4043"/>
                </a:solidFill>
                <a:latin typeface="+mn-lt"/>
                <a:ea typeface="Inter"/>
                <a:cs typeface="Inter"/>
                <a:sym typeface="Inter"/>
              </a:rPr>
              <a:t>: The prevalence of HIV/AIDS as a percentage of the population.</a:t>
            </a:r>
            <a:endParaRPr sz="1400" dirty="0">
              <a:latin typeface="+mn-lt"/>
            </a:endParaRPr>
          </a:p>
          <a:p>
            <a:pPr marL="285750" lvl="0" indent="-285750" algn="l" rtl="0">
              <a:spcBef>
                <a:spcPts val="920"/>
              </a:spcBef>
              <a:spcAft>
                <a:spcPts val="0"/>
              </a:spcAft>
              <a:buSzPts val="2320"/>
              <a:buChar char="●"/>
            </a:pPr>
            <a:r>
              <a:rPr lang="en-US" sz="1400" b="1" i="0" dirty="0">
                <a:solidFill>
                  <a:srgbClr val="3C4043"/>
                </a:solidFill>
                <a:latin typeface="+mn-lt"/>
                <a:ea typeface="Inter"/>
                <a:cs typeface="Inter"/>
                <a:sym typeface="Inter"/>
              </a:rPr>
              <a:t>GDP</a:t>
            </a:r>
            <a:r>
              <a:rPr lang="en-US" sz="1400" b="0" i="0" dirty="0">
                <a:solidFill>
                  <a:srgbClr val="3C4043"/>
                </a:solidFill>
                <a:latin typeface="+mn-lt"/>
                <a:ea typeface="Inter"/>
                <a:cs typeface="Inter"/>
                <a:sym typeface="Inter"/>
              </a:rPr>
              <a:t>: Gross Domestic Product, representing the economic output of the country.</a:t>
            </a:r>
            <a:endParaRPr sz="1400" dirty="0">
              <a:latin typeface="+mn-lt"/>
            </a:endParaRPr>
          </a:p>
          <a:p>
            <a:pPr marL="285750" lvl="0" indent="-285750" algn="l" rtl="0">
              <a:spcBef>
                <a:spcPts val="920"/>
              </a:spcBef>
              <a:spcAft>
                <a:spcPts val="0"/>
              </a:spcAft>
              <a:buSzPts val="2320"/>
              <a:buChar char="●"/>
            </a:pPr>
            <a:r>
              <a:rPr lang="en-US" sz="1400" b="1" i="0" dirty="0">
                <a:solidFill>
                  <a:srgbClr val="3C4043"/>
                </a:solidFill>
                <a:latin typeface="+mn-lt"/>
                <a:ea typeface="Inter"/>
                <a:cs typeface="Inter"/>
                <a:sym typeface="Inter"/>
              </a:rPr>
              <a:t>Population:</a:t>
            </a:r>
            <a:r>
              <a:rPr lang="en-US" sz="1400" b="0" i="0" dirty="0">
                <a:solidFill>
                  <a:srgbClr val="3C4043"/>
                </a:solidFill>
                <a:latin typeface="+mn-lt"/>
                <a:ea typeface="Inter"/>
                <a:cs typeface="Inter"/>
                <a:sym typeface="Inter"/>
              </a:rPr>
              <a:t> The total population of the country.</a:t>
            </a:r>
            <a:endParaRPr sz="1400" dirty="0">
              <a:latin typeface="+mn-lt"/>
            </a:endParaRPr>
          </a:p>
          <a:p>
            <a:pPr marL="285750" lvl="0" indent="-285750" algn="l" rtl="0">
              <a:spcBef>
                <a:spcPts val="920"/>
              </a:spcBef>
              <a:spcAft>
                <a:spcPts val="0"/>
              </a:spcAft>
              <a:buSzPts val="2320"/>
              <a:buChar char="●"/>
            </a:pPr>
            <a:r>
              <a:rPr lang="en-US" sz="1400" b="1" i="0" dirty="0">
                <a:solidFill>
                  <a:srgbClr val="3C4043"/>
                </a:solidFill>
                <a:latin typeface="+mn-lt"/>
                <a:ea typeface="Inter"/>
                <a:cs typeface="Inter"/>
                <a:sym typeface="Inter"/>
              </a:rPr>
              <a:t>Thinness 1-19 Years</a:t>
            </a:r>
            <a:r>
              <a:rPr lang="en-US" sz="1400" b="0" i="0" dirty="0">
                <a:solidFill>
                  <a:srgbClr val="3C4043"/>
                </a:solidFill>
                <a:latin typeface="+mn-lt"/>
                <a:ea typeface="Inter"/>
                <a:cs typeface="Inter"/>
                <a:sym typeface="Inter"/>
              </a:rPr>
              <a:t>: Prevalence of thinness among children and adolescents aged 1-19.</a:t>
            </a:r>
            <a:endParaRPr sz="1400" dirty="0">
              <a:latin typeface="+mn-lt"/>
            </a:endParaRPr>
          </a:p>
          <a:p>
            <a:pPr marL="285750" lvl="0" indent="-285750" algn="l" rtl="0">
              <a:spcBef>
                <a:spcPts val="920"/>
              </a:spcBef>
              <a:spcAft>
                <a:spcPts val="0"/>
              </a:spcAft>
              <a:buSzPts val="2320"/>
              <a:buChar char="●"/>
            </a:pPr>
            <a:r>
              <a:rPr lang="en-US" sz="1400" b="1" i="0" dirty="0">
                <a:solidFill>
                  <a:srgbClr val="3C4043"/>
                </a:solidFill>
                <a:latin typeface="+mn-lt"/>
                <a:ea typeface="Inter"/>
                <a:cs typeface="Inter"/>
                <a:sym typeface="Inter"/>
              </a:rPr>
              <a:t>Thinness 5-9 Years: </a:t>
            </a:r>
            <a:r>
              <a:rPr lang="en-US" sz="1400" b="0" i="0" dirty="0">
                <a:solidFill>
                  <a:srgbClr val="3C4043"/>
                </a:solidFill>
                <a:latin typeface="+mn-lt"/>
                <a:ea typeface="Inter"/>
                <a:cs typeface="Inter"/>
                <a:sym typeface="Inter"/>
              </a:rPr>
              <a:t>Prevalence of thinness among children aged 5-9.</a:t>
            </a:r>
            <a:endParaRPr sz="1400" dirty="0">
              <a:latin typeface="+mn-lt"/>
            </a:endParaRPr>
          </a:p>
          <a:p>
            <a:pPr marL="285750" lvl="0" indent="-285750" algn="l" rtl="0">
              <a:spcBef>
                <a:spcPts val="920"/>
              </a:spcBef>
              <a:spcAft>
                <a:spcPts val="0"/>
              </a:spcAft>
              <a:buSzPts val="2320"/>
              <a:buChar char="●"/>
            </a:pPr>
            <a:r>
              <a:rPr lang="en-US" sz="1400" b="1" i="0" dirty="0">
                <a:solidFill>
                  <a:srgbClr val="3C4043"/>
                </a:solidFill>
                <a:latin typeface="+mn-lt"/>
                <a:ea typeface="Inter"/>
                <a:cs typeface="Inter"/>
                <a:sym typeface="Inter"/>
              </a:rPr>
              <a:t>Income Composition of Resources</a:t>
            </a:r>
            <a:r>
              <a:rPr lang="en-US" sz="1400" b="0" i="0" dirty="0">
                <a:solidFill>
                  <a:srgbClr val="3C4043"/>
                </a:solidFill>
                <a:latin typeface="+mn-lt"/>
                <a:ea typeface="Inter"/>
                <a:cs typeface="Inter"/>
                <a:sym typeface="Inter"/>
              </a:rPr>
              <a:t>: A composite index reflecting the income distribution and access to resources in the country.</a:t>
            </a:r>
            <a:endParaRPr sz="1400" dirty="0">
              <a:latin typeface="+mn-lt"/>
            </a:endParaRPr>
          </a:p>
          <a:p>
            <a:pPr marL="285750" lvl="0" indent="-285750" algn="l" rtl="0">
              <a:spcBef>
                <a:spcPts val="920"/>
              </a:spcBef>
              <a:spcAft>
                <a:spcPts val="0"/>
              </a:spcAft>
              <a:buSzPts val="2320"/>
              <a:buChar char="●"/>
            </a:pPr>
            <a:r>
              <a:rPr lang="en-US" sz="1400" b="1" i="0" dirty="0">
                <a:solidFill>
                  <a:srgbClr val="3C4043"/>
                </a:solidFill>
                <a:latin typeface="+mn-lt"/>
                <a:ea typeface="Inter"/>
                <a:cs typeface="Inter"/>
                <a:sym typeface="Inter"/>
              </a:rPr>
              <a:t>Schooling</a:t>
            </a:r>
            <a:r>
              <a:rPr lang="en-US" sz="1400" b="0" i="0" dirty="0">
                <a:solidFill>
                  <a:srgbClr val="3C4043"/>
                </a:solidFill>
                <a:latin typeface="+mn-lt"/>
                <a:ea typeface="Inter"/>
                <a:cs typeface="Inter"/>
                <a:sym typeface="Inter"/>
              </a:rPr>
              <a:t>: The average number of years of schooling received by the population.</a:t>
            </a:r>
            <a:endParaRPr sz="1400" dirty="0">
              <a:latin typeface="+mn-l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2"/>
          <p:cNvSpPr txBox="1">
            <a:spLocks noGrp="1"/>
          </p:cNvSpPr>
          <p:nvPr>
            <p:ph type="title"/>
          </p:nvPr>
        </p:nvSpPr>
        <p:spPr>
          <a:xfrm>
            <a:off x="1298336" y="42600"/>
            <a:ext cx="10018800" cy="17526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000"/>
              <a:buFont typeface="Corbel"/>
              <a:buNone/>
            </a:pPr>
            <a:r>
              <a:rPr lang="en-US"/>
              <a:t>Data Pre-Processing</a:t>
            </a:r>
            <a:endParaRPr/>
          </a:p>
          <a:p>
            <a:pPr marL="0" lvl="0" indent="0" algn="ctr" rtl="0">
              <a:spcBef>
                <a:spcPts val="0"/>
              </a:spcBef>
              <a:spcAft>
                <a:spcPts val="0"/>
              </a:spcAft>
              <a:buNone/>
            </a:pPr>
            <a:endParaRPr/>
          </a:p>
        </p:txBody>
      </p:sp>
      <p:sp>
        <p:nvSpPr>
          <p:cNvPr id="135" name="Google Shape;135;p22"/>
          <p:cNvSpPr txBox="1">
            <a:spLocks noGrp="1"/>
          </p:cNvSpPr>
          <p:nvPr>
            <p:ph type="body" idx="2"/>
          </p:nvPr>
        </p:nvSpPr>
        <p:spPr>
          <a:xfrm>
            <a:off x="1487400" y="1795200"/>
            <a:ext cx="9217200" cy="5062800"/>
          </a:xfrm>
          <a:prstGeom prst="rect">
            <a:avLst/>
          </a:prstGeom>
        </p:spPr>
        <p:txBody>
          <a:bodyPr spcFirstLastPara="1" wrap="square" lIns="91425" tIns="45700" rIns="91425" bIns="45700" anchor="t" anchorCtr="0">
            <a:noAutofit/>
          </a:bodyPr>
          <a:lstStyle/>
          <a:p>
            <a:pPr marL="285750" lvl="0" indent="-274669" algn="l" rtl="0">
              <a:spcBef>
                <a:spcPts val="0"/>
              </a:spcBef>
              <a:spcAft>
                <a:spcPts val="0"/>
              </a:spcAft>
              <a:buSzPts val="2436"/>
              <a:buChar char="●"/>
            </a:pPr>
            <a:r>
              <a:rPr lang="en-US" b="1" dirty="0"/>
              <a:t>Removed Unnecessary Columns: </a:t>
            </a:r>
            <a:r>
              <a:rPr lang="en-US" dirty="0"/>
              <a:t> Columns such as “Country” and “Year” were removed from the dataset as they do not contribute the analysis</a:t>
            </a:r>
            <a:endParaRPr dirty="0"/>
          </a:p>
          <a:p>
            <a:pPr marL="285750" lvl="0" indent="-274669" algn="l" rtl="0">
              <a:spcBef>
                <a:spcPts val="960"/>
              </a:spcBef>
              <a:spcAft>
                <a:spcPts val="0"/>
              </a:spcAft>
              <a:buSzPts val="2436"/>
              <a:buChar char="●"/>
            </a:pPr>
            <a:r>
              <a:rPr lang="en-US" b="1" dirty="0"/>
              <a:t>Checking for Missing Values: </a:t>
            </a:r>
            <a:r>
              <a:rPr lang="en-US" dirty="0"/>
              <a:t>A check was performed to identify any missing values in the dataset. Upon verification, no missing values were found.</a:t>
            </a:r>
            <a:endParaRPr dirty="0"/>
          </a:p>
          <a:p>
            <a:pPr marL="285750" lvl="0" indent="-274669" algn="l" rtl="0">
              <a:spcBef>
                <a:spcPts val="960"/>
              </a:spcBef>
              <a:spcAft>
                <a:spcPts val="0"/>
              </a:spcAft>
              <a:buSzPts val="2436"/>
              <a:buChar char="●"/>
            </a:pPr>
            <a:r>
              <a:rPr lang="en-US" b="1" dirty="0"/>
              <a:t>Created new variable: </a:t>
            </a:r>
            <a:r>
              <a:rPr lang="en-US" dirty="0"/>
              <a:t>A new column continent was created. This column was used to predict life expectancy of the continent </a:t>
            </a:r>
            <a:endParaRPr dirty="0"/>
          </a:p>
          <a:p>
            <a:pPr marL="285750" lvl="0" indent="-274669" algn="l" rtl="0">
              <a:spcBef>
                <a:spcPts val="960"/>
              </a:spcBef>
              <a:spcAft>
                <a:spcPts val="0"/>
              </a:spcAft>
              <a:buSzPts val="2436"/>
              <a:buChar char="●"/>
            </a:pPr>
            <a:r>
              <a:rPr lang="en-US" dirty="0"/>
              <a:t>Initially the dataset consists of 1650 records with 22 columns after pre-processing it becomes 1650 records with 21 columns.</a:t>
            </a:r>
            <a:endParaRPr dirty="0"/>
          </a:p>
          <a:p>
            <a:pPr marL="0" lvl="0" indent="0" algn="l" rtl="0">
              <a:spcBef>
                <a:spcPts val="360"/>
              </a:spcBef>
              <a:spcAft>
                <a:spcPts val="600"/>
              </a:spcAft>
              <a:buSzPts val="605"/>
              <a:buNone/>
            </a:pP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3"/>
          <p:cNvSpPr txBox="1">
            <a:spLocks noGrp="1"/>
          </p:cNvSpPr>
          <p:nvPr>
            <p:ph type="title"/>
          </p:nvPr>
        </p:nvSpPr>
        <p:spPr>
          <a:xfrm>
            <a:off x="1503361" y="0"/>
            <a:ext cx="10018713" cy="1752599"/>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000"/>
              <a:buFont typeface="Corbel"/>
              <a:buNone/>
            </a:pPr>
            <a:r>
              <a:rPr lang="en-US"/>
              <a:t>Histogram of Life Expectancy in Asia And Africa</a:t>
            </a:r>
            <a:endParaRPr/>
          </a:p>
        </p:txBody>
      </p:sp>
      <p:pic>
        <p:nvPicPr>
          <p:cNvPr id="141" name="Google Shape;141;p23"/>
          <p:cNvPicPr preferRelativeResize="0"/>
          <p:nvPr/>
        </p:nvPicPr>
        <p:blipFill rotWithShape="1">
          <a:blip r:embed="rId3">
            <a:alphaModFix/>
          </a:blip>
          <a:srcRect/>
          <a:stretch/>
        </p:blipFill>
        <p:spPr>
          <a:xfrm>
            <a:off x="6354402" y="1920064"/>
            <a:ext cx="5537198" cy="4740912"/>
          </a:xfrm>
          <a:prstGeom prst="rect">
            <a:avLst/>
          </a:prstGeom>
          <a:noFill/>
          <a:ln>
            <a:noFill/>
          </a:ln>
        </p:spPr>
      </p:pic>
      <p:sp>
        <p:nvSpPr>
          <p:cNvPr id="142" name="Google Shape;142;p23"/>
          <p:cNvSpPr txBox="1"/>
          <p:nvPr/>
        </p:nvSpPr>
        <p:spPr>
          <a:xfrm>
            <a:off x="1216600" y="1920075"/>
            <a:ext cx="5137800" cy="307311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800" dirty="0">
                <a:solidFill>
                  <a:schemeClr val="dk1"/>
                </a:solidFill>
              </a:rPr>
              <a:t>The histogram reveals a bimodal distribution of life expectancy in Asia and Africa. A bimodal distribution has two peaks, and this histogram appears to have peaks around 60-65 years and 70-75 years. This suggests that there might be two groups of countries in Asia and Africa, one with a lower average life </a:t>
            </a:r>
            <a:r>
              <a:rPr lang="en-US" sz="1800" dirty="0">
                <a:solidFill>
                  <a:srgbClr val="1F1F1F"/>
                </a:solidFill>
              </a:rPr>
              <a:t>expectancy and another with a higher average life expectancy.</a:t>
            </a:r>
            <a:endParaRPr sz="1800" dirty="0">
              <a:solidFill>
                <a:srgbClr val="1F1F1F"/>
              </a:solidFill>
            </a:endParaRPr>
          </a:p>
          <a:p>
            <a:pPr marL="457200" lvl="0" indent="0" algn="l" rtl="0">
              <a:lnSpc>
                <a:spcPct val="115000"/>
              </a:lnSpc>
              <a:spcBef>
                <a:spcPts val="300"/>
              </a:spcBef>
              <a:spcAft>
                <a:spcPts val="0"/>
              </a:spcAft>
              <a:buNone/>
            </a:pPr>
            <a:endParaRPr sz="1800" dirty="0">
              <a:solidFill>
                <a:srgbClr val="1F1F1F"/>
              </a:solidFill>
              <a:highlight>
                <a:srgbClr val="FFFFFF"/>
              </a:highlight>
            </a:endParaRPr>
          </a:p>
          <a:p>
            <a:pPr marL="0" lvl="0" indent="0" algn="l" rtl="0">
              <a:spcBef>
                <a:spcPts val="300"/>
              </a:spcBef>
              <a:spcAft>
                <a:spcPts val="0"/>
              </a:spcAft>
              <a:buNone/>
            </a:pPr>
            <a:endParaRPr sz="1800" dirty="0">
              <a:solidFill>
                <a:srgbClr val="1F1F1F"/>
              </a:solidFill>
              <a:highlight>
                <a:srgbClr val="FFFFFF"/>
              </a:highligh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24"/>
          <p:cNvSpPr txBox="1">
            <a:spLocks noGrp="1"/>
          </p:cNvSpPr>
          <p:nvPr>
            <p:ph type="title"/>
          </p:nvPr>
        </p:nvSpPr>
        <p:spPr>
          <a:xfrm>
            <a:off x="1484311" y="685800"/>
            <a:ext cx="10018800" cy="17526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000"/>
              <a:buFont typeface="Corbel"/>
              <a:buNone/>
            </a:pPr>
            <a:r>
              <a:rPr lang="en-US"/>
              <a:t>Correlation Matrix </a:t>
            </a:r>
            <a:endParaRPr/>
          </a:p>
          <a:p>
            <a:pPr marL="0" lvl="0" indent="0" algn="ctr" rtl="0">
              <a:spcBef>
                <a:spcPts val="0"/>
              </a:spcBef>
              <a:spcAft>
                <a:spcPts val="0"/>
              </a:spcAft>
              <a:buNone/>
            </a:pPr>
            <a:endParaRPr/>
          </a:p>
        </p:txBody>
      </p:sp>
      <p:sp>
        <p:nvSpPr>
          <p:cNvPr id="148" name="Google Shape;148;p24"/>
          <p:cNvSpPr txBox="1">
            <a:spLocks noGrp="1"/>
          </p:cNvSpPr>
          <p:nvPr>
            <p:ph type="body" idx="1"/>
          </p:nvPr>
        </p:nvSpPr>
        <p:spPr>
          <a:xfrm>
            <a:off x="1283971" y="2496688"/>
            <a:ext cx="8976000" cy="576300"/>
          </a:xfrm>
          <a:prstGeom prst="rect">
            <a:avLst/>
          </a:prstGeom>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1"/>
              </a:buClr>
              <a:buFont typeface="Arial"/>
              <a:buNone/>
            </a:pPr>
            <a:r>
              <a:rPr lang="en-US" sz="2000" dirty="0">
                <a:solidFill>
                  <a:srgbClr val="0D0D0D"/>
                </a:solidFill>
                <a:latin typeface="Corbel"/>
                <a:ea typeface="Corbel"/>
                <a:cs typeface="Corbel"/>
                <a:sym typeface="Corbel"/>
              </a:rPr>
              <a:t>This correlations suggest that higher values in Adult Mortality, HIV/AIDS prevalence, and Infant deaths are associated with lower life </a:t>
            </a:r>
            <a:r>
              <a:rPr lang="en-US" sz="2000" dirty="0">
                <a:solidFill>
                  <a:schemeClr val="dk1"/>
                </a:solidFill>
                <a:latin typeface="Corbel"/>
                <a:ea typeface="Corbel"/>
                <a:cs typeface="Corbel"/>
                <a:sym typeface="Corbel"/>
              </a:rPr>
              <a:t>expectancy</a:t>
            </a:r>
            <a:r>
              <a:rPr lang="en-US" sz="2000" dirty="0">
                <a:solidFill>
                  <a:srgbClr val="0D0D0D"/>
                </a:solidFill>
                <a:latin typeface="Corbel"/>
                <a:ea typeface="Corbel"/>
                <a:cs typeface="Corbel"/>
                <a:sym typeface="Corbel"/>
              </a:rPr>
              <a:t>.</a:t>
            </a:r>
            <a:endParaRPr sz="2000" dirty="0">
              <a:solidFill>
                <a:schemeClr val="dk1"/>
              </a:solidFill>
              <a:latin typeface="Corbel"/>
              <a:ea typeface="Corbel"/>
              <a:cs typeface="Corbel"/>
              <a:sym typeface="Corbel"/>
            </a:endParaRPr>
          </a:p>
          <a:p>
            <a:pPr marL="0" lvl="0" indent="0" algn="l" rtl="0">
              <a:spcBef>
                <a:spcPts val="560"/>
              </a:spcBef>
              <a:spcAft>
                <a:spcPts val="600"/>
              </a:spcAft>
              <a:buNone/>
            </a:pPr>
            <a:endParaRPr dirty="0"/>
          </a:p>
        </p:txBody>
      </p:sp>
      <p:pic>
        <p:nvPicPr>
          <p:cNvPr id="149" name="Google Shape;149;p24"/>
          <p:cNvPicPr preferRelativeResize="0"/>
          <p:nvPr/>
        </p:nvPicPr>
        <p:blipFill rotWithShape="1">
          <a:blip r:embed="rId3">
            <a:alphaModFix/>
          </a:blip>
          <a:srcRect/>
          <a:stretch/>
        </p:blipFill>
        <p:spPr>
          <a:xfrm>
            <a:off x="929901" y="2901305"/>
            <a:ext cx="5910926" cy="3726711"/>
          </a:xfrm>
          <a:prstGeom prst="rect">
            <a:avLst/>
          </a:prstGeom>
          <a:noFill/>
          <a:ln>
            <a:noFill/>
          </a:ln>
        </p:spPr>
      </p:pic>
      <p:pic>
        <p:nvPicPr>
          <p:cNvPr id="150" name="Google Shape;150;p24"/>
          <p:cNvPicPr preferRelativeResize="0"/>
          <p:nvPr/>
        </p:nvPicPr>
        <p:blipFill rotWithShape="1">
          <a:blip r:embed="rId4">
            <a:alphaModFix/>
          </a:blip>
          <a:srcRect/>
          <a:stretch/>
        </p:blipFill>
        <p:spPr>
          <a:xfrm>
            <a:off x="7134054" y="2901301"/>
            <a:ext cx="4871970" cy="38417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5"/>
          <p:cNvSpPr txBox="1">
            <a:spLocks noGrp="1"/>
          </p:cNvSpPr>
          <p:nvPr>
            <p:ph type="title"/>
          </p:nvPr>
        </p:nvSpPr>
        <p:spPr>
          <a:xfrm>
            <a:off x="3251200" y="165629"/>
            <a:ext cx="8251824" cy="1752599"/>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000"/>
              <a:buFont typeface="Corbel"/>
              <a:buNone/>
            </a:pPr>
            <a:r>
              <a:rPr lang="en-US"/>
              <a:t>Simple Linear Model</a:t>
            </a:r>
            <a:endParaRPr/>
          </a:p>
        </p:txBody>
      </p:sp>
      <p:sp>
        <p:nvSpPr>
          <p:cNvPr id="156" name="Google Shape;156;p25"/>
          <p:cNvSpPr txBox="1">
            <a:spLocks noGrp="1"/>
          </p:cNvSpPr>
          <p:nvPr>
            <p:ph type="body" idx="2"/>
          </p:nvPr>
        </p:nvSpPr>
        <p:spPr>
          <a:xfrm>
            <a:off x="898357" y="2081463"/>
            <a:ext cx="5432883" cy="4126832"/>
          </a:xfrm>
          <a:prstGeom prst="rect">
            <a:avLst/>
          </a:prstGeom>
          <a:noFill/>
          <a:ln>
            <a:noFill/>
          </a:ln>
        </p:spPr>
        <p:txBody>
          <a:bodyPr spcFirstLastPara="1" wrap="square" lIns="91425" tIns="45700" rIns="91425" bIns="45700" anchor="t" anchorCtr="0">
            <a:normAutofit/>
          </a:bodyPr>
          <a:lstStyle/>
          <a:p>
            <a:pPr marL="285750" lvl="0" indent="-285750" algn="l" rtl="0">
              <a:spcBef>
                <a:spcPts val="0"/>
              </a:spcBef>
              <a:spcAft>
                <a:spcPts val="0"/>
              </a:spcAft>
              <a:buSzPts val="2610"/>
              <a:buChar char="●"/>
            </a:pPr>
            <a:r>
              <a:rPr lang="en-US"/>
              <a:t>All the variables from the dataset are used to create a simple linear model</a:t>
            </a:r>
            <a:endParaRPr/>
          </a:p>
          <a:p>
            <a:pPr marL="285750" lvl="0" indent="-285750" algn="l" rtl="0">
              <a:spcBef>
                <a:spcPts val="960"/>
              </a:spcBef>
              <a:spcAft>
                <a:spcPts val="0"/>
              </a:spcAft>
              <a:buSzPts val="2610"/>
              <a:buFont typeface="Arial"/>
              <a:buChar char="●"/>
            </a:pPr>
            <a:r>
              <a:rPr lang="en-US" b="0" i="0">
                <a:solidFill>
                  <a:srgbClr val="0D0D0D"/>
                </a:solidFill>
                <a:latin typeface="Arial"/>
                <a:ea typeface="Arial"/>
                <a:cs typeface="Arial"/>
                <a:sym typeface="Arial"/>
              </a:rPr>
              <a:t>The adjusted R-squared value of 0.8346 indicates that approximately 83.46% of the variance in life expectancy is explained by the predictors in the model.</a:t>
            </a:r>
            <a:endParaRPr/>
          </a:p>
          <a:p>
            <a:pPr marL="285750" lvl="0" indent="-120015" algn="l" rtl="0">
              <a:spcBef>
                <a:spcPts val="960"/>
              </a:spcBef>
              <a:spcAft>
                <a:spcPts val="0"/>
              </a:spcAft>
              <a:buSzPts val="2610"/>
              <a:buFont typeface="Arial"/>
              <a:buNone/>
            </a:pPr>
            <a:endParaRPr/>
          </a:p>
        </p:txBody>
      </p:sp>
      <p:pic>
        <p:nvPicPr>
          <p:cNvPr id="157" name="Google Shape;157;p25"/>
          <p:cNvPicPr preferRelativeResize="0">
            <a:picLocks noGrp="1"/>
          </p:cNvPicPr>
          <p:nvPr>
            <p:ph type="body" idx="4"/>
          </p:nvPr>
        </p:nvPicPr>
        <p:blipFill rotWithShape="1">
          <a:blip r:embed="rId3">
            <a:alphaModFix/>
          </a:blip>
          <a:srcRect/>
          <a:stretch/>
        </p:blipFill>
        <p:spPr>
          <a:xfrm>
            <a:off x="6498897" y="2101517"/>
            <a:ext cx="5693103" cy="412683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26"/>
          <p:cNvSpPr txBox="1">
            <a:spLocks noGrp="1"/>
          </p:cNvSpPr>
          <p:nvPr>
            <p:ph type="title"/>
          </p:nvPr>
        </p:nvSpPr>
        <p:spPr>
          <a:xfrm>
            <a:off x="3134853" y="-220850"/>
            <a:ext cx="7380600" cy="1752600"/>
          </a:xfrm>
          <a:prstGeom prst="rect">
            <a:avLst/>
          </a:prstGeom>
        </p:spPr>
        <p:txBody>
          <a:bodyPr spcFirstLastPara="1" wrap="square" lIns="91425" tIns="45700" rIns="91425" bIns="45700" anchor="ctr" anchorCtr="0">
            <a:normAutofit fontScale="90000"/>
          </a:bodyPr>
          <a:lstStyle/>
          <a:p>
            <a:pPr marL="0" lvl="0" indent="0" algn="ctr" rtl="0">
              <a:spcBef>
                <a:spcPts val="0"/>
              </a:spcBef>
              <a:spcAft>
                <a:spcPts val="0"/>
              </a:spcAft>
              <a:buClr>
                <a:schemeClr val="lt1"/>
              </a:buClr>
              <a:buSzPct val="108108"/>
              <a:buFont typeface="Corbel"/>
              <a:buNone/>
            </a:pPr>
            <a:r>
              <a:rPr lang="en-US">
                <a:solidFill>
                  <a:schemeClr val="lt1"/>
                </a:solidFill>
              </a:rPr>
              <a:t>Performing VIF</a:t>
            </a:r>
            <a:endParaRPr/>
          </a:p>
          <a:p>
            <a:pPr marL="0" lvl="0" indent="0" algn="ctr" rtl="0">
              <a:spcBef>
                <a:spcPts val="0"/>
              </a:spcBef>
              <a:spcAft>
                <a:spcPts val="0"/>
              </a:spcAft>
              <a:buClr>
                <a:schemeClr val="lt1"/>
              </a:buClr>
              <a:buSzPct val="108108"/>
              <a:buFont typeface="Corbel"/>
              <a:buNone/>
            </a:pPr>
            <a:r>
              <a:rPr lang="en-US">
                <a:solidFill>
                  <a:schemeClr val="lt1"/>
                </a:solidFill>
              </a:rPr>
              <a:t>Performing VIF</a:t>
            </a:r>
            <a:endParaRPr/>
          </a:p>
          <a:p>
            <a:pPr marL="0" lvl="0" indent="0" algn="l" rtl="0">
              <a:spcBef>
                <a:spcPts val="0"/>
              </a:spcBef>
              <a:spcAft>
                <a:spcPts val="0"/>
              </a:spcAft>
              <a:buNone/>
            </a:pPr>
            <a:r>
              <a:rPr lang="en-US"/>
              <a:t>Peforming VIF Values</a:t>
            </a:r>
            <a:endParaRPr/>
          </a:p>
        </p:txBody>
      </p:sp>
      <p:sp>
        <p:nvSpPr>
          <p:cNvPr id="163" name="Google Shape;163;p26"/>
          <p:cNvSpPr txBox="1">
            <a:spLocks noGrp="1"/>
          </p:cNvSpPr>
          <p:nvPr>
            <p:ph type="body" idx="1"/>
          </p:nvPr>
        </p:nvSpPr>
        <p:spPr>
          <a:xfrm>
            <a:off x="819029" y="2216833"/>
            <a:ext cx="4607100" cy="576300"/>
          </a:xfrm>
          <a:prstGeom prst="rect">
            <a:avLst/>
          </a:prstGeom>
        </p:spPr>
        <p:txBody>
          <a:bodyPr spcFirstLastPara="1" wrap="square" lIns="91425" tIns="45700" rIns="91425" bIns="45700" anchor="b" anchorCtr="0">
            <a:noAutofit/>
          </a:bodyPr>
          <a:lstStyle/>
          <a:p>
            <a:pPr marL="0" lvl="0" indent="0" algn="l" rtl="0">
              <a:lnSpc>
                <a:spcPct val="90000"/>
              </a:lnSpc>
              <a:spcBef>
                <a:spcPts val="600"/>
              </a:spcBef>
              <a:spcAft>
                <a:spcPts val="0"/>
              </a:spcAft>
              <a:buClr>
                <a:schemeClr val="dk1"/>
              </a:buClr>
              <a:buFont typeface="Arial"/>
              <a:buNone/>
            </a:pPr>
            <a:r>
              <a:rPr lang="en-US" sz="2000" dirty="0">
                <a:solidFill>
                  <a:schemeClr val="dk1"/>
                </a:solidFill>
                <a:latin typeface="Corbel"/>
                <a:ea typeface="Corbel"/>
                <a:cs typeface="Corbel"/>
                <a:sym typeface="Corbel"/>
              </a:rPr>
              <a:t>Before removing values which are above 10</a:t>
            </a:r>
            <a:endParaRPr sz="2000" dirty="0"/>
          </a:p>
        </p:txBody>
      </p:sp>
      <p:sp>
        <p:nvSpPr>
          <p:cNvPr id="164" name="Google Shape;164;p26"/>
          <p:cNvSpPr txBox="1">
            <a:spLocks noGrp="1"/>
          </p:cNvSpPr>
          <p:nvPr>
            <p:ph type="body" idx="3"/>
          </p:nvPr>
        </p:nvSpPr>
        <p:spPr>
          <a:xfrm>
            <a:off x="6691762" y="2216825"/>
            <a:ext cx="4622400" cy="576300"/>
          </a:xfrm>
          <a:prstGeom prst="rect">
            <a:avLst/>
          </a:prstGeom>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dk1"/>
              </a:buClr>
              <a:buFont typeface="Arial"/>
              <a:buNone/>
            </a:pPr>
            <a:r>
              <a:rPr lang="en-US" sz="2000" dirty="0">
                <a:solidFill>
                  <a:schemeClr val="dk1"/>
                </a:solidFill>
                <a:latin typeface="Corbel"/>
                <a:ea typeface="Corbel"/>
                <a:cs typeface="Corbel"/>
                <a:sym typeface="Corbel"/>
              </a:rPr>
              <a:t>After removing the values which are above 10</a:t>
            </a:r>
            <a:endParaRPr sz="2000" dirty="0"/>
          </a:p>
        </p:txBody>
      </p:sp>
      <p:pic>
        <p:nvPicPr>
          <p:cNvPr id="165" name="Google Shape;165;p26"/>
          <p:cNvPicPr preferRelativeResize="0"/>
          <p:nvPr/>
        </p:nvPicPr>
        <p:blipFill rotWithShape="1">
          <a:blip r:embed="rId3">
            <a:alphaModFix/>
          </a:blip>
          <a:srcRect l="-12277" t="-7895" r="-14949" b="-18033"/>
          <a:stretch/>
        </p:blipFill>
        <p:spPr>
          <a:xfrm>
            <a:off x="413488" y="2943500"/>
            <a:ext cx="5418174" cy="3429450"/>
          </a:xfrm>
          <a:prstGeom prst="rect">
            <a:avLst/>
          </a:prstGeom>
          <a:noFill/>
          <a:ln>
            <a:noFill/>
          </a:ln>
        </p:spPr>
      </p:pic>
      <p:pic>
        <p:nvPicPr>
          <p:cNvPr id="166" name="Google Shape;166;p26"/>
          <p:cNvPicPr preferRelativeResize="0"/>
          <p:nvPr/>
        </p:nvPicPr>
        <p:blipFill rotWithShape="1">
          <a:blip r:embed="rId4">
            <a:alphaModFix/>
          </a:blip>
          <a:srcRect/>
          <a:stretch/>
        </p:blipFill>
        <p:spPr>
          <a:xfrm>
            <a:off x="6880476" y="2943503"/>
            <a:ext cx="4244953" cy="34294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27"/>
          <p:cNvSpPr txBox="1">
            <a:spLocks noGrp="1"/>
          </p:cNvSpPr>
          <p:nvPr>
            <p:ph type="title"/>
          </p:nvPr>
        </p:nvSpPr>
        <p:spPr>
          <a:xfrm>
            <a:off x="1484311" y="685800"/>
            <a:ext cx="10018800" cy="17526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3600"/>
              <a:buFont typeface="Corbel"/>
              <a:buNone/>
            </a:pPr>
            <a:r>
              <a:rPr lang="en-US" sz="3600"/>
              <a:t>Step Wise Regression</a:t>
            </a:r>
            <a:endParaRPr/>
          </a:p>
          <a:p>
            <a:pPr marL="0" lvl="0" indent="0" algn="ctr" rtl="0">
              <a:spcBef>
                <a:spcPts val="0"/>
              </a:spcBef>
              <a:spcAft>
                <a:spcPts val="0"/>
              </a:spcAft>
              <a:buNone/>
            </a:pPr>
            <a:endParaRPr/>
          </a:p>
        </p:txBody>
      </p:sp>
      <p:sp>
        <p:nvSpPr>
          <p:cNvPr id="172" name="Google Shape;172;p27"/>
          <p:cNvSpPr txBox="1">
            <a:spLocks noGrp="1"/>
          </p:cNvSpPr>
          <p:nvPr>
            <p:ph type="body" idx="2"/>
          </p:nvPr>
        </p:nvSpPr>
        <p:spPr>
          <a:xfrm>
            <a:off x="489275" y="2438400"/>
            <a:ext cx="4895100" cy="3993300"/>
          </a:xfrm>
          <a:prstGeom prst="rect">
            <a:avLst/>
          </a:prstGeom>
        </p:spPr>
        <p:txBody>
          <a:bodyPr spcFirstLastPara="1" wrap="square" lIns="91425" tIns="45700" rIns="91425" bIns="45700" anchor="t" anchorCtr="0">
            <a:normAutofit/>
          </a:bodyPr>
          <a:lstStyle/>
          <a:p>
            <a:pPr marL="0" lvl="0" indent="-184150" algn="l" rtl="0">
              <a:lnSpc>
                <a:spcPct val="100000"/>
              </a:lnSpc>
              <a:spcBef>
                <a:spcPts val="0"/>
              </a:spcBef>
              <a:spcAft>
                <a:spcPts val="0"/>
              </a:spcAft>
              <a:buClr>
                <a:srgbClr val="1186C3"/>
              </a:buClr>
              <a:buSzPts val="2900"/>
              <a:buChar char="•"/>
            </a:pPr>
            <a:r>
              <a:rPr lang="en-US" sz="2000" dirty="0">
                <a:solidFill>
                  <a:schemeClr val="dk1"/>
                </a:solidFill>
                <a:latin typeface="Corbel"/>
                <a:ea typeface="Corbel"/>
                <a:cs typeface="Corbel"/>
                <a:sym typeface="Corbel"/>
              </a:rPr>
              <a:t>Performed Stepwise backward elimination to identify least significant variable based on p-value and remove them to improve the performance of the model</a:t>
            </a:r>
            <a:endParaRPr sz="1400" dirty="0">
              <a:solidFill>
                <a:schemeClr val="dk1"/>
              </a:solidFill>
            </a:endParaRPr>
          </a:p>
          <a:p>
            <a:pPr marL="0" lvl="0" indent="-184150" algn="l" rtl="0">
              <a:lnSpc>
                <a:spcPct val="100000"/>
              </a:lnSpc>
              <a:spcBef>
                <a:spcPts val="1000"/>
              </a:spcBef>
              <a:spcAft>
                <a:spcPts val="0"/>
              </a:spcAft>
              <a:buClr>
                <a:srgbClr val="1186C3"/>
              </a:buClr>
              <a:buSzPts val="2900"/>
              <a:buChar char="•"/>
            </a:pPr>
            <a:r>
              <a:rPr lang="en-US" sz="2000" dirty="0">
                <a:solidFill>
                  <a:schemeClr val="dk1"/>
                </a:solidFill>
                <a:latin typeface="Corbel"/>
                <a:ea typeface="Corbel"/>
                <a:cs typeface="Corbel"/>
                <a:sym typeface="Corbel"/>
              </a:rPr>
              <a:t>The adjusted R-squared for the final model is 0.8264, suggesting that approximately 82.64% of the variability in life expectancy is explained by the predictor variables included in the model.</a:t>
            </a:r>
            <a:endParaRPr sz="1400" dirty="0">
              <a:solidFill>
                <a:schemeClr val="dk1"/>
              </a:solidFill>
            </a:endParaRPr>
          </a:p>
          <a:p>
            <a:pPr marL="0" lvl="0" indent="0" algn="l" rtl="0">
              <a:spcBef>
                <a:spcPts val="360"/>
              </a:spcBef>
              <a:spcAft>
                <a:spcPts val="600"/>
              </a:spcAft>
              <a:buNone/>
            </a:pPr>
            <a:endParaRPr dirty="0"/>
          </a:p>
        </p:txBody>
      </p:sp>
      <p:sp>
        <p:nvSpPr>
          <p:cNvPr id="173" name="Google Shape;173;p27"/>
          <p:cNvSpPr txBox="1">
            <a:spLocks noGrp="1"/>
          </p:cNvSpPr>
          <p:nvPr>
            <p:ph type="body" idx="4"/>
          </p:nvPr>
        </p:nvSpPr>
        <p:spPr>
          <a:xfrm>
            <a:off x="6607967" y="3335337"/>
            <a:ext cx="4895100" cy="2455800"/>
          </a:xfrm>
          <a:prstGeom prst="rect">
            <a:avLst/>
          </a:prstGeom>
        </p:spPr>
        <p:txBody>
          <a:bodyPr spcFirstLastPara="1" wrap="square" lIns="91425" tIns="45700" rIns="91425" bIns="45700" anchor="t" anchorCtr="0">
            <a:normAutofit/>
          </a:bodyPr>
          <a:lstStyle/>
          <a:p>
            <a:pPr marL="0" lvl="0" indent="0" algn="l" rtl="0">
              <a:spcBef>
                <a:spcPts val="360"/>
              </a:spcBef>
              <a:spcAft>
                <a:spcPts val="600"/>
              </a:spcAft>
              <a:buNone/>
            </a:pPr>
            <a:endParaRPr/>
          </a:p>
        </p:txBody>
      </p:sp>
      <p:pic>
        <p:nvPicPr>
          <p:cNvPr id="174" name="Google Shape;174;p27"/>
          <p:cNvPicPr preferRelativeResize="0">
            <a:picLocks noGrp="1"/>
          </p:cNvPicPr>
          <p:nvPr>
            <p:ph type="body" idx="4"/>
          </p:nvPr>
        </p:nvPicPr>
        <p:blipFill rotWithShape="1">
          <a:blip r:embed="rId3">
            <a:alphaModFix/>
          </a:blip>
          <a:srcRect/>
          <a:stretch/>
        </p:blipFill>
        <p:spPr>
          <a:xfrm>
            <a:off x="5384375" y="1854875"/>
            <a:ext cx="6642300" cy="4865400"/>
          </a:xfrm>
          <a:prstGeom prst="roundRect">
            <a:avLst>
              <a:gd name="adj" fmla="val 4380"/>
            </a:avLst>
          </a:prstGeom>
          <a:noFill/>
          <a:ln w="38100" cap="flat" cmpd="sng">
            <a:solidFill>
              <a:schemeClr val="lt2"/>
            </a:solidFill>
            <a:prstDash val="solid"/>
            <a:round/>
            <a:headEnd type="none" w="sm" len="sm"/>
            <a:tailEnd type="none" w="sm" len="sm"/>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pic>
        <p:nvPicPr>
          <p:cNvPr id="179" name="Google Shape;179;p28"/>
          <p:cNvPicPr preferRelativeResize="0"/>
          <p:nvPr/>
        </p:nvPicPr>
        <p:blipFill rotWithShape="1">
          <a:blip r:embed="rId3">
            <a:alphaModFix/>
          </a:blip>
          <a:srcRect/>
          <a:stretch/>
        </p:blipFill>
        <p:spPr>
          <a:xfrm>
            <a:off x="6024563" y="862013"/>
            <a:ext cx="5943600" cy="4829175"/>
          </a:xfrm>
          <a:prstGeom prst="rect">
            <a:avLst/>
          </a:prstGeom>
          <a:noFill/>
          <a:ln>
            <a:noFill/>
          </a:ln>
        </p:spPr>
      </p:pic>
      <p:sp>
        <p:nvSpPr>
          <p:cNvPr id="180" name="Google Shape;180;p28"/>
          <p:cNvSpPr txBox="1"/>
          <p:nvPr/>
        </p:nvSpPr>
        <p:spPr>
          <a:xfrm>
            <a:off x="1167620" y="2370137"/>
            <a:ext cx="4787566" cy="203132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dirty="0">
                <a:solidFill>
                  <a:srgbClr val="1F1F1F"/>
                </a:solidFill>
                <a:latin typeface="Arial"/>
                <a:ea typeface="Arial"/>
                <a:cs typeface="Arial"/>
                <a:sym typeface="Arial"/>
              </a:rPr>
              <a:t>This scatter plot shows life expectancy compared to population in Europe and America. The x-axis represents population (0 to 200 million likely). The y-axis shows life expectancy (70 to 90 years). Countries with lower populations (0 to 100 million likely) tend to have higher life expectancies (78 to 90 years). Conversely, countries with higher populations (over 100 million likely) have lower life expectancies (70 to 80 years). This suggests a negative correlation between population and life expectancy in Europe and America.</a:t>
            </a:r>
            <a:endParaRPr sz="1400" dirty="0">
              <a:solidFill>
                <a:schemeClr val="dk1"/>
              </a:solidFill>
              <a:latin typeface="Corbel"/>
              <a:ea typeface="Corbel"/>
              <a:cs typeface="Corbel"/>
              <a:sym typeface="Corbel"/>
            </a:endParaRPr>
          </a:p>
        </p:txBody>
      </p:sp>
      <p:sp>
        <p:nvSpPr>
          <p:cNvPr id="181" name="Google Shape;181;p28"/>
          <p:cNvSpPr txBox="1"/>
          <p:nvPr/>
        </p:nvSpPr>
        <p:spPr>
          <a:xfrm>
            <a:off x="1251275" y="1402671"/>
            <a:ext cx="2632307"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800">
                <a:solidFill>
                  <a:schemeClr val="dk1"/>
                </a:solidFill>
                <a:latin typeface="Corbel"/>
                <a:ea typeface="Corbel"/>
                <a:cs typeface="Corbel"/>
                <a:sym typeface="Corbel"/>
              </a:rPr>
              <a:t>Plots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85"/>
        <p:cNvGrpSpPr/>
        <p:nvPr/>
      </p:nvGrpSpPr>
      <p:grpSpPr>
        <a:xfrm>
          <a:off x="0" y="0"/>
          <a:ext cx="0" cy="0"/>
          <a:chOff x="0" y="0"/>
          <a:chExt cx="0" cy="0"/>
        </a:xfrm>
      </p:grpSpPr>
      <p:sp>
        <p:nvSpPr>
          <p:cNvPr id="186" name="Google Shape;186;p29"/>
          <p:cNvSpPr txBox="1"/>
          <p:nvPr/>
        </p:nvSpPr>
        <p:spPr>
          <a:xfrm>
            <a:off x="5228882" y="345415"/>
            <a:ext cx="636442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rgbClr val="1F1F1F"/>
              </a:solidFill>
              <a:latin typeface="Arial"/>
              <a:ea typeface="Arial"/>
              <a:cs typeface="Arial"/>
              <a:sym typeface="Arial"/>
            </a:endParaRPr>
          </a:p>
        </p:txBody>
      </p:sp>
      <p:pic>
        <p:nvPicPr>
          <p:cNvPr id="187" name="Google Shape;187;p29" descr="A screenshot of a computer&#10;&#10;Description automatically generated"/>
          <p:cNvPicPr preferRelativeResize="0"/>
          <p:nvPr/>
        </p:nvPicPr>
        <p:blipFill rotWithShape="1">
          <a:blip r:embed="rId4">
            <a:alphaModFix/>
          </a:blip>
          <a:srcRect/>
          <a:stretch/>
        </p:blipFill>
        <p:spPr>
          <a:xfrm>
            <a:off x="1260532" y="2562447"/>
            <a:ext cx="5991884" cy="3707478"/>
          </a:xfrm>
          <a:prstGeom prst="rect">
            <a:avLst/>
          </a:prstGeom>
          <a:noFill/>
          <a:ln>
            <a:noFill/>
          </a:ln>
        </p:spPr>
      </p:pic>
      <p:pic>
        <p:nvPicPr>
          <p:cNvPr id="188" name="Google Shape;188;p29"/>
          <p:cNvPicPr preferRelativeResize="0"/>
          <p:nvPr/>
        </p:nvPicPr>
        <p:blipFill rotWithShape="1">
          <a:blip r:embed="rId5">
            <a:alphaModFix/>
          </a:blip>
          <a:srcRect/>
          <a:stretch/>
        </p:blipFill>
        <p:spPr>
          <a:xfrm>
            <a:off x="7309165" y="2400409"/>
            <a:ext cx="4752494" cy="3869516"/>
          </a:xfrm>
          <a:prstGeom prst="rect">
            <a:avLst/>
          </a:prstGeom>
          <a:noFill/>
          <a:ln>
            <a:noFill/>
          </a:ln>
        </p:spPr>
      </p:pic>
      <p:sp>
        <p:nvSpPr>
          <p:cNvPr id="189" name="Google Shape;189;p29"/>
          <p:cNvSpPr txBox="1"/>
          <p:nvPr/>
        </p:nvSpPr>
        <p:spPr>
          <a:xfrm>
            <a:off x="4234335" y="297709"/>
            <a:ext cx="7827324"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000">
                <a:solidFill>
                  <a:schemeClr val="dk1"/>
                </a:solidFill>
                <a:latin typeface="Corbel"/>
                <a:ea typeface="Corbel"/>
                <a:cs typeface="Corbel"/>
                <a:sym typeface="Corbel"/>
              </a:rPr>
              <a:t>Correlation Matrix ​</a:t>
            </a:r>
            <a:endParaRPr sz="4000">
              <a:solidFill>
                <a:schemeClr val="dk1"/>
              </a:solidFill>
              <a:latin typeface="Corbel"/>
              <a:ea typeface="Corbel"/>
              <a:cs typeface="Corbel"/>
              <a:sym typeface="Corbel"/>
            </a:endParaRPr>
          </a:p>
        </p:txBody>
      </p:sp>
      <p:sp>
        <p:nvSpPr>
          <p:cNvPr id="190" name="Google Shape;190;p29"/>
          <p:cNvSpPr txBox="1"/>
          <p:nvPr/>
        </p:nvSpPr>
        <p:spPr>
          <a:xfrm>
            <a:off x="1746523" y="1130767"/>
            <a:ext cx="9980400" cy="1015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dirty="0">
                <a:solidFill>
                  <a:srgbClr val="1F1F1F"/>
                </a:solidFill>
                <a:latin typeface="Corbel"/>
                <a:ea typeface="Corbel"/>
                <a:cs typeface="Corbel"/>
                <a:sym typeface="Corbel"/>
              </a:rPr>
              <a:t>Life expectancy has a negative correlation with adult mortality, HIV/AIDS , and infant deaths. This means places with higher life expectancy tend to have lower rates of adult mortality, HIV/AIDS, and infant deaths.</a:t>
            </a:r>
            <a:endParaRPr sz="2000" dirty="0">
              <a:solidFill>
                <a:schemeClr val="dk1"/>
              </a:solidFill>
              <a:latin typeface="Corbel"/>
              <a:ea typeface="Corbel"/>
              <a:cs typeface="Corbel"/>
              <a:sym typeface="Corbe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pic>
        <p:nvPicPr>
          <p:cNvPr id="195" name="Google Shape;195;p30" descr="A screenshot of a computer&#10;&#10;Description automatically generated"/>
          <p:cNvPicPr preferRelativeResize="0"/>
          <p:nvPr/>
        </p:nvPicPr>
        <p:blipFill rotWithShape="1">
          <a:blip r:embed="rId3">
            <a:alphaModFix/>
          </a:blip>
          <a:srcRect/>
          <a:stretch/>
        </p:blipFill>
        <p:spPr>
          <a:xfrm>
            <a:off x="6148388" y="1138238"/>
            <a:ext cx="6038850" cy="4419600"/>
          </a:xfrm>
          <a:prstGeom prst="rect">
            <a:avLst/>
          </a:prstGeom>
          <a:noFill/>
          <a:ln>
            <a:noFill/>
          </a:ln>
        </p:spPr>
      </p:pic>
      <p:sp>
        <p:nvSpPr>
          <p:cNvPr id="196" name="Google Shape;196;p30"/>
          <p:cNvSpPr txBox="1"/>
          <p:nvPr/>
        </p:nvSpPr>
        <p:spPr>
          <a:xfrm>
            <a:off x="4463791" y="464506"/>
            <a:ext cx="4859644"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1"/>
                </a:solidFill>
                <a:latin typeface="Corbel"/>
                <a:ea typeface="Corbel"/>
                <a:cs typeface="Corbel"/>
                <a:sym typeface="Corbel"/>
              </a:rPr>
              <a:t>Simple Linear Model</a:t>
            </a:r>
            <a:endParaRPr/>
          </a:p>
        </p:txBody>
      </p:sp>
      <p:sp>
        <p:nvSpPr>
          <p:cNvPr id="197" name="Google Shape;197;p30"/>
          <p:cNvSpPr txBox="1"/>
          <p:nvPr/>
        </p:nvSpPr>
        <p:spPr>
          <a:xfrm>
            <a:off x="1560326" y="1786633"/>
            <a:ext cx="4228367" cy="3713797"/>
          </a:xfrm>
          <a:prstGeom prst="rect">
            <a:avLst/>
          </a:prstGeom>
          <a:noFill/>
          <a:ln>
            <a:noFill/>
          </a:ln>
        </p:spPr>
        <p:txBody>
          <a:bodyPr spcFirstLastPara="1" wrap="square" lIns="91425" tIns="45700" rIns="91425" bIns="45700" anchor="t" anchorCtr="0">
            <a:spAutoFit/>
          </a:bodyPr>
          <a:lstStyle/>
          <a:p>
            <a:pPr marL="0" marR="0" lvl="0" indent="-101600" algn="l" rtl="0">
              <a:spcBef>
                <a:spcPts val="0"/>
              </a:spcBef>
              <a:spcAft>
                <a:spcPts val="0"/>
              </a:spcAft>
              <a:buClr>
                <a:schemeClr val="dk1"/>
              </a:buClr>
              <a:buSzPts val="1600"/>
              <a:buFont typeface="Arial"/>
              <a:buChar char="•"/>
            </a:pPr>
            <a:r>
              <a:rPr lang="en-US" sz="2000" dirty="0">
                <a:solidFill>
                  <a:schemeClr val="dk1"/>
                </a:solidFill>
                <a:latin typeface="Corbel"/>
                <a:ea typeface="Corbel"/>
                <a:cs typeface="Corbel"/>
                <a:sym typeface="Corbel"/>
              </a:rPr>
              <a:t>All the variables from the dataset are used to create a simple linear model. </a:t>
            </a:r>
            <a:endParaRPr sz="2000" dirty="0">
              <a:solidFill>
                <a:schemeClr val="dk1"/>
              </a:solidFill>
              <a:latin typeface="Arial"/>
              <a:ea typeface="Arial"/>
              <a:cs typeface="Arial"/>
              <a:sym typeface="Arial"/>
            </a:endParaRPr>
          </a:p>
          <a:p>
            <a:pPr marL="0" marR="0" lvl="0" indent="0" algn="l" rtl="0">
              <a:spcBef>
                <a:spcPts val="0"/>
              </a:spcBef>
              <a:spcAft>
                <a:spcPts val="0"/>
              </a:spcAft>
              <a:buClr>
                <a:schemeClr val="dk1"/>
              </a:buClr>
              <a:buSzPts val="1800"/>
              <a:buFont typeface="Arial"/>
              <a:buNone/>
            </a:pPr>
            <a:endParaRPr sz="2000" dirty="0">
              <a:solidFill>
                <a:schemeClr val="dk1"/>
              </a:solidFill>
              <a:latin typeface="Corbel"/>
              <a:ea typeface="Corbel"/>
              <a:cs typeface="Corbel"/>
              <a:sym typeface="Corbel"/>
            </a:endParaRPr>
          </a:p>
          <a:p>
            <a:pPr marL="0" marR="0" lvl="0" indent="-101600" algn="l" rtl="0">
              <a:spcBef>
                <a:spcPts val="0"/>
              </a:spcBef>
              <a:spcAft>
                <a:spcPts val="0"/>
              </a:spcAft>
              <a:buClr>
                <a:schemeClr val="dk1"/>
              </a:buClr>
              <a:buSzPts val="1600"/>
              <a:buFont typeface="Arial"/>
              <a:buChar char="•"/>
            </a:pPr>
            <a:r>
              <a:rPr lang="en-US" sz="2000" dirty="0">
                <a:solidFill>
                  <a:schemeClr val="dk1"/>
                </a:solidFill>
                <a:latin typeface="Corbel"/>
                <a:ea typeface="Corbel"/>
                <a:cs typeface="Corbel"/>
                <a:sym typeface="Corbel"/>
              </a:rPr>
              <a:t>The adjusted R-squared value of 0.762 indicates that approximately 76% of the variance in life expectancy is explained by the predictors in the model. </a:t>
            </a:r>
            <a:endParaRPr sz="2000" dirty="0">
              <a:solidFill>
                <a:schemeClr val="dk1"/>
              </a:solidFill>
              <a:latin typeface="Corbel"/>
              <a:ea typeface="Corbel"/>
              <a:cs typeface="Corbel"/>
              <a:sym typeface="Corbel"/>
            </a:endParaRPr>
          </a:p>
          <a:p>
            <a:pPr marL="0" marR="0" lvl="0" indent="0" algn="l" rtl="0">
              <a:spcBef>
                <a:spcPts val="0"/>
              </a:spcBef>
              <a:spcAft>
                <a:spcPts val="0"/>
              </a:spcAft>
              <a:buClr>
                <a:schemeClr val="dk1"/>
              </a:buClr>
              <a:buSzPts val="1800"/>
              <a:buFont typeface="Arial"/>
              <a:buNone/>
            </a:pPr>
            <a:endParaRPr sz="1800" dirty="0">
              <a:solidFill>
                <a:schemeClr val="dk1"/>
              </a:solidFill>
              <a:latin typeface="Corbel"/>
              <a:ea typeface="Corbel"/>
              <a:cs typeface="Corbel"/>
              <a:sym typeface="Corbel"/>
            </a:endParaRPr>
          </a:p>
          <a:p>
            <a:pPr marL="0" marR="0" lvl="0" indent="0" algn="l" rtl="0">
              <a:spcBef>
                <a:spcPts val="0"/>
              </a:spcBef>
              <a:spcAft>
                <a:spcPts val="0"/>
              </a:spcAft>
              <a:buClr>
                <a:schemeClr val="dk1"/>
              </a:buClr>
              <a:buSzPts val="1800"/>
              <a:buFont typeface="Arial"/>
              <a:buNone/>
            </a:pPr>
            <a:endParaRPr sz="1800" dirty="0">
              <a:solidFill>
                <a:schemeClr val="dk1"/>
              </a:solidFill>
              <a:latin typeface="Corbel"/>
              <a:ea typeface="Corbel"/>
              <a:cs typeface="Corbel"/>
              <a:sym typeface="Corbel"/>
            </a:endParaRPr>
          </a:p>
          <a:p>
            <a:pPr marL="0" marR="0" lvl="0" indent="0" algn="l" rtl="0">
              <a:spcBef>
                <a:spcPts val="0"/>
              </a:spcBef>
              <a:spcAft>
                <a:spcPts val="0"/>
              </a:spcAft>
              <a:buClr>
                <a:schemeClr val="dk1"/>
              </a:buClr>
              <a:buSzPts val="1800"/>
              <a:buFont typeface="Arial"/>
              <a:buNone/>
            </a:pPr>
            <a:endParaRPr sz="1800" dirty="0">
              <a:solidFill>
                <a:schemeClr val="dk1"/>
              </a:solidFill>
              <a:latin typeface="Corbel"/>
              <a:ea typeface="Corbel"/>
              <a:cs typeface="Corbel"/>
              <a:sym typeface="Corbel"/>
            </a:endParaRPr>
          </a:p>
          <a:p>
            <a:pPr marL="285750" marR="0" lvl="0" indent="-171450" algn="l" rtl="0">
              <a:spcBef>
                <a:spcPts val="360"/>
              </a:spcBef>
              <a:spcAft>
                <a:spcPts val="0"/>
              </a:spcAft>
              <a:buClr>
                <a:schemeClr val="dk1"/>
              </a:buClr>
              <a:buSzPts val="1800"/>
              <a:buFont typeface="Arial"/>
              <a:buNone/>
            </a:pPr>
            <a:endParaRPr sz="1800" dirty="0">
              <a:solidFill>
                <a:schemeClr val="dk1"/>
              </a:solidFill>
              <a:latin typeface="Corbel"/>
              <a:ea typeface="Corbel"/>
              <a:cs typeface="Corbel"/>
              <a:sym typeface="Corbe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pic>
        <p:nvPicPr>
          <p:cNvPr id="202" name="Google Shape;202;p31" descr="A computer screen shot of a number&#10;&#10;Description automatically generated"/>
          <p:cNvPicPr preferRelativeResize="0"/>
          <p:nvPr/>
        </p:nvPicPr>
        <p:blipFill rotWithShape="1">
          <a:blip r:embed="rId3">
            <a:alphaModFix/>
          </a:blip>
          <a:srcRect/>
          <a:stretch/>
        </p:blipFill>
        <p:spPr>
          <a:xfrm>
            <a:off x="2128838" y="1423988"/>
            <a:ext cx="7924800" cy="1885950"/>
          </a:xfrm>
          <a:prstGeom prst="rect">
            <a:avLst/>
          </a:prstGeom>
          <a:noFill/>
          <a:ln>
            <a:noFill/>
          </a:ln>
        </p:spPr>
      </p:pic>
      <p:pic>
        <p:nvPicPr>
          <p:cNvPr id="203" name="Google Shape;203;p31" descr="A white background with black text&#10;&#10;Description automatically generated"/>
          <p:cNvPicPr preferRelativeResize="0"/>
          <p:nvPr/>
        </p:nvPicPr>
        <p:blipFill rotWithShape="1">
          <a:blip r:embed="rId4">
            <a:alphaModFix/>
          </a:blip>
          <a:srcRect/>
          <a:stretch/>
        </p:blipFill>
        <p:spPr>
          <a:xfrm>
            <a:off x="2128838" y="4610100"/>
            <a:ext cx="8124825" cy="1847850"/>
          </a:xfrm>
          <a:prstGeom prst="rect">
            <a:avLst/>
          </a:prstGeom>
          <a:noFill/>
          <a:ln>
            <a:noFill/>
          </a:ln>
        </p:spPr>
      </p:pic>
      <p:sp>
        <p:nvSpPr>
          <p:cNvPr id="204" name="Google Shape;204;p31"/>
          <p:cNvSpPr txBox="1"/>
          <p:nvPr/>
        </p:nvSpPr>
        <p:spPr>
          <a:xfrm>
            <a:off x="2128021" y="462064"/>
            <a:ext cx="5219208" cy="935641"/>
          </a:xfrm>
          <a:prstGeom prst="rect">
            <a:avLst/>
          </a:prstGeom>
          <a:noFill/>
          <a:ln>
            <a:noFill/>
          </a:ln>
        </p:spPr>
        <p:txBody>
          <a:bodyPr spcFirstLastPara="1" wrap="square" lIns="91425" tIns="45700" rIns="91425" bIns="45700" anchor="t" anchorCtr="0">
            <a:spAutoFit/>
          </a:bodyPr>
          <a:lstStyle/>
          <a:p>
            <a:pPr marL="0" marR="0" lvl="0" indent="0" algn="l" rtl="0">
              <a:lnSpc>
                <a:spcPct val="90000"/>
              </a:lnSpc>
              <a:spcBef>
                <a:spcPts val="0"/>
              </a:spcBef>
              <a:spcAft>
                <a:spcPts val="0"/>
              </a:spcAft>
              <a:buNone/>
            </a:pPr>
            <a:endParaRPr sz="1600">
              <a:solidFill>
                <a:schemeClr val="dk1"/>
              </a:solidFill>
              <a:latin typeface="Corbel"/>
              <a:ea typeface="Corbel"/>
              <a:cs typeface="Corbel"/>
              <a:sym typeface="Corbel"/>
            </a:endParaRPr>
          </a:p>
          <a:p>
            <a:pPr marL="0" marR="0" lvl="0" indent="0" algn="l" rtl="0">
              <a:lnSpc>
                <a:spcPct val="90000"/>
              </a:lnSpc>
              <a:spcBef>
                <a:spcPts val="600"/>
              </a:spcBef>
              <a:spcAft>
                <a:spcPts val="0"/>
              </a:spcAft>
              <a:buNone/>
            </a:pPr>
            <a:r>
              <a:rPr lang="en-US" sz="1600">
                <a:solidFill>
                  <a:schemeClr val="dk1"/>
                </a:solidFill>
                <a:latin typeface="Corbel"/>
                <a:ea typeface="Corbel"/>
                <a:cs typeface="Corbel"/>
                <a:sym typeface="Corbel"/>
              </a:rPr>
              <a:t>The vif values before removing values that are above  10</a:t>
            </a:r>
            <a:endParaRPr/>
          </a:p>
          <a:p>
            <a:pPr marL="0" marR="0" lvl="0" indent="0" algn="l" rtl="0">
              <a:spcBef>
                <a:spcPts val="600"/>
              </a:spcBef>
              <a:spcAft>
                <a:spcPts val="0"/>
              </a:spcAft>
              <a:buNone/>
            </a:pPr>
            <a:endParaRPr sz="1600">
              <a:solidFill>
                <a:schemeClr val="dk1"/>
              </a:solidFill>
              <a:latin typeface="Corbel"/>
              <a:ea typeface="Corbel"/>
              <a:cs typeface="Corbel"/>
              <a:sym typeface="Corbel"/>
            </a:endParaRPr>
          </a:p>
        </p:txBody>
      </p:sp>
      <p:sp>
        <p:nvSpPr>
          <p:cNvPr id="205" name="Google Shape;205;p31"/>
          <p:cNvSpPr txBox="1"/>
          <p:nvPr/>
        </p:nvSpPr>
        <p:spPr>
          <a:xfrm>
            <a:off x="2061346" y="3786289"/>
            <a:ext cx="4847733" cy="935641"/>
          </a:xfrm>
          <a:prstGeom prst="rect">
            <a:avLst/>
          </a:prstGeom>
          <a:noFill/>
          <a:ln>
            <a:noFill/>
          </a:ln>
        </p:spPr>
        <p:txBody>
          <a:bodyPr spcFirstLastPara="1" wrap="square" lIns="91425" tIns="45700" rIns="91425" bIns="45700" anchor="t" anchorCtr="0">
            <a:spAutoFit/>
          </a:bodyPr>
          <a:lstStyle/>
          <a:p>
            <a:pPr marL="0" marR="0" lvl="0" indent="0" algn="l" rtl="0">
              <a:lnSpc>
                <a:spcPct val="90000"/>
              </a:lnSpc>
              <a:spcBef>
                <a:spcPts val="0"/>
              </a:spcBef>
              <a:spcAft>
                <a:spcPts val="0"/>
              </a:spcAft>
              <a:buNone/>
            </a:pPr>
            <a:endParaRPr sz="1600">
              <a:solidFill>
                <a:schemeClr val="dk1"/>
              </a:solidFill>
              <a:latin typeface="Corbel"/>
              <a:ea typeface="Corbel"/>
              <a:cs typeface="Corbel"/>
              <a:sym typeface="Corbel"/>
            </a:endParaRPr>
          </a:p>
          <a:p>
            <a:pPr marL="0" marR="0" lvl="0" indent="0" algn="l" rtl="0">
              <a:lnSpc>
                <a:spcPct val="90000"/>
              </a:lnSpc>
              <a:spcBef>
                <a:spcPts val="600"/>
              </a:spcBef>
              <a:spcAft>
                <a:spcPts val="0"/>
              </a:spcAft>
              <a:buNone/>
            </a:pPr>
            <a:r>
              <a:rPr lang="en-US" sz="1600">
                <a:solidFill>
                  <a:schemeClr val="dk1"/>
                </a:solidFill>
                <a:latin typeface="Corbel"/>
                <a:ea typeface="Corbel"/>
                <a:cs typeface="Corbel"/>
                <a:sym typeface="Corbel"/>
              </a:rPr>
              <a:t>The vif values after removing values that are above  10</a:t>
            </a:r>
            <a:endParaRPr/>
          </a:p>
          <a:p>
            <a:pPr marL="0" marR="0" lvl="0" indent="0" algn="l" rtl="0">
              <a:spcBef>
                <a:spcPts val="600"/>
              </a:spcBef>
              <a:spcAft>
                <a:spcPts val="0"/>
              </a:spcAft>
              <a:buNone/>
            </a:pPr>
            <a:endParaRPr sz="1600">
              <a:solidFill>
                <a:schemeClr val="dk1"/>
              </a:solidFill>
              <a:latin typeface="Corbel"/>
              <a:ea typeface="Corbel"/>
              <a:cs typeface="Corbel"/>
              <a:sym typeface="Corbe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32"/>
          <p:cNvSpPr txBox="1"/>
          <p:nvPr/>
        </p:nvSpPr>
        <p:spPr>
          <a:xfrm>
            <a:off x="1554163" y="384175"/>
            <a:ext cx="10515600" cy="1325563"/>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4400"/>
              <a:buFont typeface="Corbel"/>
              <a:buNone/>
            </a:pPr>
            <a:r>
              <a:rPr lang="en-US" sz="4400">
                <a:solidFill>
                  <a:schemeClr val="dk1"/>
                </a:solidFill>
                <a:latin typeface="Corbel"/>
                <a:ea typeface="Corbel"/>
                <a:cs typeface="Corbel"/>
                <a:sym typeface="Corbel"/>
              </a:rPr>
              <a:t>Step Wise Regression</a:t>
            </a:r>
            <a:endParaRPr/>
          </a:p>
        </p:txBody>
      </p:sp>
      <p:pic>
        <p:nvPicPr>
          <p:cNvPr id="211" name="Google Shape;211;p32" descr="A screenshot of a computer&#10;&#10;Description automatically generated"/>
          <p:cNvPicPr preferRelativeResize="0"/>
          <p:nvPr/>
        </p:nvPicPr>
        <p:blipFill rotWithShape="1">
          <a:blip r:embed="rId3">
            <a:alphaModFix/>
          </a:blip>
          <a:srcRect/>
          <a:stretch/>
        </p:blipFill>
        <p:spPr>
          <a:xfrm>
            <a:off x="2454531" y="2217942"/>
            <a:ext cx="7639050" cy="4105275"/>
          </a:xfrm>
          <a:prstGeom prst="rect">
            <a:avLst/>
          </a:prstGeom>
          <a:noFill/>
          <a:ln>
            <a:noFill/>
          </a:ln>
        </p:spPr>
      </p:pic>
      <p:sp>
        <p:nvSpPr>
          <p:cNvPr id="212" name="Google Shape;212;p32"/>
          <p:cNvSpPr txBox="1"/>
          <p:nvPr/>
        </p:nvSpPr>
        <p:spPr>
          <a:xfrm>
            <a:off x="1756527" y="1241174"/>
            <a:ext cx="7639050" cy="83095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dirty="0">
                <a:solidFill>
                  <a:srgbClr val="1F1F1F"/>
                </a:solidFill>
                <a:latin typeface="Corbel"/>
                <a:ea typeface="Corbel"/>
                <a:cs typeface="Corbel"/>
                <a:sym typeface="Corbel"/>
              </a:rPr>
              <a:t>We used a step-by-step process to remove unimportant factors affecting life expectancy. This improved the model's performance. The final model explains 70% of the variation in life expectancy based on the remaining factors.</a:t>
            </a:r>
            <a:endParaRPr sz="1600" dirty="0">
              <a:solidFill>
                <a:schemeClr val="dk1"/>
              </a:solidFill>
              <a:latin typeface="Corbel"/>
              <a:ea typeface="Corbel"/>
              <a:cs typeface="Corbel"/>
              <a:sym typeface="Corbe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33"/>
          <p:cNvSpPr txBox="1"/>
          <p:nvPr/>
        </p:nvSpPr>
        <p:spPr>
          <a:xfrm>
            <a:off x="2144232" y="301255"/>
            <a:ext cx="8470604"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400" b="1">
                <a:solidFill>
                  <a:schemeClr val="dk1"/>
                </a:solidFill>
                <a:latin typeface="Times New Roman"/>
                <a:ea typeface="Times New Roman"/>
                <a:cs typeface="Times New Roman"/>
                <a:sym typeface="Times New Roman"/>
              </a:rPr>
              <a:t>Scatter Plot of Alcohol and Life Expectancy in Oceania</a:t>
            </a:r>
            <a:endParaRPr sz="1800">
              <a:solidFill>
                <a:schemeClr val="dk1"/>
              </a:solidFill>
              <a:latin typeface="Corbel"/>
              <a:ea typeface="Corbel"/>
              <a:cs typeface="Corbel"/>
              <a:sym typeface="Corbel"/>
            </a:endParaRPr>
          </a:p>
        </p:txBody>
      </p:sp>
      <p:sp>
        <p:nvSpPr>
          <p:cNvPr id="218" name="Google Shape;218;p33"/>
          <p:cNvSpPr txBox="1"/>
          <p:nvPr/>
        </p:nvSpPr>
        <p:spPr>
          <a:xfrm>
            <a:off x="357762" y="1594883"/>
            <a:ext cx="5493488" cy="418576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400">
                <a:solidFill>
                  <a:srgbClr val="1F1F1F"/>
                </a:solidFill>
                <a:latin typeface="Times New Roman"/>
                <a:ea typeface="Times New Roman"/>
                <a:cs typeface="Times New Roman"/>
                <a:sym typeface="Times New Roman"/>
              </a:rPr>
              <a:t>Each data point represents a country in Oceania.</a:t>
            </a:r>
            <a:endParaRPr sz="140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r>
              <a:rPr lang="en-US" sz="1400" b="1">
                <a:solidFill>
                  <a:srgbClr val="1F1F1F"/>
                </a:solidFill>
                <a:latin typeface="Times New Roman"/>
                <a:ea typeface="Times New Roman"/>
                <a:cs typeface="Times New Roman"/>
                <a:sym typeface="Times New Roman"/>
              </a:rPr>
              <a:t>General trend:</a:t>
            </a:r>
            <a:r>
              <a:rPr lang="en-US" sz="1400">
                <a:solidFill>
                  <a:srgbClr val="1F1F1F"/>
                </a:solidFill>
                <a:latin typeface="Times New Roman"/>
                <a:ea typeface="Times New Roman"/>
                <a:cs typeface="Times New Roman"/>
                <a:sym typeface="Times New Roman"/>
              </a:rPr>
              <a:t> There appears to be a negative correlation between alcohol consumption and life expectancy. This means that countries with higher alcohol consumption tend to have lower life expectancy.</a:t>
            </a:r>
            <a:endParaRPr sz="1400">
              <a:solidFill>
                <a:srgbClr val="000000"/>
              </a:solidFill>
              <a:latin typeface="Times New Roman"/>
              <a:ea typeface="Times New Roman"/>
              <a:cs typeface="Times New Roman"/>
              <a:sym typeface="Times New Roman"/>
            </a:endParaRPr>
          </a:p>
          <a:p>
            <a:pPr marL="0" marR="0" lvl="0" indent="0" algn="just" rtl="0">
              <a:spcBef>
                <a:spcPts val="0"/>
              </a:spcBef>
              <a:spcAft>
                <a:spcPts val="0"/>
              </a:spcAft>
              <a:buNone/>
            </a:pPr>
            <a:r>
              <a:rPr lang="en-US" sz="1400" b="1">
                <a:solidFill>
                  <a:srgbClr val="1F1F1F"/>
                </a:solidFill>
                <a:latin typeface="Times New Roman"/>
                <a:ea typeface="Times New Roman"/>
                <a:cs typeface="Times New Roman"/>
                <a:sym typeface="Times New Roman"/>
              </a:rPr>
              <a:t>Data points:</a:t>
            </a:r>
            <a:endParaRPr sz="1400">
              <a:solidFill>
                <a:srgbClr val="000000"/>
              </a:solidFill>
              <a:latin typeface="Times New Roman"/>
              <a:ea typeface="Times New Roman"/>
              <a:cs typeface="Times New Roman"/>
              <a:sym typeface="Times New Roman"/>
            </a:endParaRPr>
          </a:p>
          <a:p>
            <a:pPr marL="285750" marR="0" lvl="0" indent="-285750" algn="just" rtl="0">
              <a:spcBef>
                <a:spcPts val="0"/>
              </a:spcBef>
              <a:spcAft>
                <a:spcPts val="0"/>
              </a:spcAft>
              <a:buClr>
                <a:srgbClr val="1F1F1F"/>
              </a:buClr>
              <a:buSzPts val="1400"/>
              <a:buFont typeface="Arial"/>
              <a:buChar char="•"/>
            </a:pPr>
            <a:r>
              <a:rPr lang="en-US" sz="1400">
                <a:solidFill>
                  <a:srgbClr val="1F1F1F"/>
                </a:solidFill>
                <a:latin typeface="Times New Roman"/>
                <a:ea typeface="Times New Roman"/>
                <a:cs typeface="Times New Roman"/>
                <a:sym typeface="Times New Roman"/>
              </a:rPr>
              <a:t>Nauru has the highest alcohol consumption (around 6 liters per year) and the lowest life expectancy (around 60 years).</a:t>
            </a:r>
            <a:endParaRPr sz="1400">
              <a:solidFill>
                <a:srgbClr val="000000"/>
              </a:solidFill>
              <a:latin typeface="Times New Roman"/>
              <a:ea typeface="Times New Roman"/>
              <a:cs typeface="Times New Roman"/>
              <a:sym typeface="Times New Roman"/>
            </a:endParaRPr>
          </a:p>
          <a:p>
            <a:pPr marL="285750" marR="0" lvl="0" indent="-285750" algn="just" rtl="0">
              <a:spcBef>
                <a:spcPts val="0"/>
              </a:spcBef>
              <a:spcAft>
                <a:spcPts val="0"/>
              </a:spcAft>
              <a:buClr>
                <a:srgbClr val="1F1F1F"/>
              </a:buClr>
              <a:buSzPts val="1400"/>
              <a:buFont typeface="Arial"/>
              <a:buChar char="•"/>
            </a:pPr>
            <a:r>
              <a:rPr lang="en-US" sz="1400">
                <a:solidFill>
                  <a:srgbClr val="1F1F1F"/>
                </a:solidFill>
                <a:latin typeface="Times New Roman"/>
                <a:ea typeface="Times New Roman"/>
                <a:cs typeface="Times New Roman"/>
                <a:sym typeface="Times New Roman"/>
              </a:rPr>
              <a:t>Australia and New Zealand have a lower alcohol consumption (around 3 liters per year) and a higher life expectancy (around 80 years).</a:t>
            </a:r>
            <a:endParaRPr sz="1400">
              <a:solidFill>
                <a:srgbClr val="000000"/>
              </a:solidFill>
              <a:latin typeface="Times New Roman"/>
              <a:ea typeface="Times New Roman"/>
              <a:cs typeface="Times New Roman"/>
              <a:sym typeface="Times New Roman"/>
            </a:endParaRPr>
          </a:p>
          <a:p>
            <a:pPr marL="0" marR="0" lvl="0" indent="0" algn="just" rtl="0">
              <a:spcBef>
                <a:spcPts val="0"/>
              </a:spcBef>
              <a:spcAft>
                <a:spcPts val="0"/>
              </a:spcAft>
              <a:buNone/>
            </a:pPr>
            <a:r>
              <a:rPr lang="en-US" sz="1400">
                <a:solidFill>
                  <a:srgbClr val="1F1F1F"/>
                </a:solidFill>
                <a:latin typeface="Times New Roman"/>
                <a:ea typeface="Times New Roman"/>
                <a:cs typeface="Times New Roman"/>
                <a:sym typeface="Times New Roman"/>
              </a:rPr>
              <a:t>This graph only shows an association between the two variables. Other factors, such as smoking, diet, and access to healthcare, can also influence life expectancy. The data points represent averages for each country. Individual variations within each country would not be captured in this graph. Overall, this graph suggests that there might be a link between higher alcohol consumption and lower life expectancy in Oceania. However, it is important to consider other factors that can influence life expectancy.</a:t>
            </a:r>
            <a:endParaRPr sz="140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endParaRPr sz="1400">
              <a:solidFill>
                <a:schemeClr val="dk1"/>
              </a:solidFill>
              <a:latin typeface="Times New Roman"/>
              <a:ea typeface="Times New Roman"/>
              <a:cs typeface="Times New Roman"/>
              <a:sym typeface="Times New Roman"/>
            </a:endParaRPr>
          </a:p>
        </p:txBody>
      </p:sp>
      <p:pic>
        <p:nvPicPr>
          <p:cNvPr id="219" name="Google Shape;219;p33"/>
          <p:cNvPicPr preferRelativeResize="0"/>
          <p:nvPr/>
        </p:nvPicPr>
        <p:blipFill>
          <a:blip r:embed="rId3">
            <a:alphaModFix/>
          </a:blip>
          <a:stretch>
            <a:fillRect/>
          </a:stretch>
        </p:blipFill>
        <p:spPr>
          <a:xfrm>
            <a:off x="6003650" y="991976"/>
            <a:ext cx="5829300" cy="42952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pic>
        <p:nvPicPr>
          <p:cNvPr id="224" name="Google Shape;224;p34" descr="A screenshot of a computer&#10;&#10;Description automatically generated"/>
          <p:cNvPicPr preferRelativeResize="0"/>
          <p:nvPr/>
        </p:nvPicPr>
        <p:blipFill rotWithShape="1">
          <a:blip r:embed="rId3">
            <a:alphaModFix/>
          </a:blip>
          <a:srcRect/>
          <a:stretch/>
        </p:blipFill>
        <p:spPr>
          <a:xfrm>
            <a:off x="71887" y="1216170"/>
            <a:ext cx="6254149" cy="5345809"/>
          </a:xfrm>
          <a:prstGeom prst="rect">
            <a:avLst/>
          </a:prstGeom>
          <a:noFill/>
          <a:ln>
            <a:noFill/>
          </a:ln>
        </p:spPr>
      </p:pic>
      <p:pic>
        <p:nvPicPr>
          <p:cNvPr id="225" name="Google Shape;225;p34"/>
          <p:cNvPicPr preferRelativeResize="0"/>
          <p:nvPr/>
        </p:nvPicPr>
        <p:blipFill rotWithShape="1">
          <a:blip r:embed="rId4">
            <a:alphaModFix/>
          </a:blip>
          <a:srcRect/>
          <a:stretch/>
        </p:blipFill>
        <p:spPr>
          <a:xfrm>
            <a:off x="6329990" y="1221896"/>
            <a:ext cx="5599263" cy="5334359"/>
          </a:xfrm>
          <a:prstGeom prst="rect">
            <a:avLst/>
          </a:prstGeom>
          <a:noFill/>
          <a:ln>
            <a:noFill/>
          </a:ln>
        </p:spPr>
      </p:pic>
      <p:sp>
        <p:nvSpPr>
          <p:cNvPr id="226" name="Google Shape;226;p34"/>
          <p:cNvSpPr txBox="1"/>
          <p:nvPr/>
        </p:nvSpPr>
        <p:spPr>
          <a:xfrm>
            <a:off x="301256" y="372139"/>
            <a:ext cx="10987310"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dirty="0">
                <a:solidFill>
                  <a:schemeClr val="dk1"/>
                </a:solidFill>
                <a:latin typeface="Times New Roman"/>
                <a:ea typeface="Times New Roman"/>
                <a:cs typeface="Times New Roman"/>
                <a:sym typeface="Times New Roman"/>
              </a:rPr>
              <a:t>Correlation Matrix</a:t>
            </a:r>
            <a:endParaRPr sz="1800" dirty="0">
              <a:solidFill>
                <a:schemeClr val="dk1"/>
              </a:solidFill>
              <a:latin typeface="Corbel"/>
              <a:ea typeface="Corbel"/>
              <a:cs typeface="Corbel"/>
              <a:sym typeface="Corbe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35"/>
          <p:cNvSpPr txBox="1"/>
          <p:nvPr/>
        </p:nvSpPr>
        <p:spPr>
          <a:xfrm>
            <a:off x="1699800" y="1674389"/>
            <a:ext cx="8792400" cy="4185721"/>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800" dirty="0">
                <a:solidFill>
                  <a:srgbClr val="1F1F1F"/>
                </a:solidFill>
                <a:latin typeface="Times New Roman"/>
                <a:ea typeface="Times New Roman"/>
                <a:cs typeface="Times New Roman"/>
                <a:sym typeface="Times New Roman"/>
              </a:rPr>
              <a:t>The correlation matrix in the previous slide shows the relationship between various health and economic factors.</a:t>
            </a:r>
            <a:endParaRPr sz="1800"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r>
              <a:rPr lang="en-US" sz="1800" dirty="0">
                <a:solidFill>
                  <a:srgbClr val="1F1F1F"/>
                </a:solidFill>
                <a:latin typeface="Times New Roman"/>
                <a:ea typeface="Times New Roman"/>
                <a:cs typeface="Times New Roman"/>
                <a:sym typeface="Times New Roman"/>
              </a:rPr>
              <a:t>Each cell contains a correlation coefficient, which is a number between -1 and 1. A coefficient of 1 indicates a perfect positive correlation, 0 indicates no correlation, and -1 indicates a perfect negative correlation.</a:t>
            </a:r>
          </a:p>
          <a:p>
            <a:pPr marL="0" marR="0" lvl="0" indent="0" algn="just" rtl="0">
              <a:spcBef>
                <a:spcPts val="0"/>
              </a:spcBef>
              <a:spcAft>
                <a:spcPts val="0"/>
              </a:spcAft>
              <a:buNone/>
            </a:pPr>
            <a:endParaRPr sz="1800"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r>
              <a:rPr lang="en-US" sz="1800" dirty="0">
                <a:solidFill>
                  <a:srgbClr val="1F1F1F"/>
                </a:solidFill>
                <a:latin typeface="Times New Roman"/>
                <a:ea typeface="Times New Roman"/>
                <a:cs typeface="Times New Roman"/>
                <a:sym typeface="Times New Roman"/>
              </a:rPr>
              <a:t>Here are some examples of what the values in the table might indicate:</a:t>
            </a:r>
            <a:endParaRPr sz="1800" dirty="0">
              <a:solidFill>
                <a:schemeClr val="dk1"/>
              </a:solidFill>
              <a:latin typeface="Times New Roman"/>
              <a:ea typeface="Times New Roman"/>
              <a:cs typeface="Times New Roman"/>
              <a:sym typeface="Times New Roman"/>
            </a:endParaRPr>
          </a:p>
          <a:p>
            <a:pPr marL="285750" marR="0" lvl="0" indent="-298450" algn="just" rtl="0">
              <a:spcBef>
                <a:spcPts val="0"/>
              </a:spcBef>
              <a:spcAft>
                <a:spcPts val="0"/>
              </a:spcAft>
              <a:buClr>
                <a:srgbClr val="1F1F1F"/>
              </a:buClr>
              <a:buSzPts val="1800"/>
              <a:buFont typeface="Arial"/>
              <a:buChar char="•"/>
            </a:pPr>
            <a:r>
              <a:rPr lang="en-US" sz="1800" dirty="0">
                <a:solidFill>
                  <a:srgbClr val="1F1F1F"/>
                </a:solidFill>
                <a:latin typeface="Times New Roman"/>
                <a:ea typeface="Times New Roman"/>
                <a:cs typeface="Times New Roman"/>
                <a:sym typeface="Times New Roman"/>
              </a:rPr>
              <a:t>A correlation coefficient of 0.78 between "Life expectancy" and "Alcohol consumption" suggests a positive correlation. This means that as life expectancy increases, alcohol consumption also tends to increase.</a:t>
            </a:r>
            <a:endParaRPr sz="1800" dirty="0">
              <a:solidFill>
                <a:schemeClr val="dk1"/>
              </a:solidFill>
              <a:latin typeface="Times New Roman"/>
              <a:ea typeface="Times New Roman"/>
              <a:cs typeface="Times New Roman"/>
              <a:sym typeface="Times New Roman"/>
            </a:endParaRPr>
          </a:p>
          <a:p>
            <a:pPr marL="285750" marR="0" lvl="0" indent="-298450" algn="just" rtl="0">
              <a:spcBef>
                <a:spcPts val="0"/>
              </a:spcBef>
              <a:spcAft>
                <a:spcPts val="0"/>
              </a:spcAft>
              <a:buClr>
                <a:srgbClr val="1F1F1F"/>
              </a:buClr>
              <a:buSzPts val="1800"/>
              <a:buFont typeface="Arial"/>
              <a:buChar char="•"/>
            </a:pPr>
            <a:r>
              <a:rPr lang="en-US" sz="1800" dirty="0">
                <a:solidFill>
                  <a:srgbClr val="1F1F1F"/>
                </a:solidFill>
                <a:latin typeface="Times New Roman"/>
                <a:ea typeface="Times New Roman"/>
                <a:cs typeface="Times New Roman"/>
                <a:sym typeface="Times New Roman"/>
              </a:rPr>
              <a:t>A correlation coefficient of -0.46 between "Life expectancy" and "Adult Mortality" indicates a negative correlation. This means that as life expectancy increases, adult mortality tends to decrease.</a:t>
            </a:r>
            <a:endParaRPr sz="1800" dirty="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endParaRPr sz="1600"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endParaRPr sz="1600" dirty="0">
              <a:solidFill>
                <a:schemeClr val="dk1"/>
              </a:solidFill>
              <a:latin typeface="Corbel"/>
              <a:ea typeface="Corbel"/>
              <a:cs typeface="Corbel"/>
              <a:sym typeface="Corbel"/>
            </a:endParaRPr>
          </a:p>
        </p:txBody>
      </p:sp>
      <p:sp>
        <p:nvSpPr>
          <p:cNvPr id="2" name="Google Shape;226;p34">
            <a:extLst>
              <a:ext uri="{FF2B5EF4-FFF2-40B4-BE49-F238E27FC236}">
                <a16:creationId xmlns:a16="http://schemas.microsoft.com/office/drawing/2014/main" id="{47FF46C0-750A-CB17-A216-A1F0C20E6BA2}"/>
              </a:ext>
            </a:extLst>
          </p:cNvPr>
          <p:cNvSpPr txBox="1"/>
          <p:nvPr/>
        </p:nvSpPr>
        <p:spPr>
          <a:xfrm>
            <a:off x="301256" y="372139"/>
            <a:ext cx="10987310"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dirty="0">
                <a:solidFill>
                  <a:schemeClr val="dk1"/>
                </a:solidFill>
                <a:latin typeface="Times New Roman"/>
                <a:ea typeface="Times New Roman"/>
                <a:cs typeface="Times New Roman"/>
                <a:sym typeface="Times New Roman"/>
              </a:rPr>
              <a:t>Correlation Matrix</a:t>
            </a:r>
            <a:endParaRPr sz="1800" dirty="0">
              <a:solidFill>
                <a:schemeClr val="dk1"/>
              </a:solidFill>
              <a:latin typeface="Corbel"/>
              <a:ea typeface="Corbel"/>
              <a:cs typeface="Corbel"/>
              <a:sym typeface="Corbe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pic>
        <p:nvPicPr>
          <p:cNvPr id="236" name="Google Shape;236;p36" descr="A screenshot of a computer&#10;&#10;Description automatically generated"/>
          <p:cNvPicPr preferRelativeResize="0"/>
          <p:nvPr/>
        </p:nvPicPr>
        <p:blipFill rotWithShape="1">
          <a:blip r:embed="rId3">
            <a:alphaModFix/>
          </a:blip>
          <a:srcRect/>
          <a:stretch/>
        </p:blipFill>
        <p:spPr>
          <a:xfrm>
            <a:off x="5819497" y="983412"/>
            <a:ext cx="6375836" cy="5509402"/>
          </a:xfrm>
          <a:prstGeom prst="rect">
            <a:avLst/>
          </a:prstGeom>
          <a:noFill/>
          <a:ln>
            <a:noFill/>
          </a:ln>
        </p:spPr>
      </p:pic>
      <p:sp>
        <p:nvSpPr>
          <p:cNvPr id="237" name="Google Shape;237;p36"/>
          <p:cNvSpPr txBox="1"/>
          <p:nvPr/>
        </p:nvSpPr>
        <p:spPr>
          <a:xfrm>
            <a:off x="1630325" y="336698"/>
            <a:ext cx="7885800" cy="5850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a:solidFill>
                  <a:schemeClr val="dk1"/>
                </a:solidFill>
                <a:latin typeface="Times New Roman"/>
                <a:ea typeface="Times New Roman"/>
                <a:cs typeface="Times New Roman"/>
                <a:sym typeface="Times New Roman"/>
              </a:rPr>
              <a:t>Linear Regression Model Summary</a:t>
            </a:r>
            <a:endParaRPr sz="1800">
              <a:solidFill>
                <a:schemeClr val="dk1"/>
              </a:solidFill>
              <a:latin typeface="Corbel"/>
              <a:ea typeface="Corbel"/>
              <a:cs typeface="Corbel"/>
              <a:sym typeface="Corbel"/>
            </a:endParaRPr>
          </a:p>
        </p:txBody>
      </p:sp>
      <p:sp>
        <p:nvSpPr>
          <p:cNvPr id="238" name="Google Shape;238;p36"/>
          <p:cNvSpPr txBox="1"/>
          <p:nvPr/>
        </p:nvSpPr>
        <p:spPr>
          <a:xfrm>
            <a:off x="1000061" y="981673"/>
            <a:ext cx="4820100" cy="5295000"/>
          </a:xfrm>
          <a:prstGeom prst="rect">
            <a:avLst/>
          </a:prstGeom>
          <a:noFill/>
          <a:ln>
            <a:noFill/>
          </a:ln>
        </p:spPr>
        <p:txBody>
          <a:bodyPr spcFirstLastPara="1" wrap="square" lIns="91425" tIns="45700" rIns="91425" bIns="45700" anchor="t" anchorCtr="0">
            <a:spAutoFit/>
          </a:bodyPr>
          <a:lstStyle/>
          <a:p>
            <a:pPr marL="0" lvl="0" indent="0" algn="just" rtl="0">
              <a:spcBef>
                <a:spcPts val="0"/>
              </a:spcBef>
              <a:spcAft>
                <a:spcPts val="0"/>
              </a:spcAft>
              <a:buClr>
                <a:schemeClr val="dk1"/>
              </a:buClr>
              <a:buSzPts val="1100"/>
              <a:buFont typeface="Arial"/>
              <a:buNone/>
            </a:pPr>
            <a:endParaRPr sz="1300" b="1">
              <a:solidFill>
                <a:srgbClr val="1F1F1F"/>
              </a:solidFill>
              <a:latin typeface="Times New Roman"/>
              <a:ea typeface="Times New Roman"/>
              <a:cs typeface="Times New Roman"/>
              <a:sym typeface="Times New Roman"/>
            </a:endParaRPr>
          </a:p>
          <a:p>
            <a:pPr marL="0" lvl="0" indent="0" algn="just" rtl="0">
              <a:spcBef>
                <a:spcPts val="0"/>
              </a:spcBef>
              <a:spcAft>
                <a:spcPts val="0"/>
              </a:spcAft>
              <a:buClr>
                <a:schemeClr val="dk1"/>
              </a:buClr>
              <a:buSzPts val="1100"/>
              <a:buFont typeface="Arial"/>
              <a:buNone/>
            </a:pPr>
            <a:r>
              <a:rPr lang="en-US" sz="1300">
                <a:solidFill>
                  <a:srgbClr val="0D0D0D"/>
                </a:solidFill>
                <a:highlight>
                  <a:srgbClr val="FFFFFF"/>
                </a:highlight>
                <a:latin typeface="Times New Roman"/>
                <a:ea typeface="Times New Roman"/>
                <a:cs typeface="Times New Roman"/>
                <a:sym typeface="Times New Roman"/>
              </a:rPr>
              <a:t>This linear regression model aims to predict life expectancy based on various predictor variables such as country status (developing or developed), adult mortality rate, infant deaths, alcohol consumption, healthcare indicators (Hepatitis B, measles immunization, polio immunization, diphtheria immunization), economic factors (GDP, income composition of resources), demographic factors (population), and other health-related indicators (BMI, HIV/AIDS prevalence, thinness rates, schooling, total expenditure on health, percentage of GDP expenditure)</a:t>
            </a:r>
            <a:endParaRPr sz="1300">
              <a:solidFill>
                <a:srgbClr val="0D0D0D"/>
              </a:solidFill>
              <a:highlight>
                <a:srgbClr val="FFFFFF"/>
              </a:highlight>
              <a:latin typeface="Times New Roman"/>
              <a:ea typeface="Times New Roman"/>
              <a:cs typeface="Times New Roman"/>
              <a:sym typeface="Times New Roman"/>
            </a:endParaRPr>
          </a:p>
          <a:p>
            <a:pPr marL="0" marR="0" lvl="0" indent="0" algn="just" rtl="0">
              <a:spcBef>
                <a:spcPts val="0"/>
              </a:spcBef>
              <a:spcAft>
                <a:spcPts val="0"/>
              </a:spcAft>
              <a:buNone/>
            </a:pPr>
            <a:r>
              <a:rPr lang="en-US" sz="1300">
                <a:solidFill>
                  <a:srgbClr val="1F1F1F"/>
                </a:solidFill>
                <a:latin typeface="Times New Roman"/>
                <a:ea typeface="Times New Roman"/>
                <a:cs typeface="Times New Roman"/>
                <a:sym typeface="Times New Roman"/>
              </a:rPr>
              <a:t>The coefficient estimates indicate the expected change in life expectancy with a one-unit change in each predictor, holding other variables constant. Significant predictors, with p-values less than 0.05, include alcohol consumption, measles immunization, thinness in children under 5 years, thinness in children aged 5 to 9 years, income composition of resources, and schooling. The R-squared value of 0.8765 suggests that approximately 87.65% of the variance in life expectancy is explained by the model. The residual standard error, around 2.264 years, measures the average deviation of observed values from predicted values. The adjusted R-squared, accounting for the number of predictors, is 0.8528. The F-statistic, with a low p-value (&lt; 2.2e-16), indicates the overall model's statistical significance. Overall, the model provides valuable insights into the factors influencing life expectancy in the Oceania region, highlighting the importance of healthcare, education, and economic stability in determining life expectancy outcomes.</a:t>
            </a:r>
            <a:endParaRPr sz="1300">
              <a:solidFill>
                <a:srgbClr val="1F1F1F"/>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pic>
        <p:nvPicPr>
          <p:cNvPr id="243" name="Google Shape;243;p37" descr="A screenshot of a computer&#10;&#10;Description automatically generated"/>
          <p:cNvPicPr preferRelativeResize="0"/>
          <p:nvPr/>
        </p:nvPicPr>
        <p:blipFill rotWithShape="1">
          <a:blip r:embed="rId3">
            <a:alphaModFix/>
          </a:blip>
          <a:srcRect/>
          <a:stretch/>
        </p:blipFill>
        <p:spPr>
          <a:xfrm>
            <a:off x="6567948" y="1761746"/>
            <a:ext cx="5271077" cy="4550563"/>
          </a:xfrm>
          <a:prstGeom prst="rect">
            <a:avLst/>
          </a:prstGeom>
          <a:noFill/>
          <a:ln>
            <a:noFill/>
          </a:ln>
        </p:spPr>
      </p:pic>
      <p:sp>
        <p:nvSpPr>
          <p:cNvPr id="244" name="Google Shape;244;p37"/>
          <p:cNvSpPr txBox="1"/>
          <p:nvPr/>
        </p:nvSpPr>
        <p:spPr>
          <a:xfrm>
            <a:off x="2108791" y="283534"/>
            <a:ext cx="7673162" cy="5847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a:solidFill>
                  <a:schemeClr val="dk1"/>
                </a:solidFill>
                <a:latin typeface="Times New Roman"/>
                <a:ea typeface="Times New Roman"/>
                <a:cs typeface="Times New Roman"/>
                <a:sym typeface="Times New Roman"/>
              </a:rPr>
              <a:t>Variance Inflation Factor Values</a:t>
            </a:r>
            <a:endParaRPr sz="1800" b="1">
              <a:solidFill>
                <a:schemeClr val="dk1"/>
              </a:solidFill>
              <a:latin typeface="Corbel"/>
              <a:ea typeface="Corbel"/>
              <a:cs typeface="Corbel"/>
              <a:sym typeface="Corbel"/>
            </a:endParaRPr>
          </a:p>
        </p:txBody>
      </p:sp>
      <p:sp>
        <p:nvSpPr>
          <p:cNvPr id="245" name="Google Shape;245;p37"/>
          <p:cNvSpPr txBox="1"/>
          <p:nvPr/>
        </p:nvSpPr>
        <p:spPr>
          <a:xfrm>
            <a:off x="1293627" y="1061250"/>
            <a:ext cx="4657200" cy="6003000"/>
          </a:xfrm>
          <a:prstGeom prst="rect">
            <a:avLst/>
          </a:prstGeom>
          <a:noFill/>
          <a:ln>
            <a:noFill/>
          </a:ln>
        </p:spPr>
        <p:txBody>
          <a:bodyPr spcFirstLastPara="1" wrap="square" lIns="91425" tIns="45700" rIns="91425" bIns="45700" anchor="t" anchorCtr="0">
            <a:spAutoFit/>
          </a:bodyPr>
          <a:lstStyle/>
          <a:p>
            <a:pPr marL="285750" marR="0" lvl="0" indent="-209550" algn="just" rtl="0">
              <a:spcBef>
                <a:spcPts val="0"/>
              </a:spcBef>
              <a:spcAft>
                <a:spcPts val="0"/>
              </a:spcAft>
              <a:buClr>
                <a:schemeClr val="dk1"/>
              </a:buClr>
              <a:buSzPts val="1200"/>
              <a:buFont typeface="Arial"/>
              <a:buNone/>
            </a:pPr>
            <a:endParaRPr sz="1200" b="1" dirty="0">
              <a:solidFill>
                <a:srgbClr val="1F1F1F"/>
              </a:solidFill>
              <a:latin typeface="Times New Roman"/>
              <a:ea typeface="Times New Roman"/>
              <a:cs typeface="Times New Roman"/>
              <a:sym typeface="Times New Roman"/>
            </a:endParaRPr>
          </a:p>
          <a:p>
            <a:pPr marL="285750" marR="0" lvl="0" indent="-209550" algn="just" rtl="0">
              <a:spcBef>
                <a:spcPts val="0"/>
              </a:spcBef>
              <a:spcAft>
                <a:spcPts val="0"/>
              </a:spcAft>
              <a:buClr>
                <a:schemeClr val="dk1"/>
              </a:buClr>
              <a:buSzPts val="1200"/>
              <a:buFont typeface="Arial"/>
              <a:buNone/>
            </a:pPr>
            <a:endParaRPr sz="1200" b="1" dirty="0">
              <a:solidFill>
                <a:srgbClr val="1F1F1F"/>
              </a:solidFill>
              <a:latin typeface="Times New Roman"/>
              <a:ea typeface="Times New Roman"/>
              <a:cs typeface="Times New Roman"/>
              <a:sym typeface="Times New Roman"/>
            </a:endParaRPr>
          </a:p>
          <a:p>
            <a:pPr marL="285750" marR="0" lvl="0" indent="-209550" algn="just" rtl="0">
              <a:spcBef>
                <a:spcPts val="0"/>
              </a:spcBef>
              <a:spcAft>
                <a:spcPts val="0"/>
              </a:spcAft>
              <a:buClr>
                <a:schemeClr val="dk1"/>
              </a:buClr>
              <a:buSzPts val="1200"/>
              <a:buFont typeface="Arial"/>
              <a:buNone/>
            </a:pPr>
            <a:endParaRPr sz="1200" b="1" dirty="0">
              <a:solidFill>
                <a:srgbClr val="1F1F1F"/>
              </a:solidFill>
              <a:latin typeface="Times New Roman"/>
              <a:ea typeface="Times New Roman"/>
              <a:cs typeface="Times New Roman"/>
              <a:sym typeface="Times New Roman"/>
            </a:endParaRPr>
          </a:p>
          <a:p>
            <a:pPr marL="285750" marR="0" lvl="0" indent="-209550" algn="just" rtl="0">
              <a:spcBef>
                <a:spcPts val="0"/>
              </a:spcBef>
              <a:spcAft>
                <a:spcPts val="0"/>
              </a:spcAft>
              <a:buClr>
                <a:schemeClr val="dk1"/>
              </a:buClr>
              <a:buSzPts val="1200"/>
              <a:buFont typeface="Arial"/>
              <a:buNone/>
            </a:pPr>
            <a:endParaRPr sz="1200" b="1" dirty="0">
              <a:solidFill>
                <a:srgbClr val="1F1F1F"/>
              </a:solidFill>
              <a:latin typeface="Times New Roman"/>
              <a:ea typeface="Times New Roman"/>
              <a:cs typeface="Times New Roman"/>
              <a:sym typeface="Times New Roman"/>
            </a:endParaRPr>
          </a:p>
          <a:p>
            <a:pPr marL="285750" marR="0" lvl="0" indent="-285750" algn="just" rtl="0">
              <a:spcBef>
                <a:spcPts val="0"/>
              </a:spcBef>
              <a:spcAft>
                <a:spcPts val="0"/>
              </a:spcAft>
              <a:buClr>
                <a:srgbClr val="1F1F1F"/>
              </a:buClr>
              <a:buSzPts val="1200"/>
              <a:buFont typeface="Arial"/>
              <a:buChar char="•"/>
            </a:pPr>
            <a:r>
              <a:rPr lang="en-US" sz="1200" b="1" dirty="0">
                <a:solidFill>
                  <a:srgbClr val="1F1F1F"/>
                </a:solidFill>
                <a:latin typeface="Times New Roman"/>
                <a:ea typeface="Times New Roman"/>
                <a:cs typeface="Times New Roman"/>
                <a:sym typeface="Times New Roman"/>
              </a:rPr>
              <a:t>Variables:</a:t>
            </a:r>
            <a:r>
              <a:rPr lang="en-US" sz="1200" dirty="0">
                <a:solidFill>
                  <a:srgbClr val="1F1F1F"/>
                </a:solidFill>
                <a:latin typeface="Times New Roman"/>
                <a:ea typeface="Times New Roman"/>
                <a:cs typeface="Times New Roman"/>
                <a:sym typeface="Times New Roman"/>
              </a:rPr>
              <a:t> Each row and column label represents a variable in the dataset. Some of the variables include "</a:t>
            </a:r>
            <a:r>
              <a:rPr lang="en-US" sz="1200" dirty="0" err="1">
                <a:solidFill>
                  <a:srgbClr val="1F1F1F"/>
                </a:solidFill>
                <a:latin typeface="Times New Roman"/>
                <a:ea typeface="Times New Roman"/>
                <a:cs typeface="Times New Roman"/>
                <a:sym typeface="Times New Roman"/>
              </a:rPr>
              <a:t>Adult.Mortality</a:t>
            </a:r>
            <a:r>
              <a:rPr lang="en-US" sz="1200" dirty="0">
                <a:solidFill>
                  <a:srgbClr val="1F1F1F"/>
                </a:solidFill>
                <a:latin typeface="Times New Roman"/>
                <a:ea typeface="Times New Roman"/>
                <a:cs typeface="Times New Roman"/>
                <a:sym typeface="Times New Roman"/>
              </a:rPr>
              <a:t>", "Alcohol", "BMI", "</a:t>
            </a:r>
            <a:r>
              <a:rPr lang="en-US" sz="1200" dirty="0" err="1">
                <a:solidFill>
                  <a:srgbClr val="1F1F1F"/>
                </a:solidFill>
                <a:latin typeface="Times New Roman"/>
                <a:ea typeface="Times New Roman"/>
                <a:cs typeface="Times New Roman"/>
                <a:sym typeface="Times New Roman"/>
              </a:rPr>
              <a:t>Total.expenditure</a:t>
            </a:r>
            <a:r>
              <a:rPr lang="en-US" sz="1200" dirty="0">
                <a:solidFill>
                  <a:srgbClr val="1F1F1F"/>
                </a:solidFill>
                <a:latin typeface="Times New Roman"/>
                <a:ea typeface="Times New Roman"/>
                <a:cs typeface="Times New Roman"/>
                <a:sym typeface="Times New Roman"/>
              </a:rPr>
              <a:t>", and "GDP".</a:t>
            </a:r>
            <a:endParaRPr sz="1200" dirty="0">
              <a:solidFill>
                <a:schemeClr val="dk1"/>
              </a:solidFill>
              <a:latin typeface="Times New Roman"/>
              <a:ea typeface="Times New Roman"/>
              <a:cs typeface="Times New Roman"/>
              <a:sym typeface="Times New Roman"/>
            </a:endParaRPr>
          </a:p>
          <a:p>
            <a:pPr marL="285750" marR="0" lvl="0" indent="-285750" algn="just" rtl="0">
              <a:spcBef>
                <a:spcPts val="0"/>
              </a:spcBef>
              <a:spcAft>
                <a:spcPts val="0"/>
              </a:spcAft>
              <a:buClr>
                <a:srgbClr val="1F1F1F"/>
              </a:buClr>
              <a:buSzPts val="1200"/>
              <a:buFont typeface="Arial"/>
              <a:buChar char="•"/>
            </a:pPr>
            <a:r>
              <a:rPr lang="en-US" sz="1200" b="1" dirty="0">
                <a:solidFill>
                  <a:srgbClr val="1F1F1F"/>
                </a:solidFill>
                <a:latin typeface="Times New Roman"/>
                <a:ea typeface="Times New Roman"/>
                <a:cs typeface="Times New Roman"/>
                <a:sym typeface="Times New Roman"/>
              </a:rPr>
              <a:t>Correlation Coefficients:</a:t>
            </a:r>
            <a:r>
              <a:rPr lang="en-US" sz="1200" dirty="0">
                <a:solidFill>
                  <a:srgbClr val="1F1F1F"/>
                </a:solidFill>
                <a:latin typeface="Times New Roman"/>
                <a:ea typeface="Times New Roman"/>
                <a:cs typeface="Times New Roman"/>
                <a:sym typeface="Times New Roman"/>
              </a:rPr>
              <a:t> The values in the table represent the correlation coefficients between each pair of variables. These coefficients range from -1 to 1.</a:t>
            </a:r>
            <a:endParaRPr sz="1200" dirty="0">
              <a:solidFill>
                <a:schemeClr val="dk1"/>
              </a:solidFill>
              <a:latin typeface="Times New Roman"/>
              <a:ea typeface="Times New Roman"/>
              <a:cs typeface="Times New Roman"/>
              <a:sym typeface="Times New Roman"/>
            </a:endParaRPr>
          </a:p>
          <a:p>
            <a:pPr marL="742950" marR="0" lvl="1" indent="-285750" algn="just" rtl="0">
              <a:spcBef>
                <a:spcPts val="0"/>
              </a:spcBef>
              <a:spcAft>
                <a:spcPts val="0"/>
              </a:spcAft>
              <a:buClr>
                <a:srgbClr val="1F1F1F"/>
              </a:buClr>
              <a:buSzPts val="1200"/>
              <a:buFont typeface="Arial"/>
              <a:buChar char="•"/>
            </a:pPr>
            <a:r>
              <a:rPr lang="en-US" sz="1200" i="0" u="none" strike="noStrike" cap="none" dirty="0">
                <a:solidFill>
                  <a:srgbClr val="1F1F1F"/>
                </a:solidFill>
                <a:latin typeface="Times New Roman"/>
                <a:ea typeface="Times New Roman"/>
                <a:cs typeface="Times New Roman"/>
                <a:sym typeface="Times New Roman"/>
              </a:rPr>
              <a:t>A </a:t>
            </a:r>
            <a:r>
              <a:rPr lang="en-US" sz="1200" b="1" i="0" u="none" strike="noStrike" cap="none" dirty="0">
                <a:solidFill>
                  <a:srgbClr val="1F1F1F"/>
                </a:solidFill>
                <a:latin typeface="Times New Roman"/>
                <a:ea typeface="Times New Roman"/>
                <a:cs typeface="Times New Roman"/>
                <a:sym typeface="Times New Roman"/>
              </a:rPr>
              <a:t>correlation coefficient closer to 1</a:t>
            </a:r>
            <a:r>
              <a:rPr lang="en-US" sz="1200" i="0" u="none" strike="noStrike" cap="none" dirty="0">
                <a:solidFill>
                  <a:srgbClr val="1F1F1F"/>
                </a:solidFill>
                <a:latin typeface="Times New Roman"/>
                <a:ea typeface="Times New Roman"/>
                <a:cs typeface="Times New Roman"/>
                <a:sym typeface="Times New Roman"/>
              </a:rPr>
              <a:t> indicates a </a:t>
            </a:r>
            <a:r>
              <a:rPr lang="en-US" sz="1200" b="1" i="0" u="none" strike="noStrike" cap="none" dirty="0">
                <a:solidFill>
                  <a:srgbClr val="1F1F1F"/>
                </a:solidFill>
                <a:latin typeface="Times New Roman"/>
                <a:ea typeface="Times New Roman"/>
                <a:cs typeface="Times New Roman"/>
                <a:sym typeface="Times New Roman"/>
              </a:rPr>
              <a:t>strong positive correlation</a:t>
            </a:r>
            <a:r>
              <a:rPr lang="en-US" sz="1200" i="0" u="none" strike="noStrike" cap="none" dirty="0">
                <a:solidFill>
                  <a:srgbClr val="1F1F1F"/>
                </a:solidFill>
                <a:latin typeface="Times New Roman"/>
                <a:ea typeface="Times New Roman"/>
                <a:cs typeface="Times New Roman"/>
                <a:sym typeface="Times New Roman"/>
              </a:rPr>
              <a:t>. This means that as the value of one variable increases, the value of the other variable also tends to increase.</a:t>
            </a:r>
            <a:endParaRPr sz="1200" i="0" u="none" strike="noStrike" cap="none" dirty="0">
              <a:solidFill>
                <a:schemeClr val="dk1"/>
              </a:solidFill>
              <a:latin typeface="Times New Roman"/>
              <a:ea typeface="Times New Roman"/>
              <a:cs typeface="Times New Roman"/>
              <a:sym typeface="Times New Roman"/>
            </a:endParaRPr>
          </a:p>
          <a:p>
            <a:pPr marL="742950" marR="0" lvl="1" indent="-285750" algn="just" rtl="0">
              <a:spcBef>
                <a:spcPts val="0"/>
              </a:spcBef>
              <a:spcAft>
                <a:spcPts val="0"/>
              </a:spcAft>
              <a:buClr>
                <a:srgbClr val="1F1F1F"/>
              </a:buClr>
              <a:buSzPts val="1200"/>
              <a:buFont typeface="Arial"/>
              <a:buChar char="•"/>
            </a:pPr>
            <a:r>
              <a:rPr lang="en-US" sz="1200" i="0" u="none" strike="noStrike" cap="none" dirty="0">
                <a:solidFill>
                  <a:srgbClr val="1F1F1F"/>
                </a:solidFill>
                <a:latin typeface="Times New Roman"/>
                <a:ea typeface="Times New Roman"/>
                <a:cs typeface="Times New Roman"/>
                <a:sym typeface="Times New Roman"/>
              </a:rPr>
              <a:t>A </a:t>
            </a:r>
            <a:r>
              <a:rPr lang="en-US" sz="1200" b="1" i="0" u="none" strike="noStrike" cap="none" dirty="0">
                <a:solidFill>
                  <a:srgbClr val="1F1F1F"/>
                </a:solidFill>
                <a:latin typeface="Times New Roman"/>
                <a:ea typeface="Times New Roman"/>
                <a:cs typeface="Times New Roman"/>
                <a:sym typeface="Times New Roman"/>
              </a:rPr>
              <a:t>correlation coefficient closer to -1</a:t>
            </a:r>
            <a:r>
              <a:rPr lang="en-US" sz="1200" i="0" u="none" strike="noStrike" cap="none" dirty="0">
                <a:solidFill>
                  <a:srgbClr val="1F1F1F"/>
                </a:solidFill>
                <a:latin typeface="Times New Roman"/>
                <a:ea typeface="Times New Roman"/>
                <a:cs typeface="Times New Roman"/>
                <a:sym typeface="Times New Roman"/>
              </a:rPr>
              <a:t> indicates a </a:t>
            </a:r>
            <a:r>
              <a:rPr lang="en-US" sz="1200" b="1" i="0" u="none" strike="noStrike" cap="none" dirty="0">
                <a:solidFill>
                  <a:srgbClr val="1F1F1F"/>
                </a:solidFill>
                <a:latin typeface="Times New Roman"/>
                <a:ea typeface="Times New Roman"/>
                <a:cs typeface="Times New Roman"/>
                <a:sym typeface="Times New Roman"/>
              </a:rPr>
              <a:t>strong negative correlation</a:t>
            </a:r>
            <a:r>
              <a:rPr lang="en-US" sz="1200" i="0" u="none" strike="noStrike" cap="none" dirty="0">
                <a:solidFill>
                  <a:srgbClr val="1F1F1F"/>
                </a:solidFill>
                <a:latin typeface="Times New Roman"/>
                <a:ea typeface="Times New Roman"/>
                <a:cs typeface="Times New Roman"/>
                <a:sym typeface="Times New Roman"/>
              </a:rPr>
              <a:t>. This means that as the value of one variable increases, the value of the other variable tends to decrease.</a:t>
            </a:r>
            <a:endParaRPr sz="1200" i="0" u="none" strike="noStrike" cap="none" dirty="0">
              <a:solidFill>
                <a:schemeClr val="dk1"/>
              </a:solidFill>
              <a:latin typeface="Times New Roman"/>
              <a:ea typeface="Times New Roman"/>
              <a:cs typeface="Times New Roman"/>
              <a:sym typeface="Times New Roman"/>
            </a:endParaRPr>
          </a:p>
          <a:p>
            <a:pPr marL="742950" marR="0" lvl="1" indent="-285750" algn="just" rtl="0">
              <a:spcBef>
                <a:spcPts val="0"/>
              </a:spcBef>
              <a:spcAft>
                <a:spcPts val="0"/>
              </a:spcAft>
              <a:buClr>
                <a:srgbClr val="1F1F1F"/>
              </a:buClr>
              <a:buSzPts val="1200"/>
              <a:buFont typeface="Arial"/>
              <a:buChar char="•"/>
            </a:pPr>
            <a:r>
              <a:rPr lang="en-US" sz="1200" i="0" u="none" strike="noStrike" cap="none" dirty="0">
                <a:solidFill>
                  <a:srgbClr val="1F1F1F"/>
                </a:solidFill>
                <a:latin typeface="Times New Roman"/>
                <a:ea typeface="Times New Roman"/>
                <a:cs typeface="Times New Roman"/>
                <a:sym typeface="Times New Roman"/>
              </a:rPr>
              <a:t>A </a:t>
            </a:r>
            <a:r>
              <a:rPr lang="en-US" sz="1200" b="1" i="0" u="none" strike="noStrike" cap="none" dirty="0">
                <a:solidFill>
                  <a:srgbClr val="1F1F1F"/>
                </a:solidFill>
                <a:latin typeface="Times New Roman"/>
                <a:ea typeface="Times New Roman"/>
                <a:cs typeface="Times New Roman"/>
                <a:sym typeface="Times New Roman"/>
              </a:rPr>
              <a:t>correlation coefficient closer to 0</a:t>
            </a:r>
            <a:r>
              <a:rPr lang="en-US" sz="1200" i="0" u="none" strike="noStrike" cap="none" dirty="0">
                <a:solidFill>
                  <a:srgbClr val="1F1F1F"/>
                </a:solidFill>
                <a:latin typeface="Times New Roman"/>
                <a:ea typeface="Times New Roman"/>
                <a:cs typeface="Times New Roman"/>
                <a:sym typeface="Times New Roman"/>
              </a:rPr>
              <a:t> indicates </a:t>
            </a:r>
            <a:r>
              <a:rPr lang="en-US" sz="1200" b="1" i="0" u="none" strike="noStrike" cap="none" dirty="0">
                <a:solidFill>
                  <a:srgbClr val="1F1F1F"/>
                </a:solidFill>
                <a:latin typeface="Times New Roman"/>
                <a:ea typeface="Times New Roman"/>
                <a:cs typeface="Times New Roman"/>
                <a:sym typeface="Times New Roman"/>
              </a:rPr>
              <a:t>weak or no correlation</a:t>
            </a:r>
            <a:r>
              <a:rPr lang="en-US" sz="1200" i="0" u="none" strike="noStrike" cap="none" dirty="0">
                <a:solidFill>
                  <a:srgbClr val="1F1F1F"/>
                </a:solidFill>
                <a:latin typeface="Times New Roman"/>
                <a:ea typeface="Times New Roman"/>
                <a:cs typeface="Times New Roman"/>
                <a:sym typeface="Times New Roman"/>
              </a:rPr>
              <a:t> between the two variables.</a:t>
            </a:r>
            <a:endParaRPr sz="1200" dirty="0">
              <a:solidFill>
                <a:schemeClr val="dk1"/>
              </a:solidFill>
              <a:latin typeface="Times New Roman"/>
              <a:ea typeface="Times New Roman"/>
              <a:cs typeface="Times New Roman"/>
              <a:sym typeface="Times New Roman"/>
            </a:endParaRPr>
          </a:p>
          <a:p>
            <a:pPr marL="742950" marR="0" lvl="1" indent="-285750" algn="just" rtl="0">
              <a:spcBef>
                <a:spcPts val="0"/>
              </a:spcBef>
              <a:spcAft>
                <a:spcPts val="0"/>
              </a:spcAft>
              <a:buClr>
                <a:srgbClr val="1F1F1F"/>
              </a:buClr>
              <a:buSzPts val="1200"/>
              <a:buFont typeface="Arial"/>
              <a:buChar char="•"/>
            </a:pPr>
            <a:r>
              <a:rPr lang="en-US" sz="1200" dirty="0">
                <a:solidFill>
                  <a:schemeClr val="dk1"/>
                </a:solidFill>
                <a:highlight>
                  <a:srgbClr val="FFFFFF"/>
                </a:highlight>
                <a:latin typeface="Times New Roman"/>
                <a:ea typeface="Times New Roman"/>
                <a:cs typeface="Times New Roman"/>
                <a:sym typeface="Times New Roman"/>
              </a:rPr>
              <a:t>Overall the model demonstrates a good fit (Multiple R-squared: 0.8765), indicating that approximately 87.65% of the variance in life expectancy is explained by the predictors included. The adjusted R-squared (0.8528) accounts for the number of predictors, providing a more accurate measure of the model's goodness of fit. Moreover, the F-statistic (36.97) with an extremely low p-value (&lt; 2.2e-16) underscores the overall statistical significance of the model, indicating that the predictors collectively have a significant effect on life expectancy in Oceania.</a:t>
            </a:r>
            <a:endParaRPr sz="1200" dirty="0">
              <a:solidFill>
                <a:schemeClr val="dk1"/>
              </a:solidFill>
              <a:highlight>
                <a:srgbClr val="FFFFFF"/>
              </a:highlight>
              <a:latin typeface="Times New Roman"/>
              <a:ea typeface="Times New Roman"/>
              <a:cs typeface="Times New Roman"/>
              <a:sym typeface="Times New Roman"/>
            </a:endParaRPr>
          </a:p>
          <a:p>
            <a:pPr marL="457200" marR="0" lvl="0" indent="0" algn="just" rtl="0">
              <a:spcBef>
                <a:spcPts val="0"/>
              </a:spcBef>
              <a:spcAft>
                <a:spcPts val="0"/>
              </a:spcAft>
              <a:buNone/>
            </a:pPr>
            <a:endParaRPr sz="1200" dirty="0">
              <a:solidFill>
                <a:srgbClr val="1F1F1F"/>
              </a:solidFill>
              <a:latin typeface="Times New Roman"/>
              <a:ea typeface="Times New Roman"/>
              <a:cs typeface="Times New Roman"/>
              <a:sym typeface="Times New Roman"/>
            </a:endParaRPr>
          </a:p>
          <a:p>
            <a:pPr marL="0" marR="0" lvl="0" indent="0" algn="just" rtl="0">
              <a:spcBef>
                <a:spcPts val="0"/>
              </a:spcBef>
              <a:spcAft>
                <a:spcPts val="0"/>
              </a:spcAft>
              <a:buNone/>
            </a:pPr>
            <a:endParaRPr sz="1200" dirty="0">
              <a:solidFill>
                <a:srgbClr val="000000"/>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pic>
        <p:nvPicPr>
          <p:cNvPr id="250" name="Google Shape;250;p38" descr="A screenshot of a computer&#10;&#10;Description automatically generated"/>
          <p:cNvPicPr preferRelativeResize="0"/>
          <p:nvPr/>
        </p:nvPicPr>
        <p:blipFill rotWithShape="1">
          <a:blip r:embed="rId3">
            <a:alphaModFix/>
          </a:blip>
          <a:srcRect/>
          <a:stretch/>
        </p:blipFill>
        <p:spPr>
          <a:xfrm>
            <a:off x="6526337" y="1371600"/>
            <a:ext cx="5666645" cy="4747403"/>
          </a:xfrm>
          <a:prstGeom prst="rect">
            <a:avLst/>
          </a:prstGeom>
          <a:noFill/>
          <a:ln>
            <a:noFill/>
          </a:ln>
        </p:spPr>
      </p:pic>
      <p:sp>
        <p:nvSpPr>
          <p:cNvPr id="251" name="Google Shape;251;p38"/>
          <p:cNvSpPr txBox="1"/>
          <p:nvPr/>
        </p:nvSpPr>
        <p:spPr>
          <a:xfrm>
            <a:off x="1754372" y="407581"/>
            <a:ext cx="8399700" cy="5850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a:solidFill>
                  <a:schemeClr val="dk1"/>
                </a:solidFill>
                <a:latin typeface="Times New Roman"/>
                <a:ea typeface="Times New Roman"/>
                <a:cs typeface="Times New Roman"/>
                <a:sym typeface="Times New Roman"/>
              </a:rPr>
              <a:t>Final Model Summary</a:t>
            </a:r>
            <a:endParaRPr sz="1800">
              <a:solidFill>
                <a:schemeClr val="dk1"/>
              </a:solidFill>
              <a:latin typeface="Corbel"/>
              <a:ea typeface="Corbel"/>
              <a:cs typeface="Corbel"/>
              <a:sym typeface="Corbel"/>
            </a:endParaRPr>
          </a:p>
        </p:txBody>
      </p:sp>
      <p:sp>
        <p:nvSpPr>
          <p:cNvPr id="252" name="Google Shape;252;p38"/>
          <p:cNvSpPr txBox="1"/>
          <p:nvPr/>
        </p:nvSpPr>
        <p:spPr>
          <a:xfrm>
            <a:off x="172337" y="1076632"/>
            <a:ext cx="6354000" cy="705270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endParaRPr sz="1200" dirty="0">
              <a:solidFill>
                <a:srgbClr val="1F1F1F"/>
              </a:solidFill>
              <a:latin typeface="Times New Roman"/>
              <a:ea typeface="Times New Roman"/>
              <a:cs typeface="Times New Roman"/>
              <a:sym typeface="Times New Roman"/>
            </a:endParaRPr>
          </a:p>
          <a:p>
            <a:pPr marL="457200" lvl="0" indent="-228600" algn="just" rtl="0">
              <a:lnSpc>
                <a:spcPct val="115000"/>
              </a:lnSpc>
              <a:spcBef>
                <a:spcPts val="1500"/>
              </a:spcBef>
              <a:spcAft>
                <a:spcPts val="0"/>
              </a:spcAft>
              <a:buClr>
                <a:schemeClr val="dk1"/>
              </a:buClr>
              <a:buSzPts val="1200"/>
              <a:buFont typeface="Times New Roman"/>
              <a:buNone/>
            </a:pPr>
            <a:r>
              <a:rPr lang="en-US" sz="1200" dirty="0" err="1">
                <a:solidFill>
                  <a:schemeClr val="dk1"/>
                </a:solidFill>
                <a:highlight>
                  <a:srgbClr val="FFFFFF"/>
                </a:highlight>
                <a:latin typeface="Times New Roman"/>
                <a:ea typeface="Times New Roman"/>
                <a:cs typeface="Times New Roman"/>
                <a:sym typeface="Times New Roman"/>
              </a:rPr>
              <a:t>Ininitally</a:t>
            </a:r>
            <a:r>
              <a:rPr lang="en-US" sz="1200" dirty="0">
                <a:solidFill>
                  <a:schemeClr val="dk1"/>
                </a:solidFill>
                <a:highlight>
                  <a:srgbClr val="FFFFFF"/>
                </a:highlight>
                <a:latin typeface="Times New Roman"/>
                <a:ea typeface="Times New Roman"/>
                <a:cs typeface="Times New Roman"/>
                <a:sym typeface="Times New Roman"/>
              </a:rPr>
              <a:t> I removed variables infant deaths, removing </a:t>
            </a:r>
            <a:r>
              <a:rPr lang="en-US" sz="1200" dirty="0" err="1">
                <a:solidFill>
                  <a:schemeClr val="dk1"/>
                </a:solidFill>
                <a:highlight>
                  <a:srgbClr val="FFFFFF"/>
                </a:highlight>
                <a:latin typeface="Times New Roman"/>
                <a:ea typeface="Times New Roman"/>
                <a:cs typeface="Times New Roman"/>
                <a:sym typeface="Times New Roman"/>
              </a:rPr>
              <a:t>underdeaths</a:t>
            </a:r>
            <a:r>
              <a:rPr lang="en-US" sz="1200" dirty="0">
                <a:solidFill>
                  <a:schemeClr val="dk1"/>
                </a:solidFill>
                <a:highlight>
                  <a:srgbClr val="FFFFFF"/>
                </a:highlight>
                <a:latin typeface="Times New Roman"/>
                <a:ea typeface="Times New Roman"/>
                <a:cs typeface="Times New Roman"/>
                <a:sym typeface="Times New Roman"/>
              </a:rPr>
              <a:t> ,</a:t>
            </a:r>
            <a:r>
              <a:rPr lang="en-US" sz="1200" dirty="0" err="1">
                <a:solidFill>
                  <a:schemeClr val="dk1"/>
                </a:solidFill>
                <a:highlight>
                  <a:srgbClr val="FFFFFF"/>
                </a:highlight>
                <a:latin typeface="Times New Roman"/>
                <a:ea typeface="Times New Roman"/>
                <a:cs typeface="Times New Roman"/>
                <a:sym typeface="Times New Roman"/>
              </a:rPr>
              <a:t>Dipherteria</a:t>
            </a:r>
            <a:r>
              <a:rPr lang="en-US" sz="1200" dirty="0">
                <a:solidFill>
                  <a:schemeClr val="dk1"/>
                </a:solidFill>
                <a:highlight>
                  <a:srgbClr val="FFFFFF"/>
                </a:highlight>
                <a:latin typeface="Times New Roman"/>
                <a:ea typeface="Times New Roman"/>
                <a:cs typeface="Times New Roman"/>
                <a:sym typeface="Times New Roman"/>
              </a:rPr>
              <a:t>, schooling and obtained adjusted r square of the model of  0.8538 which indicates better than the initial model. Here is the summary of the final  model below.</a:t>
            </a:r>
            <a:endParaRPr sz="1200" dirty="0">
              <a:solidFill>
                <a:schemeClr val="dk1"/>
              </a:solidFill>
              <a:highlight>
                <a:srgbClr val="FFFFFF"/>
              </a:highlight>
              <a:latin typeface="Times New Roman"/>
              <a:ea typeface="Times New Roman"/>
              <a:cs typeface="Times New Roman"/>
              <a:sym typeface="Times New Roman"/>
            </a:endParaRPr>
          </a:p>
          <a:p>
            <a:pPr marL="457200" lvl="0" indent="-228600" algn="just" rtl="0">
              <a:lnSpc>
                <a:spcPct val="115000"/>
              </a:lnSpc>
              <a:spcBef>
                <a:spcPts val="0"/>
              </a:spcBef>
              <a:spcAft>
                <a:spcPts val="0"/>
              </a:spcAft>
              <a:buClr>
                <a:schemeClr val="dk1"/>
              </a:buClr>
              <a:buSzPts val="1200"/>
              <a:buFont typeface="Times New Roman"/>
              <a:buNone/>
            </a:pPr>
            <a:r>
              <a:rPr lang="en-US" sz="1200" dirty="0">
                <a:solidFill>
                  <a:schemeClr val="dk1"/>
                </a:solidFill>
                <a:highlight>
                  <a:srgbClr val="FFFFFF"/>
                </a:highlight>
                <a:latin typeface="Times New Roman"/>
                <a:ea typeface="Times New Roman"/>
                <a:cs typeface="Times New Roman"/>
                <a:sym typeface="Times New Roman"/>
              </a:rPr>
              <a:t>Residuals: These are the differences between the observed values of the dependent variable (life expectancy) and the values predicted by the model. The summary provides statistics such as minimum, 1st quartile, median, 3rd quartile, and maximum of these residuals.</a:t>
            </a:r>
            <a:endParaRPr sz="1200" dirty="0">
              <a:solidFill>
                <a:schemeClr val="dk1"/>
              </a:solidFill>
              <a:highlight>
                <a:srgbClr val="FFFFFF"/>
              </a:highlight>
              <a:latin typeface="Times New Roman"/>
              <a:ea typeface="Times New Roman"/>
              <a:cs typeface="Times New Roman"/>
              <a:sym typeface="Times New Roman"/>
            </a:endParaRPr>
          </a:p>
          <a:p>
            <a:pPr marL="457200" lvl="0" indent="-228600" algn="just" rtl="0">
              <a:lnSpc>
                <a:spcPct val="115000"/>
              </a:lnSpc>
              <a:spcBef>
                <a:spcPts val="0"/>
              </a:spcBef>
              <a:spcAft>
                <a:spcPts val="0"/>
              </a:spcAft>
              <a:buClr>
                <a:schemeClr val="dk1"/>
              </a:buClr>
              <a:buSzPts val="1200"/>
              <a:buFont typeface="Times New Roman"/>
              <a:buNone/>
            </a:pPr>
            <a:r>
              <a:rPr lang="en-US" sz="1200" dirty="0">
                <a:solidFill>
                  <a:schemeClr val="dk1"/>
                </a:solidFill>
                <a:highlight>
                  <a:srgbClr val="FFFFFF"/>
                </a:highlight>
                <a:latin typeface="Times New Roman"/>
                <a:ea typeface="Times New Roman"/>
                <a:cs typeface="Times New Roman"/>
                <a:sym typeface="Times New Roman"/>
              </a:rPr>
              <a:t>Significance Codes: These codes indicate the level of significance of each predictor variable. The commonly used significance levels are denoted by '</a:t>
            </a:r>
            <a:r>
              <a:rPr lang="en-US" sz="1200" i="1" dirty="0">
                <a:solidFill>
                  <a:schemeClr val="dk1"/>
                </a:solidFill>
                <a:highlight>
                  <a:srgbClr val="FFFFFF"/>
                </a:highlight>
                <a:latin typeface="Times New Roman"/>
                <a:ea typeface="Times New Roman"/>
                <a:cs typeface="Times New Roman"/>
                <a:sym typeface="Times New Roman"/>
              </a:rPr>
              <a:t>', '', and '</a:t>
            </a:r>
            <a:r>
              <a:rPr lang="en-US" sz="1200" dirty="0">
                <a:solidFill>
                  <a:schemeClr val="dk1"/>
                </a:solidFill>
                <a:highlight>
                  <a:srgbClr val="FFFFFF"/>
                </a:highlight>
                <a:latin typeface="Times New Roman"/>
                <a:ea typeface="Times New Roman"/>
                <a:cs typeface="Times New Roman"/>
                <a:sym typeface="Times New Roman"/>
              </a:rPr>
              <a:t>', representing p-values less than 0.05, 0.01, and 0.001 respectively.</a:t>
            </a:r>
            <a:endParaRPr sz="1200" dirty="0">
              <a:solidFill>
                <a:schemeClr val="dk1"/>
              </a:solidFill>
              <a:highlight>
                <a:srgbClr val="FFFFFF"/>
              </a:highlight>
              <a:latin typeface="Times New Roman"/>
              <a:ea typeface="Times New Roman"/>
              <a:cs typeface="Times New Roman"/>
              <a:sym typeface="Times New Roman"/>
            </a:endParaRPr>
          </a:p>
          <a:p>
            <a:pPr marL="457200" lvl="0" indent="-228600" algn="just" rtl="0">
              <a:lnSpc>
                <a:spcPct val="115000"/>
              </a:lnSpc>
              <a:spcBef>
                <a:spcPts val="0"/>
              </a:spcBef>
              <a:spcAft>
                <a:spcPts val="0"/>
              </a:spcAft>
              <a:buClr>
                <a:schemeClr val="dk1"/>
              </a:buClr>
              <a:buSzPts val="1200"/>
              <a:buFont typeface="Times New Roman"/>
              <a:buNone/>
            </a:pPr>
            <a:r>
              <a:rPr lang="en-US" sz="1200" dirty="0">
                <a:solidFill>
                  <a:schemeClr val="dk1"/>
                </a:solidFill>
                <a:highlight>
                  <a:srgbClr val="FFFFFF"/>
                </a:highlight>
                <a:latin typeface="Times New Roman"/>
                <a:ea typeface="Times New Roman"/>
                <a:cs typeface="Times New Roman"/>
                <a:sym typeface="Times New Roman"/>
              </a:rPr>
              <a:t>Residual Standard Error: This is an estimate of the standard deviation of the residuals. It provides a measure of the typical size of the residuals.</a:t>
            </a:r>
            <a:endParaRPr sz="1200" dirty="0">
              <a:solidFill>
                <a:schemeClr val="dk1"/>
              </a:solidFill>
              <a:highlight>
                <a:srgbClr val="FFFFFF"/>
              </a:highlight>
              <a:latin typeface="Times New Roman"/>
              <a:ea typeface="Times New Roman"/>
              <a:cs typeface="Times New Roman"/>
              <a:sym typeface="Times New Roman"/>
            </a:endParaRPr>
          </a:p>
          <a:p>
            <a:pPr marL="457200" lvl="0" indent="-228600" algn="just" rtl="0">
              <a:lnSpc>
                <a:spcPct val="115000"/>
              </a:lnSpc>
              <a:spcBef>
                <a:spcPts val="0"/>
              </a:spcBef>
              <a:spcAft>
                <a:spcPts val="0"/>
              </a:spcAft>
              <a:buClr>
                <a:schemeClr val="dk1"/>
              </a:buClr>
              <a:buSzPts val="1200"/>
              <a:buFont typeface="Times New Roman"/>
              <a:buNone/>
            </a:pPr>
            <a:r>
              <a:rPr lang="en-US" sz="1200" dirty="0">
                <a:solidFill>
                  <a:schemeClr val="dk1"/>
                </a:solidFill>
                <a:highlight>
                  <a:srgbClr val="FFFFFF"/>
                </a:highlight>
                <a:latin typeface="Times New Roman"/>
                <a:ea typeface="Times New Roman"/>
                <a:cs typeface="Times New Roman"/>
                <a:sym typeface="Times New Roman"/>
              </a:rPr>
              <a:t>Multiple R-squared: This value indicates the proportion of variance in the dependent variable (life expectancy) that is explained by the independent variables included in the model. In this case, approximately 87.22% of the variance in life expectancy is explained by the predictor variables.</a:t>
            </a:r>
            <a:endParaRPr sz="1200" dirty="0">
              <a:solidFill>
                <a:schemeClr val="dk1"/>
              </a:solidFill>
              <a:highlight>
                <a:srgbClr val="FFFFFF"/>
              </a:highlight>
              <a:latin typeface="Times New Roman"/>
              <a:ea typeface="Times New Roman"/>
              <a:cs typeface="Times New Roman"/>
              <a:sym typeface="Times New Roman"/>
            </a:endParaRPr>
          </a:p>
          <a:p>
            <a:pPr marL="457200" lvl="0" indent="-228600" algn="just" rtl="0">
              <a:lnSpc>
                <a:spcPct val="115000"/>
              </a:lnSpc>
              <a:spcBef>
                <a:spcPts val="0"/>
              </a:spcBef>
              <a:spcAft>
                <a:spcPts val="0"/>
              </a:spcAft>
              <a:buClr>
                <a:schemeClr val="dk1"/>
              </a:buClr>
              <a:buSzPts val="1200"/>
              <a:buFont typeface="Times New Roman"/>
              <a:buNone/>
            </a:pPr>
            <a:r>
              <a:rPr lang="en-US" sz="1200" dirty="0">
                <a:solidFill>
                  <a:schemeClr val="dk1"/>
                </a:solidFill>
                <a:highlight>
                  <a:srgbClr val="FFFFFF"/>
                </a:highlight>
                <a:latin typeface="Times New Roman"/>
                <a:ea typeface="Times New Roman"/>
                <a:cs typeface="Times New Roman"/>
                <a:sym typeface="Times New Roman"/>
              </a:rPr>
              <a:t>Adjusted R-squared: This value adjusts the R-squared value for the number of predictors in the model. It penalizes the inclusion of unnecessary variables. In this model, the adjusted R-squared is approximately 85.36%.</a:t>
            </a:r>
            <a:endParaRPr sz="1200" dirty="0">
              <a:solidFill>
                <a:schemeClr val="dk1"/>
              </a:solidFill>
              <a:highlight>
                <a:srgbClr val="FFFFFF"/>
              </a:highlight>
              <a:latin typeface="Times New Roman"/>
              <a:ea typeface="Times New Roman"/>
              <a:cs typeface="Times New Roman"/>
              <a:sym typeface="Times New Roman"/>
            </a:endParaRPr>
          </a:p>
          <a:p>
            <a:pPr marL="457200" lvl="0" indent="-228600" algn="just" rtl="0">
              <a:lnSpc>
                <a:spcPct val="115000"/>
              </a:lnSpc>
              <a:spcBef>
                <a:spcPts val="0"/>
              </a:spcBef>
              <a:spcAft>
                <a:spcPts val="0"/>
              </a:spcAft>
              <a:buClr>
                <a:schemeClr val="dk1"/>
              </a:buClr>
              <a:buSzPts val="1200"/>
              <a:buFont typeface="Times New Roman"/>
              <a:buNone/>
            </a:pPr>
            <a:r>
              <a:rPr lang="en-US" sz="1200" dirty="0">
                <a:solidFill>
                  <a:schemeClr val="dk1"/>
                </a:solidFill>
                <a:highlight>
                  <a:srgbClr val="FFFFFF"/>
                </a:highlight>
                <a:latin typeface="Times New Roman"/>
                <a:ea typeface="Times New Roman"/>
                <a:cs typeface="Times New Roman"/>
                <a:sym typeface="Times New Roman"/>
              </a:rPr>
              <a:t>F-statistic: This is a test statistic that assesses the overall significance of the regression model. It evaluates whether at least one of the predictor variables has a non-zero coefficient. The associated p-value indicates whether the overall model is statistically significant. Overall, this regression model suggests that the included predictor variables collectively have a strong association with life expectancy in Oceania countries, as indicated by the high R-squared value and significant coefficients.</a:t>
            </a:r>
            <a:endParaRPr sz="1200" dirty="0">
              <a:solidFill>
                <a:schemeClr val="dk1"/>
              </a:solidFill>
              <a:highlight>
                <a:srgbClr val="FFFFFF"/>
              </a:highlight>
              <a:latin typeface="Times New Roman"/>
              <a:ea typeface="Times New Roman"/>
              <a:cs typeface="Times New Roman"/>
              <a:sym typeface="Times New Roman"/>
            </a:endParaRPr>
          </a:p>
          <a:p>
            <a:pPr marL="0" marR="0" lvl="0" indent="0" algn="just" rtl="0">
              <a:spcBef>
                <a:spcPts val="1500"/>
              </a:spcBef>
              <a:spcAft>
                <a:spcPts val="0"/>
              </a:spcAft>
              <a:buNone/>
            </a:pPr>
            <a:endParaRPr sz="1200" dirty="0">
              <a:solidFill>
                <a:srgbClr val="1F1F1F"/>
              </a:solidFill>
              <a:latin typeface="Times New Roman"/>
              <a:ea typeface="Times New Roman"/>
              <a:cs typeface="Times New Roman"/>
              <a:sym typeface="Times New Roman"/>
            </a:endParaRPr>
          </a:p>
          <a:p>
            <a:pPr marL="0" marR="0" lvl="0" indent="0" algn="just" rtl="0">
              <a:spcBef>
                <a:spcPts val="0"/>
              </a:spcBef>
              <a:spcAft>
                <a:spcPts val="0"/>
              </a:spcAft>
              <a:buNone/>
            </a:pPr>
            <a:endParaRPr sz="1200" dirty="0">
              <a:solidFill>
                <a:srgbClr val="1F1F1F"/>
              </a:solidFill>
              <a:latin typeface="Times New Roman"/>
              <a:ea typeface="Times New Roman"/>
              <a:cs typeface="Times New Roman"/>
              <a:sym typeface="Times New Roman"/>
            </a:endParaRPr>
          </a:p>
          <a:p>
            <a:pPr marL="0" marR="0" lvl="0" indent="0" algn="just" rtl="0">
              <a:spcBef>
                <a:spcPts val="0"/>
              </a:spcBef>
              <a:spcAft>
                <a:spcPts val="0"/>
              </a:spcAft>
              <a:buNone/>
            </a:pPr>
            <a:endParaRPr sz="1200" dirty="0">
              <a:solidFill>
                <a:srgbClr val="1F1F1F"/>
              </a:solidFill>
              <a:latin typeface="Times New Roman"/>
              <a:ea typeface="Times New Roman"/>
              <a:cs typeface="Times New Roman"/>
              <a:sym typeface="Times New Roman"/>
            </a:endParaRPr>
          </a:p>
          <a:p>
            <a:pPr marL="0" marR="0" lvl="0" indent="0" algn="just" rtl="0">
              <a:spcBef>
                <a:spcPts val="0"/>
              </a:spcBef>
              <a:spcAft>
                <a:spcPts val="0"/>
              </a:spcAft>
              <a:buNone/>
            </a:pPr>
            <a:endParaRPr sz="1200" dirty="0">
              <a:solidFill>
                <a:srgbClr val="1F1F1F"/>
              </a:solidFill>
              <a:latin typeface="Times New Roman"/>
              <a:ea typeface="Times New Roman"/>
              <a:cs typeface="Times New Roman"/>
              <a:sym typeface="Times New Roman"/>
            </a:endParaRPr>
          </a:p>
          <a:p>
            <a:pPr marL="0" marR="0" lvl="0" indent="0" algn="just" rtl="0">
              <a:spcBef>
                <a:spcPts val="0"/>
              </a:spcBef>
              <a:spcAft>
                <a:spcPts val="0"/>
              </a:spcAft>
              <a:buNone/>
            </a:pPr>
            <a:endParaRPr sz="1200" dirty="0">
              <a:solidFill>
                <a:srgbClr val="1F1F1F"/>
              </a:solidFill>
              <a:latin typeface="Times New Roman"/>
              <a:ea typeface="Times New Roman"/>
              <a:cs typeface="Times New Roman"/>
              <a:sym typeface="Times New Roman"/>
            </a:endParaRPr>
          </a:p>
          <a:p>
            <a:pPr marL="0" marR="0" lvl="0" indent="0" algn="just" rtl="0">
              <a:spcBef>
                <a:spcPts val="0"/>
              </a:spcBef>
              <a:spcAft>
                <a:spcPts val="0"/>
              </a:spcAft>
              <a:buNone/>
            </a:pPr>
            <a:endParaRPr sz="1200" dirty="0">
              <a:solidFill>
                <a:srgbClr val="1F1F1F"/>
              </a:solidFill>
              <a:latin typeface="Times New Roman"/>
              <a:ea typeface="Times New Roman"/>
              <a:cs typeface="Times New Roman"/>
              <a:sym typeface="Times New Roman"/>
            </a:endParaRPr>
          </a:p>
          <a:p>
            <a:pPr marL="0" marR="0" lvl="0" indent="0" algn="just" rtl="0">
              <a:spcBef>
                <a:spcPts val="0"/>
              </a:spcBef>
              <a:spcAft>
                <a:spcPts val="0"/>
              </a:spcAft>
              <a:buNone/>
            </a:pPr>
            <a:endParaRPr sz="1200" dirty="0">
              <a:solidFill>
                <a:srgbClr val="1F1F1F"/>
              </a:solidFill>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39"/>
          <p:cNvSpPr txBox="1">
            <a:spLocks noGrp="1"/>
          </p:cNvSpPr>
          <p:nvPr>
            <p:ph type="title"/>
          </p:nvPr>
        </p:nvSpPr>
        <p:spPr>
          <a:xfrm>
            <a:off x="1510800" y="1448850"/>
            <a:ext cx="8322300" cy="3457500"/>
          </a:xfrm>
          <a:prstGeom prst="rect">
            <a:avLst/>
          </a:prstGeom>
        </p:spPr>
        <p:txBody>
          <a:bodyPr spcFirstLastPara="1" wrap="square" lIns="121900" tIns="121900" rIns="121900" bIns="121900" anchor="t" anchorCtr="0">
            <a:normAutofit fontScale="90000"/>
          </a:bodyPr>
          <a:lstStyle/>
          <a:p>
            <a:pPr marL="0" lvl="0" indent="0" algn="ctr" rtl="0">
              <a:lnSpc>
                <a:spcPct val="115000"/>
              </a:lnSpc>
              <a:spcBef>
                <a:spcPts val="0"/>
              </a:spcBef>
              <a:spcAft>
                <a:spcPts val="0"/>
              </a:spcAft>
              <a:buNone/>
            </a:pPr>
            <a:r>
              <a:rPr lang="en-US" sz="4700"/>
              <a:t>Predictive analysis of life expectancy over various continents in the </a:t>
            </a:r>
            <a:endParaRPr sz="4700"/>
          </a:p>
          <a:p>
            <a:pPr marL="0" lvl="0" indent="0" algn="ctr" rtl="0">
              <a:spcBef>
                <a:spcPts val="0"/>
              </a:spcBef>
              <a:spcAft>
                <a:spcPts val="0"/>
              </a:spcAft>
              <a:buNone/>
            </a:pPr>
            <a:r>
              <a:rPr lang="en-US" sz="4700"/>
              <a:t>Health &amp; Demographics dataset.</a:t>
            </a:r>
            <a:endParaRPr sz="4700"/>
          </a:p>
        </p:txBody>
      </p:sp>
      <p:sp>
        <p:nvSpPr>
          <p:cNvPr id="258" name="Google Shape;258;p39"/>
          <p:cNvSpPr txBox="1">
            <a:spLocks noGrp="1"/>
          </p:cNvSpPr>
          <p:nvPr>
            <p:ph type="body" idx="1"/>
          </p:nvPr>
        </p:nvSpPr>
        <p:spPr>
          <a:xfrm>
            <a:off x="415650" y="4833955"/>
            <a:ext cx="11360700" cy="1635000"/>
          </a:xfrm>
          <a:prstGeom prst="rect">
            <a:avLst/>
          </a:prstGeom>
        </p:spPr>
        <p:txBody>
          <a:bodyPr spcFirstLastPara="1" wrap="square" lIns="121900" tIns="121900" rIns="121900" bIns="121900" anchor="t" anchorCtr="0">
            <a:normAutofit/>
          </a:bodyPr>
          <a:lstStyle/>
          <a:p>
            <a:pPr marL="457200" lvl="0" indent="-381000" algn="r" rtl="0">
              <a:spcBef>
                <a:spcPts val="0"/>
              </a:spcBef>
              <a:spcAft>
                <a:spcPts val="0"/>
              </a:spcAft>
              <a:buSzPts val="2400"/>
              <a:buChar char="-"/>
            </a:pPr>
            <a:r>
              <a:rPr lang="en-US"/>
              <a:t>Sai Raga Mounika</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40"/>
          <p:cNvSpPr txBox="1">
            <a:spLocks noGrp="1"/>
          </p:cNvSpPr>
          <p:nvPr>
            <p:ph type="title"/>
          </p:nvPr>
        </p:nvSpPr>
        <p:spPr>
          <a:xfrm>
            <a:off x="415600" y="213833"/>
            <a:ext cx="11360700" cy="763500"/>
          </a:xfrm>
          <a:prstGeom prst="rect">
            <a:avLst/>
          </a:prstGeom>
        </p:spPr>
        <p:txBody>
          <a:bodyPr spcFirstLastPara="1" wrap="square" lIns="121900" tIns="121900" rIns="121900" bIns="121900" anchor="t" anchorCtr="0">
            <a:normAutofit fontScale="90000"/>
          </a:bodyPr>
          <a:lstStyle/>
          <a:p>
            <a:pPr marL="0" lvl="0" indent="0" algn="ctr" rtl="0">
              <a:spcBef>
                <a:spcPts val="0"/>
              </a:spcBef>
              <a:spcAft>
                <a:spcPts val="0"/>
              </a:spcAft>
              <a:buNone/>
            </a:pPr>
            <a:r>
              <a:rPr lang="en-US"/>
              <a:t>Data Preprocessing</a:t>
            </a:r>
            <a:endParaRPr/>
          </a:p>
        </p:txBody>
      </p:sp>
      <p:sp>
        <p:nvSpPr>
          <p:cNvPr id="264" name="Google Shape;264;p40"/>
          <p:cNvSpPr txBox="1">
            <a:spLocks noGrp="1"/>
          </p:cNvSpPr>
          <p:nvPr>
            <p:ph type="body" idx="1"/>
          </p:nvPr>
        </p:nvSpPr>
        <p:spPr>
          <a:xfrm>
            <a:off x="415600" y="1054900"/>
            <a:ext cx="11360700" cy="5505300"/>
          </a:xfrm>
          <a:prstGeom prst="rect">
            <a:avLst/>
          </a:prstGeom>
        </p:spPr>
        <p:txBody>
          <a:bodyPr spcFirstLastPara="1" wrap="square" lIns="121900" tIns="121900" rIns="121900" bIns="121900" anchor="t" anchorCtr="0">
            <a:noAutofit/>
          </a:bodyPr>
          <a:lstStyle/>
          <a:p>
            <a:pPr marL="609600" lvl="0" indent="-381000" algn="l" rtl="0">
              <a:lnSpc>
                <a:spcPct val="100000"/>
              </a:lnSpc>
              <a:spcBef>
                <a:spcPts val="0"/>
              </a:spcBef>
              <a:spcAft>
                <a:spcPts val="0"/>
              </a:spcAft>
              <a:buSzPts val="1200"/>
              <a:buChar char="●"/>
            </a:pPr>
            <a:r>
              <a:rPr lang="en-US" sz="1200"/>
              <a:t>Handling missing values</a:t>
            </a:r>
            <a:endParaRPr sz="1200"/>
          </a:p>
          <a:p>
            <a:pPr marL="609600" lvl="0" indent="-381000" algn="l" rtl="0">
              <a:lnSpc>
                <a:spcPct val="100000"/>
              </a:lnSpc>
              <a:spcBef>
                <a:spcPts val="0"/>
              </a:spcBef>
              <a:spcAft>
                <a:spcPts val="0"/>
              </a:spcAft>
              <a:buSzPts val="1200"/>
              <a:buChar char="●"/>
            </a:pPr>
            <a:r>
              <a:rPr lang="en-US" sz="1200"/>
              <a:t>Renaming variables</a:t>
            </a:r>
            <a:endParaRPr sz="1200"/>
          </a:p>
          <a:p>
            <a:pPr marL="609600" lvl="0" indent="0" algn="l" rtl="0">
              <a:lnSpc>
                <a:spcPct val="100000"/>
              </a:lnSpc>
              <a:spcBef>
                <a:spcPts val="1600"/>
              </a:spcBef>
              <a:spcAft>
                <a:spcPts val="0"/>
              </a:spcAft>
              <a:buSzPts val="500"/>
              <a:buNone/>
            </a:pPr>
            <a:r>
              <a:rPr lang="en-US" sz="1200">
                <a:solidFill>
                  <a:srgbClr val="0000FF"/>
                </a:solidFill>
                <a:highlight>
                  <a:srgbClr val="FFFFFF"/>
                </a:highlight>
              </a:rPr>
              <a:t>&gt; Cleaned_Health_Data &lt;- rename(Health_Data, Life_Expectancy = Life.expectancy, Adult_Mortality = Adult.Mortality,Infant_Deaths = infant.deaths, Percentage_Expenditure = percentage.expenditure, Hepatitis_B = Hepatitis.B, Under_5_Deaths = under.five.deaths, Total_Expenditure = Total.expenditure, HIV_AIDS = HIV.AIDS, Thinness_10to19_Years = thinness..1.19.years, Thinness_5to9_Years = thinness.5.9.years, ICOR = Income.composition.of.resources)</a:t>
            </a:r>
            <a:endParaRPr sz="1200">
              <a:solidFill>
                <a:srgbClr val="0000FF"/>
              </a:solidFill>
              <a:highlight>
                <a:srgbClr val="FFFFFF"/>
              </a:highlight>
            </a:endParaRPr>
          </a:p>
          <a:p>
            <a:pPr marL="609600" lvl="0" indent="-381000" algn="l" rtl="0">
              <a:lnSpc>
                <a:spcPct val="100000"/>
              </a:lnSpc>
              <a:spcBef>
                <a:spcPts val="1600"/>
              </a:spcBef>
              <a:spcAft>
                <a:spcPts val="0"/>
              </a:spcAft>
              <a:buSzPts val="1200"/>
              <a:buChar char="●"/>
            </a:pPr>
            <a:r>
              <a:rPr lang="en-US" sz="1200"/>
              <a:t>Integration of 'Continent' Information</a:t>
            </a:r>
            <a:endParaRPr sz="1200"/>
          </a:p>
          <a:p>
            <a:pPr marL="0" lvl="0" indent="0" algn="l" rtl="0">
              <a:lnSpc>
                <a:spcPct val="100000"/>
              </a:lnSpc>
              <a:spcBef>
                <a:spcPts val="1600"/>
              </a:spcBef>
              <a:spcAft>
                <a:spcPts val="0"/>
              </a:spcAft>
              <a:buSzPts val="500"/>
              <a:buNone/>
            </a:pPr>
            <a:r>
              <a:rPr lang="en-US" sz="1200"/>
              <a:t>	</a:t>
            </a:r>
            <a:r>
              <a:rPr lang="en-US" sz="1200">
                <a:solidFill>
                  <a:srgbClr val="0000FF"/>
                </a:solidFill>
                <a:highlight>
                  <a:srgbClr val="FFFFFF"/>
                </a:highlight>
              </a:rPr>
              <a:t># Install and load the 'countrycode' package</a:t>
            </a:r>
            <a:endParaRPr sz="1200">
              <a:solidFill>
                <a:srgbClr val="0000FF"/>
              </a:solidFill>
              <a:highlight>
                <a:srgbClr val="FFFFFF"/>
              </a:highlight>
            </a:endParaRPr>
          </a:p>
          <a:p>
            <a:pPr marL="0" lvl="0" indent="609600" algn="l" rtl="0">
              <a:lnSpc>
                <a:spcPct val="100000"/>
              </a:lnSpc>
              <a:spcBef>
                <a:spcPts val="1600"/>
              </a:spcBef>
              <a:spcAft>
                <a:spcPts val="0"/>
              </a:spcAft>
              <a:buSzPts val="500"/>
              <a:buNone/>
            </a:pPr>
            <a:r>
              <a:rPr lang="en-US" sz="1200">
                <a:solidFill>
                  <a:srgbClr val="0000FF"/>
                </a:solidFill>
                <a:highlight>
                  <a:srgbClr val="FFFFFF"/>
                </a:highlight>
              </a:rPr>
              <a:t>&gt; install.packages("countrycode")</a:t>
            </a:r>
            <a:endParaRPr sz="1200">
              <a:solidFill>
                <a:srgbClr val="0000FF"/>
              </a:solidFill>
              <a:highlight>
                <a:srgbClr val="FFFFFF"/>
              </a:highlight>
            </a:endParaRPr>
          </a:p>
          <a:p>
            <a:pPr marL="0" lvl="0" indent="609600" algn="l" rtl="0">
              <a:lnSpc>
                <a:spcPct val="100000"/>
              </a:lnSpc>
              <a:spcBef>
                <a:spcPts val="1600"/>
              </a:spcBef>
              <a:spcAft>
                <a:spcPts val="0"/>
              </a:spcAft>
              <a:buSzPts val="500"/>
              <a:buNone/>
            </a:pPr>
            <a:r>
              <a:rPr lang="en-US" sz="1200">
                <a:solidFill>
                  <a:srgbClr val="0000FF"/>
                </a:solidFill>
                <a:highlight>
                  <a:srgbClr val="FFFFFF"/>
                </a:highlight>
              </a:rPr>
              <a:t># Create a new column 'Continent' using countrycode to get the continent information</a:t>
            </a:r>
            <a:endParaRPr sz="1200">
              <a:solidFill>
                <a:srgbClr val="0000FF"/>
              </a:solidFill>
              <a:highlight>
                <a:srgbClr val="FFFFFF"/>
              </a:highlight>
            </a:endParaRPr>
          </a:p>
          <a:p>
            <a:pPr marL="0" lvl="0" indent="609600" algn="l" rtl="0">
              <a:lnSpc>
                <a:spcPct val="100000"/>
              </a:lnSpc>
              <a:spcBef>
                <a:spcPts val="1600"/>
              </a:spcBef>
              <a:spcAft>
                <a:spcPts val="0"/>
              </a:spcAft>
              <a:buClr>
                <a:schemeClr val="dk1"/>
              </a:buClr>
              <a:buSzPts val="500"/>
              <a:buFont typeface="Arial"/>
              <a:buNone/>
            </a:pPr>
            <a:r>
              <a:rPr lang="en-US" sz="1200">
                <a:solidFill>
                  <a:srgbClr val="0000FF"/>
                </a:solidFill>
                <a:highlight>
                  <a:srgbClr val="FFFFFF"/>
                </a:highlight>
              </a:rPr>
              <a:t>&gt; Cleaned_Health_Data$Continent &lt;- countrycode(Cleaned_Health_Data$Country, "country.name", "continent")</a:t>
            </a:r>
            <a:endParaRPr sz="1200">
              <a:solidFill>
                <a:srgbClr val="0000FF"/>
              </a:solidFill>
              <a:highlight>
                <a:srgbClr val="FFFFFF"/>
              </a:highlight>
            </a:endParaRPr>
          </a:p>
          <a:p>
            <a:pPr marL="0" lvl="0" indent="609600" algn="l" rtl="0">
              <a:lnSpc>
                <a:spcPct val="100000"/>
              </a:lnSpc>
              <a:spcBef>
                <a:spcPts val="0"/>
              </a:spcBef>
              <a:spcAft>
                <a:spcPts val="0"/>
              </a:spcAft>
              <a:buSzPts val="500"/>
              <a:buNone/>
            </a:pPr>
            <a:endParaRPr sz="1200">
              <a:solidFill>
                <a:srgbClr val="0000FF"/>
              </a:solidFill>
              <a:highlight>
                <a:srgbClr val="FFFFFF"/>
              </a:highlight>
            </a:endParaRPr>
          </a:p>
          <a:p>
            <a:pPr marL="609600" lvl="0" indent="-381000" algn="l" rtl="0">
              <a:lnSpc>
                <a:spcPct val="100000"/>
              </a:lnSpc>
              <a:spcBef>
                <a:spcPts val="1600"/>
              </a:spcBef>
              <a:spcAft>
                <a:spcPts val="0"/>
              </a:spcAft>
              <a:buSzPts val="1200"/>
              <a:buChar char="●"/>
            </a:pPr>
            <a:r>
              <a:rPr lang="en-US" sz="1200"/>
              <a:t>Reordering the columns</a:t>
            </a:r>
            <a:endParaRPr sz="1200"/>
          </a:p>
          <a:p>
            <a:pPr marL="609600" lvl="0" indent="0" algn="l" rtl="0">
              <a:lnSpc>
                <a:spcPct val="100000"/>
              </a:lnSpc>
              <a:spcBef>
                <a:spcPts val="1600"/>
              </a:spcBef>
              <a:spcAft>
                <a:spcPts val="0"/>
              </a:spcAft>
              <a:buSzPts val="500"/>
              <a:buNone/>
            </a:pPr>
            <a:r>
              <a:rPr lang="en-US" sz="1200">
                <a:solidFill>
                  <a:srgbClr val="0000FF"/>
                </a:solidFill>
                <a:highlight>
                  <a:srgbClr val="FFFFFF"/>
                </a:highlight>
              </a:rPr>
              <a:t>&gt; library(dplyr)</a:t>
            </a:r>
            <a:endParaRPr sz="1200">
              <a:solidFill>
                <a:srgbClr val="0000FF"/>
              </a:solidFill>
              <a:highlight>
                <a:srgbClr val="FFFFFF"/>
              </a:highlight>
            </a:endParaRPr>
          </a:p>
          <a:p>
            <a:pPr marL="609600" lvl="0" indent="0" algn="l" rtl="0">
              <a:lnSpc>
                <a:spcPct val="100000"/>
              </a:lnSpc>
              <a:spcBef>
                <a:spcPts val="1600"/>
              </a:spcBef>
              <a:spcAft>
                <a:spcPts val="0"/>
              </a:spcAft>
              <a:buSzPts val="500"/>
              <a:buNone/>
            </a:pPr>
            <a:r>
              <a:rPr lang="en-US" sz="1200">
                <a:solidFill>
                  <a:srgbClr val="0000FF"/>
                </a:solidFill>
                <a:highlight>
                  <a:srgbClr val="FFFFFF"/>
                </a:highlight>
              </a:rPr>
              <a:t>&gt; Cleaned_Health_Data &lt;- select(Cleaned_Health_Data, Country, Year, Status, Continent, Adult_Mortality, Infant_Deaths, Under_5_Deaths, Alcohol, HIV_AIDS, Hepatitis_B, Polio, Diphtheria, Measles, BMI, Thinness_5to9_Years, Thinness_10to19_Years, GDP, Population, Percentage_Expenditure, Total_Expenditure, ICOR, Schooling, Life_Expectancy )</a:t>
            </a:r>
            <a:endParaRPr sz="1200">
              <a:solidFill>
                <a:srgbClr val="0000FF"/>
              </a:solidFill>
              <a:highlight>
                <a:srgbClr val="FFFFFF"/>
              </a:highlight>
            </a:endParaRPr>
          </a:p>
          <a:p>
            <a:pPr marL="88900" lvl="0" indent="0" algn="l" rtl="0">
              <a:lnSpc>
                <a:spcPct val="100000"/>
              </a:lnSpc>
              <a:spcBef>
                <a:spcPts val="0"/>
              </a:spcBef>
              <a:spcAft>
                <a:spcPts val="0"/>
              </a:spcAft>
              <a:buSzPts val="500"/>
              <a:buNone/>
            </a:pPr>
            <a:endParaRPr sz="1200">
              <a:solidFill>
                <a:srgbClr val="000000"/>
              </a:solidFill>
              <a:highlight>
                <a:srgbClr val="FFFFFF"/>
              </a:highlight>
            </a:endParaRPr>
          </a:p>
          <a:p>
            <a:pPr marL="609600" lvl="0" indent="0" algn="l" rtl="0">
              <a:lnSpc>
                <a:spcPct val="100000"/>
              </a:lnSpc>
              <a:spcBef>
                <a:spcPts val="0"/>
              </a:spcBef>
              <a:spcAft>
                <a:spcPts val="0"/>
              </a:spcAft>
              <a:buSzPts val="500"/>
              <a:buNone/>
            </a:pPr>
            <a:endParaRPr sz="1200">
              <a:solidFill>
                <a:srgbClr val="0000FF"/>
              </a:solidFill>
              <a:highlight>
                <a:srgbClr val="FFFFFF"/>
              </a:highlight>
            </a:endParaRPr>
          </a:p>
          <a:p>
            <a:pPr marL="609600" lvl="0" indent="0" algn="l" rtl="0">
              <a:lnSpc>
                <a:spcPct val="100000"/>
              </a:lnSpc>
              <a:spcBef>
                <a:spcPts val="1600"/>
              </a:spcBef>
              <a:spcAft>
                <a:spcPts val="0"/>
              </a:spcAft>
              <a:buSzPts val="500"/>
              <a:buNone/>
            </a:pPr>
            <a:endParaRPr sz="1200"/>
          </a:p>
          <a:p>
            <a:pPr marL="609600" lvl="0" indent="0" algn="l" rtl="0">
              <a:lnSpc>
                <a:spcPct val="100000"/>
              </a:lnSpc>
              <a:spcBef>
                <a:spcPts val="1600"/>
              </a:spcBef>
              <a:spcAft>
                <a:spcPts val="1600"/>
              </a:spcAft>
              <a:buNone/>
            </a:pPr>
            <a:endParaRPr sz="12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41"/>
          <p:cNvSpPr txBox="1">
            <a:spLocks noGrp="1"/>
          </p:cNvSpPr>
          <p:nvPr>
            <p:ph type="title"/>
          </p:nvPr>
        </p:nvSpPr>
        <p:spPr>
          <a:xfrm>
            <a:off x="415600" y="593367"/>
            <a:ext cx="11360700" cy="763500"/>
          </a:xfrm>
          <a:prstGeom prst="rect">
            <a:avLst/>
          </a:prstGeom>
        </p:spPr>
        <p:txBody>
          <a:bodyPr spcFirstLastPara="1" wrap="square" lIns="121900" tIns="121900" rIns="121900" bIns="121900" anchor="t" anchorCtr="0">
            <a:normAutofit fontScale="90000"/>
          </a:bodyPr>
          <a:lstStyle/>
          <a:p>
            <a:pPr marL="0" lvl="0" indent="0" algn="ctr" rtl="0">
              <a:spcBef>
                <a:spcPts val="0"/>
              </a:spcBef>
              <a:spcAft>
                <a:spcPts val="0"/>
              </a:spcAft>
              <a:buNone/>
            </a:pPr>
            <a:r>
              <a:rPr lang="en-US"/>
              <a:t>Variables</a:t>
            </a:r>
            <a:endParaRPr/>
          </a:p>
        </p:txBody>
      </p:sp>
      <p:sp>
        <p:nvSpPr>
          <p:cNvPr id="270" name="Google Shape;270;p41"/>
          <p:cNvSpPr txBox="1">
            <a:spLocks noGrp="1"/>
          </p:cNvSpPr>
          <p:nvPr>
            <p:ph type="body" idx="1"/>
          </p:nvPr>
        </p:nvSpPr>
        <p:spPr>
          <a:xfrm>
            <a:off x="415600" y="1536633"/>
            <a:ext cx="11360700" cy="4555200"/>
          </a:xfrm>
          <a:prstGeom prst="rect">
            <a:avLst/>
          </a:prstGeom>
        </p:spPr>
        <p:txBody>
          <a:bodyPr spcFirstLastPara="1" wrap="square" lIns="121900" tIns="121900" rIns="121900" bIns="121900" anchor="t" anchorCtr="0">
            <a:noAutofit/>
          </a:bodyPr>
          <a:lstStyle/>
          <a:p>
            <a:pPr marL="0" lvl="0" indent="0" algn="l" rtl="0">
              <a:lnSpc>
                <a:spcPct val="80000"/>
              </a:lnSpc>
              <a:spcBef>
                <a:spcPts val="0"/>
              </a:spcBef>
              <a:spcAft>
                <a:spcPts val="0"/>
              </a:spcAft>
              <a:buClr>
                <a:schemeClr val="dk1"/>
              </a:buClr>
              <a:buSzPts val="605"/>
              <a:buFont typeface="Arial"/>
              <a:buNone/>
            </a:pPr>
            <a:r>
              <a:rPr lang="en-US" sz="1800"/>
              <a:t>Country					: Country</a:t>
            </a:r>
            <a:endParaRPr sz="1800"/>
          </a:p>
          <a:p>
            <a:pPr marL="0" lvl="0" indent="0" algn="l" rtl="0">
              <a:lnSpc>
                <a:spcPct val="80000"/>
              </a:lnSpc>
              <a:spcBef>
                <a:spcPts val="0"/>
              </a:spcBef>
              <a:spcAft>
                <a:spcPts val="0"/>
              </a:spcAft>
              <a:buClr>
                <a:schemeClr val="dk1"/>
              </a:buClr>
              <a:buSzPts val="605"/>
              <a:buFont typeface="Arial"/>
              <a:buNone/>
            </a:pPr>
            <a:r>
              <a:rPr lang="en-US" sz="1800"/>
              <a:t>Year					: Year</a:t>
            </a:r>
            <a:endParaRPr sz="1800"/>
          </a:p>
          <a:p>
            <a:pPr marL="0" lvl="0" indent="0" algn="l" rtl="0">
              <a:lnSpc>
                <a:spcPct val="80000"/>
              </a:lnSpc>
              <a:spcBef>
                <a:spcPts val="0"/>
              </a:spcBef>
              <a:spcAft>
                <a:spcPts val="0"/>
              </a:spcAft>
              <a:buClr>
                <a:schemeClr val="dk1"/>
              </a:buClr>
              <a:buSzPts val="605"/>
              <a:buFont typeface="Arial"/>
              <a:buNone/>
            </a:pPr>
            <a:r>
              <a:rPr lang="en-US" sz="1800"/>
              <a:t>Status					: The country’s development status, whether "Developed" or "Developing.”</a:t>
            </a:r>
            <a:endParaRPr sz="1800"/>
          </a:p>
          <a:p>
            <a:pPr marL="0" lvl="0" indent="0" algn="l" rtl="0">
              <a:lnSpc>
                <a:spcPct val="80000"/>
              </a:lnSpc>
              <a:spcBef>
                <a:spcPts val="0"/>
              </a:spcBef>
              <a:spcAft>
                <a:spcPts val="0"/>
              </a:spcAft>
              <a:buClr>
                <a:schemeClr val="dk1"/>
              </a:buClr>
              <a:buSzPts val="605"/>
              <a:buFont typeface="Arial"/>
              <a:buNone/>
            </a:pPr>
            <a:r>
              <a:rPr lang="en-US" sz="1800"/>
              <a:t>Life Expectancy			: Average lifespan in age(Years).</a:t>
            </a:r>
            <a:endParaRPr sz="1800"/>
          </a:p>
          <a:p>
            <a:pPr marL="0" lvl="0" indent="0" algn="l" rtl="0">
              <a:lnSpc>
                <a:spcPct val="80000"/>
              </a:lnSpc>
              <a:spcBef>
                <a:spcPts val="0"/>
              </a:spcBef>
              <a:spcAft>
                <a:spcPts val="0"/>
              </a:spcAft>
              <a:buClr>
                <a:schemeClr val="dk1"/>
              </a:buClr>
              <a:buSzPts val="605"/>
              <a:buFont typeface="Arial"/>
              <a:buNone/>
            </a:pPr>
            <a:r>
              <a:rPr lang="en-US" sz="1800"/>
              <a:t>Adult Mortality			: Number of deaths per 1,000 population.</a:t>
            </a:r>
            <a:endParaRPr sz="1800"/>
          </a:p>
          <a:p>
            <a:pPr marL="0" lvl="0" indent="0" algn="l" rtl="0">
              <a:lnSpc>
                <a:spcPct val="80000"/>
              </a:lnSpc>
              <a:spcBef>
                <a:spcPts val="0"/>
              </a:spcBef>
              <a:spcAft>
                <a:spcPts val="0"/>
              </a:spcAft>
              <a:buClr>
                <a:schemeClr val="dk1"/>
              </a:buClr>
              <a:buSzPts val="605"/>
              <a:buFont typeface="Arial"/>
              <a:buNone/>
            </a:pPr>
            <a:r>
              <a:rPr lang="en-US" sz="1800"/>
              <a:t>Infant Deaths	 			: Number of infant deaths per 1,000 live births.</a:t>
            </a:r>
            <a:endParaRPr sz="1800"/>
          </a:p>
          <a:p>
            <a:pPr marL="0" lvl="0" indent="0" algn="l" rtl="0">
              <a:lnSpc>
                <a:spcPct val="80000"/>
              </a:lnSpc>
              <a:spcBef>
                <a:spcPts val="0"/>
              </a:spcBef>
              <a:spcAft>
                <a:spcPts val="0"/>
              </a:spcAft>
              <a:buClr>
                <a:schemeClr val="dk1"/>
              </a:buClr>
              <a:buSzPts val="605"/>
              <a:buFont typeface="Arial"/>
              <a:buNone/>
            </a:pPr>
            <a:r>
              <a:rPr lang="en-US" sz="1800"/>
              <a:t>Alcohol 					: Average alcohol consumption in liters per capita.</a:t>
            </a:r>
            <a:endParaRPr sz="1800"/>
          </a:p>
          <a:p>
            <a:pPr marL="0" lvl="0" indent="0" algn="l" rtl="0">
              <a:lnSpc>
                <a:spcPct val="80000"/>
              </a:lnSpc>
              <a:spcBef>
                <a:spcPts val="0"/>
              </a:spcBef>
              <a:spcAft>
                <a:spcPts val="0"/>
              </a:spcAft>
              <a:buClr>
                <a:schemeClr val="dk1"/>
              </a:buClr>
              <a:buSzPts val="605"/>
              <a:buFont typeface="Arial"/>
              <a:buNone/>
            </a:pPr>
            <a:r>
              <a:rPr lang="en-US" sz="1800"/>
              <a:t>Percentage Expenditure	: Health expenditure as a percentage of a country's GDP.</a:t>
            </a:r>
            <a:endParaRPr sz="1800"/>
          </a:p>
          <a:p>
            <a:pPr marL="0" lvl="0" indent="0" algn="l" rtl="0">
              <a:lnSpc>
                <a:spcPct val="80000"/>
              </a:lnSpc>
              <a:spcBef>
                <a:spcPts val="0"/>
              </a:spcBef>
              <a:spcAft>
                <a:spcPts val="0"/>
              </a:spcAft>
              <a:buClr>
                <a:schemeClr val="dk1"/>
              </a:buClr>
              <a:buSzPts val="605"/>
              <a:buFont typeface="Arial"/>
              <a:buNone/>
            </a:pPr>
            <a:r>
              <a:rPr lang="en-US" sz="1800"/>
              <a:t>Hepatitis B				: Measure immunization coverage for Hepatitis B.</a:t>
            </a:r>
            <a:endParaRPr sz="1800"/>
          </a:p>
          <a:p>
            <a:pPr marL="0" lvl="0" indent="0" algn="l" rtl="0">
              <a:lnSpc>
                <a:spcPct val="80000"/>
              </a:lnSpc>
              <a:spcBef>
                <a:spcPts val="0"/>
              </a:spcBef>
              <a:spcAft>
                <a:spcPts val="0"/>
              </a:spcAft>
              <a:buClr>
                <a:schemeClr val="dk1"/>
              </a:buClr>
              <a:buSzPts val="605"/>
              <a:buFont typeface="Arial"/>
              <a:buNone/>
            </a:pPr>
            <a:r>
              <a:rPr lang="en-US" sz="1800"/>
              <a:t>Measles					: Number of reported cases per 1,000 population.</a:t>
            </a:r>
            <a:endParaRPr sz="1800"/>
          </a:p>
          <a:p>
            <a:pPr marL="0" lvl="0" indent="0" algn="l" rtl="0">
              <a:lnSpc>
                <a:spcPct val="80000"/>
              </a:lnSpc>
              <a:spcBef>
                <a:spcPts val="0"/>
              </a:spcBef>
              <a:spcAft>
                <a:spcPts val="0"/>
              </a:spcAft>
              <a:buClr>
                <a:schemeClr val="dk1"/>
              </a:buClr>
              <a:buSzPts val="605"/>
              <a:buFont typeface="Arial"/>
              <a:buNone/>
            </a:pPr>
            <a:r>
              <a:rPr lang="en-US" sz="1800"/>
              <a:t>BMI						: The average Body Mass Index.</a:t>
            </a:r>
            <a:endParaRPr sz="1800"/>
          </a:p>
          <a:p>
            <a:pPr marL="0" lvl="0" indent="0" algn="l" rtl="0">
              <a:lnSpc>
                <a:spcPct val="80000"/>
              </a:lnSpc>
              <a:spcBef>
                <a:spcPts val="0"/>
              </a:spcBef>
              <a:spcAft>
                <a:spcPts val="0"/>
              </a:spcAft>
              <a:buClr>
                <a:schemeClr val="dk1"/>
              </a:buClr>
              <a:buSzPts val="605"/>
              <a:buFont typeface="Arial"/>
              <a:buNone/>
            </a:pPr>
            <a:r>
              <a:rPr lang="en-US" sz="1800"/>
              <a:t>Under-Five Deaths		: Number of deaths under age five per 1,000 live births.</a:t>
            </a:r>
            <a:endParaRPr sz="1800"/>
          </a:p>
          <a:p>
            <a:pPr marL="0" lvl="0" indent="0" algn="l" rtl="0">
              <a:lnSpc>
                <a:spcPct val="80000"/>
              </a:lnSpc>
              <a:spcBef>
                <a:spcPts val="0"/>
              </a:spcBef>
              <a:spcAft>
                <a:spcPts val="0"/>
              </a:spcAft>
              <a:buClr>
                <a:schemeClr val="dk1"/>
              </a:buClr>
              <a:buSzPts val="605"/>
              <a:buFont typeface="Arial"/>
              <a:buNone/>
            </a:pPr>
            <a:r>
              <a:rPr lang="en-US" sz="1800"/>
              <a:t>Polio					: Immunization coverage for Polio.</a:t>
            </a:r>
            <a:endParaRPr sz="1800"/>
          </a:p>
          <a:p>
            <a:pPr marL="0" lvl="0" indent="0" algn="l" rtl="0">
              <a:lnSpc>
                <a:spcPct val="80000"/>
              </a:lnSpc>
              <a:spcBef>
                <a:spcPts val="0"/>
              </a:spcBef>
              <a:spcAft>
                <a:spcPts val="0"/>
              </a:spcAft>
              <a:buClr>
                <a:schemeClr val="dk1"/>
              </a:buClr>
              <a:buSzPts val="605"/>
              <a:buFont typeface="Arial"/>
              <a:buNone/>
            </a:pPr>
            <a:r>
              <a:rPr lang="en-US" sz="1800"/>
              <a:t>Total Expenditure			: Total health expenditure as a percentage of GDP.</a:t>
            </a:r>
            <a:endParaRPr sz="1800"/>
          </a:p>
          <a:p>
            <a:pPr marL="0" lvl="0" indent="0" algn="l" rtl="0">
              <a:lnSpc>
                <a:spcPct val="80000"/>
              </a:lnSpc>
              <a:spcBef>
                <a:spcPts val="0"/>
              </a:spcBef>
              <a:spcAft>
                <a:spcPts val="0"/>
              </a:spcAft>
              <a:buClr>
                <a:schemeClr val="dk1"/>
              </a:buClr>
              <a:buSzPts val="605"/>
              <a:buFont typeface="Arial"/>
              <a:buNone/>
            </a:pPr>
            <a:r>
              <a:rPr lang="en-US" sz="1800"/>
              <a:t>Diphtheria				: Immunization coverage for Diphtheria.</a:t>
            </a:r>
            <a:endParaRPr sz="1800"/>
          </a:p>
          <a:p>
            <a:pPr marL="0" lvl="0" indent="0" algn="l" rtl="0">
              <a:lnSpc>
                <a:spcPct val="80000"/>
              </a:lnSpc>
              <a:spcBef>
                <a:spcPts val="0"/>
              </a:spcBef>
              <a:spcAft>
                <a:spcPts val="0"/>
              </a:spcAft>
              <a:buClr>
                <a:schemeClr val="dk1"/>
              </a:buClr>
              <a:buSzPts val="605"/>
              <a:buFont typeface="Arial"/>
              <a:buNone/>
            </a:pPr>
            <a:r>
              <a:rPr lang="en-US" sz="1800"/>
              <a:t>HIV/AIDS				: Prevalence of HIV/AIDS as a percentage of the population.</a:t>
            </a:r>
            <a:endParaRPr sz="1800"/>
          </a:p>
          <a:p>
            <a:pPr marL="0" lvl="0" indent="0" algn="l" rtl="0">
              <a:lnSpc>
                <a:spcPct val="80000"/>
              </a:lnSpc>
              <a:spcBef>
                <a:spcPts val="0"/>
              </a:spcBef>
              <a:spcAft>
                <a:spcPts val="0"/>
              </a:spcAft>
              <a:buClr>
                <a:schemeClr val="dk1"/>
              </a:buClr>
              <a:buSzPts val="605"/>
              <a:buFont typeface="Arial"/>
              <a:buNone/>
            </a:pPr>
            <a:r>
              <a:rPr lang="en-US" sz="1800"/>
              <a:t>GDP					: Gross Domestic Product data.</a:t>
            </a:r>
            <a:endParaRPr sz="1800"/>
          </a:p>
          <a:p>
            <a:pPr marL="0" lvl="0" indent="0" algn="l" rtl="0">
              <a:lnSpc>
                <a:spcPct val="80000"/>
              </a:lnSpc>
              <a:spcBef>
                <a:spcPts val="0"/>
              </a:spcBef>
              <a:spcAft>
                <a:spcPts val="0"/>
              </a:spcAft>
              <a:buClr>
                <a:schemeClr val="dk1"/>
              </a:buClr>
              <a:buSzPts val="605"/>
              <a:buFont typeface="Arial"/>
              <a:buNone/>
            </a:pPr>
            <a:r>
              <a:rPr lang="en-US" sz="1800"/>
              <a:t>Population				: Witness the ebb and flow of a nation's populace.</a:t>
            </a:r>
            <a:endParaRPr sz="1800"/>
          </a:p>
          <a:p>
            <a:pPr marL="0" lvl="0" indent="0" algn="l" rtl="0">
              <a:lnSpc>
                <a:spcPct val="80000"/>
              </a:lnSpc>
              <a:spcBef>
                <a:spcPts val="0"/>
              </a:spcBef>
              <a:spcAft>
                <a:spcPts val="0"/>
              </a:spcAft>
              <a:buClr>
                <a:schemeClr val="dk1"/>
              </a:buClr>
              <a:buSzPts val="605"/>
              <a:buFont typeface="Arial"/>
              <a:buNone/>
            </a:pPr>
            <a:r>
              <a:rPr lang="en-US" sz="1800"/>
              <a:t>Thinness 1-19 Years		: Prevalence of thinness among adolescents aged 1-19.</a:t>
            </a:r>
            <a:endParaRPr sz="1800"/>
          </a:p>
          <a:p>
            <a:pPr marL="0" lvl="0" indent="0" algn="l" rtl="0">
              <a:lnSpc>
                <a:spcPct val="80000"/>
              </a:lnSpc>
              <a:spcBef>
                <a:spcPts val="0"/>
              </a:spcBef>
              <a:spcAft>
                <a:spcPts val="0"/>
              </a:spcAft>
              <a:buClr>
                <a:schemeClr val="dk1"/>
              </a:buClr>
              <a:buSzPts val="605"/>
              <a:buFont typeface="Arial"/>
              <a:buNone/>
            </a:pPr>
            <a:r>
              <a:rPr lang="en-US" sz="1800"/>
              <a:t>Thinness 5-9 Years		: Thinness among children aged 5-9.</a:t>
            </a:r>
            <a:endParaRPr sz="1800"/>
          </a:p>
          <a:p>
            <a:pPr marL="0" lvl="0" indent="0" algn="l" rtl="0">
              <a:lnSpc>
                <a:spcPct val="80000"/>
              </a:lnSpc>
              <a:spcBef>
                <a:spcPts val="0"/>
              </a:spcBef>
              <a:spcAft>
                <a:spcPts val="0"/>
              </a:spcAft>
              <a:buClr>
                <a:schemeClr val="dk1"/>
              </a:buClr>
              <a:buSzPts val="605"/>
              <a:buFont typeface="Arial"/>
              <a:buNone/>
            </a:pPr>
            <a:r>
              <a:rPr lang="en-US" sz="1800"/>
              <a:t>ICOR					: Composite index reflecting income distribution and resource access.</a:t>
            </a:r>
            <a:endParaRPr sz="1800"/>
          </a:p>
          <a:p>
            <a:pPr marL="0" lvl="0" indent="0" algn="l" rtl="0">
              <a:lnSpc>
                <a:spcPct val="80000"/>
              </a:lnSpc>
              <a:spcBef>
                <a:spcPts val="0"/>
              </a:spcBef>
              <a:spcAft>
                <a:spcPts val="0"/>
              </a:spcAft>
              <a:buClr>
                <a:schemeClr val="dk1"/>
              </a:buClr>
              <a:buSzPts val="605"/>
              <a:buFont typeface="Arial"/>
              <a:buNone/>
            </a:pPr>
            <a:r>
              <a:rPr lang="en-US" sz="1800"/>
              <a:t>Schooling				: Average years of schooling.</a:t>
            </a:r>
            <a:endParaRPr sz="1800"/>
          </a:p>
          <a:p>
            <a:pPr marL="0" lvl="0" indent="0" algn="l" rtl="0">
              <a:lnSpc>
                <a:spcPct val="80000"/>
              </a:lnSpc>
              <a:spcBef>
                <a:spcPts val="0"/>
              </a:spcBef>
              <a:spcAft>
                <a:spcPts val="0"/>
              </a:spcAft>
              <a:buClr>
                <a:schemeClr val="dk1"/>
              </a:buClr>
              <a:buSzPts val="605"/>
              <a:buFont typeface="Arial"/>
              <a:buNone/>
            </a:pPr>
            <a:endParaRPr sz="1800"/>
          </a:p>
          <a:p>
            <a:pPr marL="0" lvl="0" indent="0" algn="l" rtl="0">
              <a:lnSpc>
                <a:spcPct val="80000"/>
              </a:lnSpc>
              <a:spcBef>
                <a:spcPts val="0"/>
              </a:spcBef>
              <a:spcAft>
                <a:spcPts val="0"/>
              </a:spcAft>
              <a:buClr>
                <a:schemeClr val="dk1"/>
              </a:buClr>
              <a:buSzPts val="605"/>
              <a:buFont typeface="Arial"/>
              <a:buNone/>
            </a:pPr>
            <a:endParaRPr sz="1800"/>
          </a:p>
          <a:p>
            <a:pPr marL="0" lvl="0" indent="0" algn="l" rtl="0">
              <a:spcBef>
                <a:spcPts val="0"/>
              </a:spcBef>
              <a:spcAft>
                <a:spcPts val="1600"/>
              </a:spcAft>
              <a:buNone/>
            </a:pPr>
            <a:endParaRPr sz="18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42"/>
          <p:cNvSpPr txBox="1">
            <a:spLocks noGrp="1"/>
          </p:cNvSpPr>
          <p:nvPr>
            <p:ph type="title"/>
          </p:nvPr>
        </p:nvSpPr>
        <p:spPr>
          <a:xfrm>
            <a:off x="415600" y="593367"/>
            <a:ext cx="11360700" cy="763500"/>
          </a:xfrm>
          <a:prstGeom prst="rect">
            <a:avLst/>
          </a:prstGeom>
        </p:spPr>
        <p:txBody>
          <a:bodyPr spcFirstLastPara="1" wrap="square" lIns="121900" tIns="121900" rIns="121900" bIns="121900" anchor="t" anchorCtr="0">
            <a:normAutofit fontScale="90000"/>
          </a:bodyPr>
          <a:lstStyle/>
          <a:p>
            <a:pPr marL="0" lvl="0" indent="0" algn="ctr" rtl="0">
              <a:spcBef>
                <a:spcPts val="0"/>
              </a:spcBef>
              <a:spcAft>
                <a:spcPts val="0"/>
              </a:spcAft>
              <a:buClr>
                <a:schemeClr val="dk1"/>
              </a:buClr>
              <a:buSzPct val="40540"/>
              <a:buFont typeface="Arial"/>
              <a:buNone/>
            </a:pPr>
            <a:r>
              <a:rPr lang="en-US"/>
              <a:t>Data Preprocessing</a:t>
            </a:r>
            <a:endParaRPr/>
          </a:p>
        </p:txBody>
      </p:sp>
      <p:sp>
        <p:nvSpPr>
          <p:cNvPr id="276" name="Google Shape;276;p42"/>
          <p:cNvSpPr txBox="1">
            <a:spLocks noGrp="1"/>
          </p:cNvSpPr>
          <p:nvPr>
            <p:ph type="body" idx="1"/>
          </p:nvPr>
        </p:nvSpPr>
        <p:spPr>
          <a:xfrm>
            <a:off x="415600" y="1536633"/>
            <a:ext cx="11360700" cy="4555200"/>
          </a:xfrm>
          <a:prstGeom prst="rect">
            <a:avLst/>
          </a:prstGeom>
        </p:spPr>
        <p:txBody>
          <a:bodyPr spcFirstLastPara="1" wrap="square" lIns="121900" tIns="121900" rIns="121900" bIns="121900" anchor="t" anchorCtr="0">
            <a:normAutofit/>
          </a:bodyPr>
          <a:lstStyle/>
          <a:p>
            <a:pPr marL="609600" lvl="0" indent="-457200" algn="l" rtl="0">
              <a:spcBef>
                <a:spcPts val="0"/>
              </a:spcBef>
              <a:spcAft>
                <a:spcPts val="0"/>
              </a:spcAft>
              <a:buSzPts val="2400"/>
              <a:buChar char="●"/>
            </a:pPr>
            <a:r>
              <a:rPr lang="en-US"/>
              <a:t>Converting categorical variables into factors</a:t>
            </a:r>
            <a:endParaRPr/>
          </a:p>
          <a:p>
            <a:pPr marL="609600" lvl="0" indent="0" algn="l" rtl="0">
              <a:spcBef>
                <a:spcPts val="1600"/>
              </a:spcBef>
              <a:spcAft>
                <a:spcPts val="0"/>
              </a:spcAft>
              <a:buNone/>
            </a:pPr>
            <a:r>
              <a:rPr lang="en-US" sz="1300">
                <a:solidFill>
                  <a:srgbClr val="0000FF"/>
                </a:solidFill>
                <a:highlight>
                  <a:srgbClr val="FFFFFF"/>
                </a:highlight>
                <a:latin typeface="Courier New"/>
                <a:ea typeface="Courier New"/>
                <a:cs typeface="Courier New"/>
                <a:sym typeface="Courier New"/>
              </a:rPr>
              <a:t>&gt; Cleaned_Health_Data$Status &lt;- as.factor(Cleaned_Health_Data$Status)</a:t>
            </a:r>
            <a:endParaRPr sz="1300">
              <a:solidFill>
                <a:srgbClr val="0000FF"/>
              </a:solidFill>
              <a:highlight>
                <a:srgbClr val="FFFFFF"/>
              </a:highlight>
              <a:latin typeface="Courier New"/>
              <a:ea typeface="Courier New"/>
              <a:cs typeface="Courier New"/>
              <a:sym typeface="Courier New"/>
            </a:endParaRPr>
          </a:p>
          <a:p>
            <a:pPr marL="609600" lvl="0" indent="0" algn="l" rtl="0">
              <a:spcBef>
                <a:spcPts val="1600"/>
              </a:spcBef>
              <a:spcAft>
                <a:spcPts val="0"/>
              </a:spcAft>
              <a:buNone/>
            </a:pPr>
            <a:r>
              <a:rPr lang="en-US" sz="1300">
                <a:solidFill>
                  <a:srgbClr val="0000FF"/>
                </a:solidFill>
                <a:highlight>
                  <a:srgbClr val="FFFFFF"/>
                </a:highlight>
                <a:latin typeface="Courier New"/>
                <a:ea typeface="Courier New"/>
                <a:cs typeface="Courier New"/>
                <a:sym typeface="Courier New"/>
              </a:rPr>
              <a:t>&gt; Cleaned_Health_Data$Country &lt;- as.factor(Cleaned_Health_Data$Country)</a:t>
            </a:r>
            <a:endParaRPr sz="1300">
              <a:solidFill>
                <a:srgbClr val="0000FF"/>
              </a:solidFill>
              <a:highlight>
                <a:srgbClr val="FFFFFF"/>
              </a:highlight>
              <a:latin typeface="Courier New"/>
              <a:ea typeface="Courier New"/>
              <a:cs typeface="Courier New"/>
              <a:sym typeface="Courier New"/>
            </a:endParaRPr>
          </a:p>
          <a:p>
            <a:pPr marL="0" lvl="0" indent="609600" algn="l" rtl="0">
              <a:lnSpc>
                <a:spcPct val="120000"/>
              </a:lnSpc>
              <a:spcBef>
                <a:spcPts val="1600"/>
              </a:spcBef>
              <a:spcAft>
                <a:spcPts val="0"/>
              </a:spcAft>
              <a:buNone/>
            </a:pPr>
            <a:r>
              <a:rPr lang="en-US" sz="1300">
                <a:solidFill>
                  <a:srgbClr val="0000FF"/>
                </a:solidFill>
                <a:highlight>
                  <a:srgbClr val="FFFFFF"/>
                </a:highlight>
                <a:latin typeface="Courier New"/>
                <a:ea typeface="Courier New"/>
                <a:cs typeface="Courier New"/>
                <a:sym typeface="Courier New"/>
              </a:rPr>
              <a:t>&gt; Cleaned_Health_Data$Continent &lt;- as.factor(Cleaned_Health_Data$Continent)</a:t>
            </a:r>
            <a:endParaRPr sz="1300">
              <a:solidFill>
                <a:srgbClr val="0000FF"/>
              </a:solidFill>
              <a:highlight>
                <a:srgbClr val="FFFFFF"/>
              </a:highlight>
              <a:latin typeface="Courier New"/>
              <a:ea typeface="Courier New"/>
              <a:cs typeface="Courier New"/>
              <a:sym typeface="Courier New"/>
            </a:endParaRPr>
          </a:p>
          <a:p>
            <a:pPr marL="0" lvl="0" indent="609600" algn="l" rtl="0">
              <a:lnSpc>
                <a:spcPct val="120000"/>
              </a:lnSpc>
              <a:spcBef>
                <a:spcPts val="0"/>
              </a:spcBef>
              <a:spcAft>
                <a:spcPts val="0"/>
              </a:spcAft>
              <a:buNone/>
            </a:pPr>
            <a:endParaRPr sz="1300">
              <a:solidFill>
                <a:srgbClr val="0000FF"/>
              </a:solidFill>
              <a:highlight>
                <a:srgbClr val="FFFFFF"/>
              </a:highlight>
              <a:latin typeface="Courier New"/>
              <a:ea typeface="Courier New"/>
              <a:cs typeface="Courier New"/>
              <a:sym typeface="Courier New"/>
            </a:endParaRPr>
          </a:p>
          <a:p>
            <a:pPr marL="609600" lvl="0" indent="-457200" algn="l" rtl="0">
              <a:spcBef>
                <a:spcPts val="0"/>
              </a:spcBef>
              <a:spcAft>
                <a:spcPts val="0"/>
              </a:spcAft>
              <a:buSzPts val="2400"/>
              <a:buChar char="●"/>
            </a:pPr>
            <a:r>
              <a:rPr lang="en-US"/>
              <a:t>Removing the variables that do not provide additional information to predict the response variable ‘Life Expectancy.</a:t>
            </a:r>
            <a:endParaRPr/>
          </a:p>
          <a:p>
            <a:pPr marL="609600" lvl="0" indent="-457200" algn="l" rtl="0">
              <a:spcBef>
                <a:spcPts val="0"/>
              </a:spcBef>
              <a:spcAft>
                <a:spcPts val="0"/>
              </a:spcAft>
              <a:buSzPts val="2400"/>
              <a:buChar char="-"/>
            </a:pPr>
            <a:r>
              <a:rPr lang="en-US"/>
              <a:t>‘Country’ and ‘Year’ are removed from our dataset as part of the analysis. </a:t>
            </a:r>
            <a:endParaRPr sz="1300">
              <a:solidFill>
                <a:srgbClr val="0000FF"/>
              </a:solidFill>
              <a:highlight>
                <a:srgbClr val="FFFFFF"/>
              </a:highlight>
              <a:latin typeface="Courier New"/>
              <a:ea typeface="Courier New"/>
              <a:cs typeface="Courier New"/>
              <a:sym typeface="Courier New"/>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43"/>
          <p:cNvSpPr txBox="1">
            <a:spLocks noGrp="1"/>
          </p:cNvSpPr>
          <p:nvPr>
            <p:ph type="title"/>
          </p:nvPr>
        </p:nvSpPr>
        <p:spPr>
          <a:xfrm>
            <a:off x="415600" y="593367"/>
            <a:ext cx="11360700" cy="763500"/>
          </a:xfrm>
          <a:prstGeom prst="rect">
            <a:avLst/>
          </a:prstGeom>
        </p:spPr>
        <p:txBody>
          <a:bodyPr spcFirstLastPara="1" wrap="square" lIns="121900" tIns="121900" rIns="121900" bIns="121900" anchor="t" anchorCtr="0">
            <a:normAutofit fontScale="90000"/>
          </a:bodyPr>
          <a:lstStyle/>
          <a:p>
            <a:pPr marL="0" lvl="0" indent="0" algn="ctr" rtl="0">
              <a:spcBef>
                <a:spcPts val="0"/>
              </a:spcBef>
              <a:spcAft>
                <a:spcPts val="0"/>
              </a:spcAft>
              <a:buNone/>
            </a:pPr>
            <a:r>
              <a:rPr lang="en-US"/>
              <a:t>Summary Statistics</a:t>
            </a:r>
            <a:endParaRPr/>
          </a:p>
        </p:txBody>
      </p:sp>
      <p:sp>
        <p:nvSpPr>
          <p:cNvPr id="282" name="Google Shape;282;p43"/>
          <p:cNvSpPr txBox="1">
            <a:spLocks noGrp="1"/>
          </p:cNvSpPr>
          <p:nvPr>
            <p:ph type="body" idx="1"/>
          </p:nvPr>
        </p:nvSpPr>
        <p:spPr>
          <a:xfrm>
            <a:off x="415600" y="1536633"/>
            <a:ext cx="11360700" cy="4555200"/>
          </a:xfrm>
          <a:prstGeom prst="rect">
            <a:avLst/>
          </a:prstGeom>
        </p:spPr>
        <p:txBody>
          <a:bodyPr spcFirstLastPara="1" wrap="square" lIns="121900" tIns="121900" rIns="121900" bIns="121900" anchor="t" anchorCtr="0">
            <a:normAutofit/>
          </a:bodyPr>
          <a:lstStyle/>
          <a:p>
            <a:pPr marL="0" lvl="0" indent="0" algn="l" rtl="0">
              <a:spcBef>
                <a:spcPts val="0"/>
              </a:spcBef>
              <a:spcAft>
                <a:spcPts val="1600"/>
              </a:spcAft>
              <a:buNone/>
            </a:pPr>
            <a:endParaRPr/>
          </a:p>
        </p:txBody>
      </p:sp>
      <p:pic>
        <p:nvPicPr>
          <p:cNvPr id="283" name="Google Shape;283;p43"/>
          <p:cNvPicPr preferRelativeResize="0"/>
          <p:nvPr/>
        </p:nvPicPr>
        <p:blipFill>
          <a:blip r:embed="rId3">
            <a:alphaModFix/>
          </a:blip>
          <a:stretch>
            <a:fillRect/>
          </a:stretch>
        </p:blipFill>
        <p:spPr>
          <a:xfrm>
            <a:off x="415600" y="1610434"/>
            <a:ext cx="11233499" cy="4380466"/>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44"/>
          <p:cNvSpPr txBox="1">
            <a:spLocks noGrp="1"/>
          </p:cNvSpPr>
          <p:nvPr>
            <p:ph type="title"/>
          </p:nvPr>
        </p:nvSpPr>
        <p:spPr>
          <a:xfrm>
            <a:off x="284233" y="97067"/>
            <a:ext cx="11360700" cy="763500"/>
          </a:xfrm>
          <a:prstGeom prst="rect">
            <a:avLst/>
          </a:prstGeom>
        </p:spPr>
        <p:txBody>
          <a:bodyPr spcFirstLastPara="1" wrap="square" lIns="121900" tIns="121900" rIns="121900" bIns="121900" anchor="t" anchorCtr="0">
            <a:normAutofit fontScale="90000"/>
          </a:bodyPr>
          <a:lstStyle/>
          <a:p>
            <a:pPr marL="0" lvl="0" indent="0" algn="ctr" rtl="0">
              <a:spcBef>
                <a:spcPts val="0"/>
              </a:spcBef>
              <a:spcAft>
                <a:spcPts val="0"/>
              </a:spcAft>
              <a:buNone/>
            </a:pPr>
            <a:r>
              <a:rPr lang="en-US"/>
              <a:t>SCATTERPLOTS</a:t>
            </a:r>
            <a:endParaRPr/>
          </a:p>
        </p:txBody>
      </p:sp>
      <p:pic>
        <p:nvPicPr>
          <p:cNvPr id="289" name="Google Shape;289;p44"/>
          <p:cNvPicPr preferRelativeResize="0"/>
          <p:nvPr/>
        </p:nvPicPr>
        <p:blipFill>
          <a:blip r:embed="rId3">
            <a:alphaModFix/>
          </a:blip>
          <a:stretch>
            <a:fillRect/>
          </a:stretch>
        </p:blipFill>
        <p:spPr>
          <a:xfrm>
            <a:off x="428000" y="1648367"/>
            <a:ext cx="5667999" cy="4225733"/>
          </a:xfrm>
          <a:prstGeom prst="rect">
            <a:avLst/>
          </a:prstGeom>
          <a:noFill/>
          <a:ln>
            <a:noFill/>
          </a:ln>
        </p:spPr>
      </p:pic>
      <p:pic>
        <p:nvPicPr>
          <p:cNvPr id="290" name="Google Shape;290;p44"/>
          <p:cNvPicPr preferRelativeResize="0"/>
          <p:nvPr/>
        </p:nvPicPr>
        <p:blipFill>
          <a:blip r:embed="rId4">
            <a:alphaModFix/>
          </a:blip>
          <a:stretch>
            <a:fillRect/>
          </a:stretch>
        </p:blipFill>
        <p:spPr>
          <a:xfrm>
            <a:off x="6498900" y="1648367"/>
            <a:ext cx="5085832" cy="4225733"/>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pic>
        <p:nvPicPr>
          <p:cNvPr id="295" name="Google Shape;295;p45"/>
          <p:cNvPicPr preferRelativeResize="0"/>
          <p:nvPr/>
        </p:nvPicPr>
        <p:blipFill>
          <a:blip r:embed="rId3">
            <a:alphaModFix/>
          </a:blip>
          <a:stretch>
            <a:fillRect/>
          </a:stretch>
        </p:blipFill>
        <p:spPr>
          <a:xfrm>
            <a:off x="334600" y="1676400"/>
            <a:ext cx="5761400" cy="4372900"/>
          </a:xfrm>
          <a:prstGeom prst="rect">
            <a:avLst/>
          </a:prstGeom>
          <a:noFill/>
          <a:ln>
            <a:noFill/>
          </a:ln>
        </p:spPr>
      </p:pic>
      <p:pic>
        <p:nvPicPr>
          <p:cNvPr id="296" name="Google Shape;296;p45"/>
          <p:cNvPicPr preferRelativeResize="0"/>
          <p:nvPr/>
        </p:nvPicPr>
        <p:blipFill>
          <a:blip r:embed="rId4">
            <a:alphaModFix/>
          </a:blip>
          <a:stretch>
            <a:fillRect/>
          </a:stretch>
        </p:blipFill>
        <p:spPr>
          <a:xfrm>
            <a:off x="6265333" y="1676400"/>
            <a:ext cx="5511067" cy="43729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pic>
        <p:nvPicPr>
          <p:cNvPr id="301" name="Google Shape;301;p46"/>
          <p:cNvPicPr preferRelativeResize="0"/>
          <p:nvPr/>
        </p:nvPicPr>
        <p:blipFill>
          <a:blip r:embed="rId3">
            <a:alphaModFix/>
          </a:blip>
          <a:stretch>
            <a:fillRect/>
          </a:stretch>
        </p:blipFill>
        <p:spPr>
          <a:xfrm>
            <a:off x="415600" y="1874333"/>
            <a:ext cx="5835135" cy="4131167"/>
          </a:xfrm>
          <a:prstGeom prst="rect">
            <a:avLst/>
          </a:prstGeom>
          <a:noFill/>
          <a:ln>
            <a:noFill/>
          </a:ln>
        </p:spPr>
      </p:pic>
      <p:pic>
        <p:nvPicPr>
          <p:cNvPr id="302" name="Google Shape;302;p46"/>
          <p:cNvPicPr preferRelativeResize="0"/>
          <p:nvPr/>
        </p:nvPicPr>
        <p:blipFill>
          <a:blip r:embed="rId4">
            <a:alphaModFix/>
          </a:blip>
          <a:stretch>
            <a:fillRect/>
          </a:stretch>
        </p:blipFill>
        <p:spPr>
          <a:xfrm>
            <a:off x="6732467" y="1874333"/>
            <a:ext cx="5043934" cy="4131167"/>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07" name="Google Shape;307;p47"/>
          <p:cNvPicPr preferRelativeResize="0"/>
          <p:nvPr/>
        </p:nvPicPr>
        <p:blipFill>
          <a:blip r:embed="rId3">
            <a:alphaModFix/>
          </a:blip>
          <a:stretch>
            <a:fillRect/>
          </a:stretch>
        </p:blipFill>
        <p:spPr>
          <a:xfrm>
            <a:off x="641133" y="1867333"/>
            <a:ext cx="5025701" cy="3695700"/>
          </a:xfrm>
          <a:prstGeom prst="rect">
            <a:avLst/>
          </a:prstGeom>
          <a:noFill/>
          <a:ln>
            <a:noFill/>
          </a:ln>
        </p:spPr>
      </p:pic>
      <p:pic>
        <p:nvPicPr>
          <p:cNvPr id="308" name="Google Shape;308;p47"/>
          <p:cNvPicPr preferRelativeResize="0"/>
          <p:nvPr/>
        </p:nvPicPr>
        <p:blipFill>
          <a:blip r:embed="rId4">
            <a:alphaModFix/>
          </a:blip>
          <a:stretch>
            <a:fillRect/>
          </a:stretch>
        </p:blipFill>
        <p:spPr>
          <a:xfrm>
            <a:off x="6293367" y="1867333"/>
            <a:ext cx="5577499" cy="3758634"/>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pic>
        <p:nvPicPr>
          <p:cNvPr id="313" name="Google Shape;313;p48"/>
          <p:cNvPicPr preferRelativeResize="0"/>
          <p:nvPr/>
        </p:nvPicPr>
        <p:blipFill>
          <a:blip r:embed="rId3">
            <a:alphaModFix/>
          </a:blip>
          <a:stretch>
            <a:fillRect/>
          </a:stretch>
        </p:blipFill>
        <p:spPr>
          <a:xfrm>
            <a:off x="1750567" y="1473200"/>
            <a:ext cx="7924800" cy="36957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Google Shape;318;p49"/>
          <p:cNvSpPr txBox="1">
            <a:spLocks noGrp="1"/>
          </p:cNvSpPr>
          <p:nvPr>
            <p:ph type="title"/>
          </p:nvPr>
        </p:nvSpPr>
        <p:spPr>
          <a:xfrm>
            <a:off x="415600" y="593367"/>
            <a:ext cx="11360700" cy="763500"/>
          </a:xfrm>
          <a:prstGeom prst="rect">
            <a:avLst/>
          </a:prstGeom>
        </p:spPr>
        <p:txBody>
          <a:bodyPr spcFirstLastPara="1" wrap="square" lIns="121900" tIns="121900" rIns="121900" bIns="121900" anchor="t" anchorCtr="0">
            <a:normAutofit fontScale="90000"/>
          </a:bodyPr>
          <a:lstStyle/>
          <a:p>
            <a:pPr marL="0" lvl="0" indent="0" algn="ctr" rtl="0">
              <a:spcBef>
                <a:spcPts val="0"/>
              </a:spcBef>
              <a:spcAft>
                <a:spcPts val="0"/>
              </a:spcAft>
              <a:buNone/>
            </a:pPr>
            <a:r>
              <a:rPr lang="en-US"/>
              <a:t>BOX PLOTS</a:t>
            </a:r>
            <a:endParaRPr/>
          </a:p>
        </p:txBody>
      </p:sp>
      <p:pic>
        <p:nvPicPr>
          <p:cNvPr id="319" name="Google Shape;319;p49"/>
          <p:cNvPicPr preferRelativeResize="0"/>
          <p:nvPr/>
        </p:nvPicPr>
        <p:blipFill>
          <a:blip r:embed="rId3">
            <a:alphaModFix/>
          </a:blip>
          <a:stretch>
            <a:fillRect/>
          </a:stretch>
        </p:blipFill>
        <p:spPr>
          <a:xfrm>
            <a:off x="138233" y="2028467"/>
            <a:ext cx="7006233" cy="3042766"/>
          </a:xfrm>
          <a:prstGeom prst="rect">
            <a:avLst/>
          </a:prstGeom>
          <a:noFill/>
          <a:ln>
            <a:noFill/>
          </a:ln>
        </p:spPr>
      </p:pic>
      <p:pic>
        <p:nvPicPr>
          <p:cNvPr id="320" name="Google Shape;320;p49"/>
          <p:cNvPicPr preferRelativeResize="0"/>
          <p:nvPr/>
        </p:nvPicPr>
        <p:blipFill>
          <a:blip r:embed="rId4">
            <a:alphaModFix/>
          </a:blip>
          <a:stretch>
            <a:fillRect/>
          </a:stretch>
        </p:blipFill>
        <p:spPr>
          <a:xfrm>
            <a:off x="7228767" y="2028467"/>
            <a:ext cx="4685867" cy="3161266"/>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pic>
        <p:nvPicPr>
          <p:cNvPr id="325" name="Google Shape;325;p50"/>
          <p:cNvPicPr preferRelativeResize="0"/>
          <p:nvPr/>
        </p:nvPicPr>
        <p:blipFill>
          <a:blip r:embed="rId3">
            <a:alphaModFix/>
          </a:blip>
          <a:stretch>
            <a:fillRect/>
          </a:stretch>
        </p:blipFill>
        <p:spPr>
          <a:xfrm>
            <a:off x="0" y="0"/>
            <a:ext cx="7924800" cy="3975100"/>
          </a:xfrm>
          <a:prstGeom prst="rect">
            <a:avLst/>
          </a:prstGeom>
          <a:noFill/>
          <a:ln>
            <a:noFill/>
          </a:ln>
        </p:spPr>
      </p:pic>
      <p:pic>
        <p:nvPicPr>
          <p:cNvPr id="326" name="Google Shape;326;p50"/>
          <p:cNvPicPr preferRelativeResize="0"/>
          <p:nvPr/>
        </p:nvPicPr>
        <p:blipFill>
          <a:blip r:embed="rId4">
            <a:alphaModFix/>
          </a:blip>
          <a:stretch>
            <a:fillRect/>
          </a:stretch>
        </p:blipFill>
        <p:spPr>
          <a:xfrm>
            <a:off x="5324267" y="3655267"/>
            <a:ext cx="6867733" cy="3202734"/>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51"/>
          <p:cNvSpPr txBox="1">
            <a:spLocks noGrp="1"/>
          </p:cNvSpPr>
          <p:nvPr>
            <p:ph type="title"/>
          </p:nvPr>
        </p:nvSpPr>
        <p:spPr>
          <a:xfrm>
            <a:off x="415600" y="593367"/>
            <a:ext cx="11360700" cy="763500"/>
          </a:xfrm>
          <a:prstGeom prst="rect">
            <a:avLst/>
          </a:prstGeom>
        </p:spPr>
        <p:txBody>
          <a:bodyPr spcFirstLastPara="1" wrap="square" lIns="121900" tIns="121900" rIns="121900" bIns="121900" anchor="t" anchorCtr="0">
            <a:normAutofit fontScale="90000"/>
          </a:bodyPr>
          <a:lstStyle/>
          <a:p>
            <a:pPr marL="0" lvl="0" indent="0" algn="ctr" rtl="0">
              <a:spcBef>
                <a:spcPts val="0"/>
              </a:spcBef>
              <a:spcAft>
                <a:spcPts val="0"/>
              </a:spcAft>
              <a:buNone/>
            </a:pPr>
            <a:r>
              <a:rPr lang="en-US"/>
              <a:t>MULTICOLLINEARITY - Correlation Matrix</a:t>
            </a:r>
            <a:endParaRPr/>
          </a:p>
        </p:txBody>
      </p:sp>
      <p:pic>
        <p:nvPicPr>
          <p:cNvPr id="332" name="Google Shape;332;p51"/>
          <p:cNvPicPr preferRelativeResize="0"/>
          <p:nvPr/>
        </p:nvPicPr>
        <p:blipFill>
          <a:blip r:embed="rId3">
            <a:alphaModFix/>
          </a:blip>
          <a:stretch>
            <a:fillRect/>
          </a:stretch>
        </p:blipFill>
        <p:spPr>
          <a:xfrm>
            <a:off x="1165467" y="1619167"/>
            <a:ext cx="9253865" cy="2313466"/>
          </a:xfrm>
          <a:prstGeom prst="rect">
            <a:avLst/>
          </a:prstGeom>
          <a:noFill/>
          <a:ln>
            <a:noFill/>
          </a:ln>
        </p:spPr>
      </p:pic>
      <p:pic>
        <p:nvPicPr>
          <p:cNvPr id="333" name="Google Shape;333;p51"/>
          <p:cNvPicPr preferRelativeResize="0"/>
          <p:nvPr/>
        </p:nvPicPr>
        <p:blipFill>
          <a:blip r:embed="rId4">
            <a:alphaModFix/>
          </a:blip>
          <a:stretch>
            <a:fillRect/>
          </a:stretch>
        </p:blipFill>
        <p:spPr>
          <a:xfrm>
            <a:off x="1165467" y="4055833"/>
            <a:ext cx="8833767" cy="2081033"/>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52"/>
          <p:cNvSpPr txBox="1">
            <a:spLocks noGrp="1"/>
          </p:cNvSpPr>
          <p:nvPr>
            <p:ph type="title"/>
          </p:nvPr>
        </p:nvSpPr>
        <p:spPr>
          <a:xfrm>
            <a:off x="415600" y="199233"/>
            <a:ext cx="11360700" cy="763500"/>
          </a:xfrm>
          <a:prstGeom prst="rect">
            <a:avLst/>
          </a:prstGeom>
        </p:spPr>
        <p:txBody>
          <a:bodyPr spcFirstLastPara="1" wrap="square" lIns="121900" tIns="121900" rIns="121900" bIns="121900" anchor="t" anchorCtr="0">
            <a:normAutofit fontScale="90000"/>
          </a:bodyPr>
          <a:lstStyle/>
          <a:p>
            <a:pPr marL="0" lvl="0" indent="0" algn="ctr" rtl="0">
              <a:spcBef>
                <a:spcPts val="0"/>
              </a:spcBef>
              <a:spcAft>
                <a:spcPts val="0"/>
              </a:spcAft>
              <a:buNone/>
            </a:pPr>
            <a:r>
              <a:rPr lang="en-US"/>
              <a:t>Correlation Plot</a:t>
            </a:r>
            <a:endParaRPr/>
          </a:p>
        </p:txBody>
      </p:sp>
      <p:pic>
        <p:nvPicPr>
          <p:cNvPr id="339" name="Google Shape;339;p52"/>
          <p:cNvPicPr preferRelativeResize="0"/>
          <p:nvPr/>
        </p:nvPicPr>
        <p:blipFill>
          <a:blip r:embed="rId3">
            <a:alphaModFix/>
          </a:blip>
          <a:stretch>
            <a:fillRect/>
          </a:stretch>
        </p:blipFill>
        <p:spPr>
          <a:xfrm>
            <a:off x="144833" y="1356967"/>
            <a:ext cx="11752233" cy="50286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53"/>
          <p:cNvSpPr txBox="1">
            <a:spLocks noGrp="1"/>
          </p:cNvSpPr>
          <p:nvPr>
            <p:ph type="title"/>
          </p:nvPr>
        </p:nvSpPr>
        <p:spPr>
          <a:xfrm>
            <a:off x="415600" y="593367"/>
            <a:ext cx="11360700" cy="763500"/>
          </a:xfrm>
          <a:prstGeom prst="rect">
            <a:avLst/>
          </a:prstGeom>
        </p:spPr>
        <p:txBody>
          <a:bodyPr spcFirstLastPara="1" wrap="square" lIns="121900" tIns="121900" rIns="121900" bIns="121900" anchor="t" anchorCtr="0">
            <a:normAutofit fontScale="90000"/>
          </a:bodyPr>
          <a:lstStyle/>
          <a:p>
            <a:pPr marL="0" lvl="0" indent="0" algn="ctr" rtl="0">
              <a:spcBef>
                <a:spcPts val="0"/>
              </a:spcBef>
              <a:spcAft>
                <a:spcPts val="0"/>
              </a:spcAft>
              <a:buNone/>
            </a:pPr>
            <a:r>
              <a:rPr lang="en-US"/>
              <a:t>Linear Regression Model</a:t>
            </a:r>
            <a:endParaRPr/>
          </a:p>
        </p:txBody>
      </p:sp>
      <p:sp>
        <p:nvSpPr>
          <p:cNvPr id="345" name="Google Shape;345;p53"/>
          <p:cNvSpPr txBox="1">
            <a:spLocks noGrp="1"/>
          </p:cNvSpPr>
          <p:nvPr>
            <p:ph type="body" idx="1"/>
          </p:nvPr>
        </p:nvSpPr>
        <p:spPr>
          <a:xfrm>
            <a:off x="415600" y="1536625"/>
            <a:ext cx="4135500" cy="4760400"/>
          </a:xfrm>
          <a:prstGeom prst="rect">
            <a:avLst/>
          </a:prstGeom>
        </p:spPr>
        <p:txBody>
          <a:bodyPr spcFirstLastPara="1" wrap="square" lIns="121900" tIns="121900" rIns="121900" bIns="121900" anchor="t" anchorCtr="0">
            <a:normAutofit fontScale="55000" lnSpcReduction="20000"/>
          </a:bodyPr>
          <a:lstStyle/>
          <a:p>
            <a:pPr marL="0" lvl="0" indent="0" algn="l" rtl="0">
              <a:spcBef>
                <a:spcPts val="0"/>
              </a:spcBef>
              <a:spcAft>
                <a:spcPts val="0"/>
              </a:spcAft>
              <a:buNone/>
            </a:pPr>
            <a:r>
              <a:rPr lang="en-US" sz="1300" b="1">
                <a:solidFill>
                  <a:srgbClr val="0000FF"/>
                </a:solidFill>
                <a:highlight>
                  <a:srgbClr val="FFFFFF"/>
                </a:highlight>
                <a:latin typeface="Courier New"/>
                <a:ea typeface="Courier New"/>
                <a:cs typeface="Courier New"/>
                <a:sym typeface="Courier New"/>
              </a:rPr>
              <a:t>model &lt;- lm(Life_Expectancy ~ ., data = Cleaned_Health_Data)</a:t>
            </a:r>
            <a:endParaRPr sz="1300" b="1">
              <a:solidFill>
                <a:srgbClr val="0000FF"/>
              </a:solidFill>
              <a:highlight>
                <a:srgbClr val="FFFFFF"/>
              </a:highlight>
              <a:latin typeface="Courier New"/>
              <a:ea typeface="Courier New"/>
              <a:cs typeface="Courier New"/>
              <a:sym typeface="Courier New"/>
            </a:endParaRPr>
          </a:p>
          <a:p>
            <a:pPr marL="0" lvl="0" indent="0" algn="l" rtl="0">
              <a:lnSpc>
                <a:spcPct val="120000"/>
              </a:lnSpc>
              <a:spcBef>
                <a:spcPts val="0"/>
              </a:spcBef>
              <a:spcAft>
                <a:spcPts val="0"/>
              </a:spcAft>
              <a:buNone/>
            </a:pPr>
            <a:r>
              <a:rPr lang="en-US" sz="1300" b="1">
                <a:solidFill>
                  <a:srgbClr val="0000FF"/>
                </a:solidFill>
                <a:highlight>
                  <a:srgbClr val="FFFFFF"/>
                </a:highlight>
                <a:latin typeface="Courier New"/>
                <a:ea typeface="Courier New"/>
                <a:cs typeface="Courier New"/>
                <a:sym typeface="Courier New"/>
              </a:rPr>
              <a:t>summary(model)</a:t>
            </a:r>
            <a:endParaRPr sz="1300" b="1">
              <a:solidFill>
                <a:srgbClr val="0000FF"/>
              </a:solidFill>
              <a:highlight>
                <a:srgbClr val="FFFFFF"/>
              </a:highlight>
              <a:latin typeface="Courier New"/>
              <a:ea typeface="Courier New"/>
              <a:cs typeface="Courier New"/>
              <a:sym typeface="Courier New"/>
            </a:endParaRPr>
          </a:p>
          <a:p>
            <a:pPr marL="0" lvl="0" indent="0" algn="l" rtl="0">
              <a:lnSpc>
                <a:spcPct val="120000"/>
              </a:lnSpc>
              <a:spcBef>
                <a:spcPts val="0"/>
              </a:spcBef>
              <a:spcAft>
                <a:spcPts val="0"/>
              </a:spcAft>
              <a:buNone/>
            </a:pPr>
            <a:endParaRPr sz="1300" b="1">
              <a:solidFill>
                <a:srgbClr val="0000FF"/>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en-US" sz="1300" b="1">
                <a:solidFill>
                  <a:schemeClr val="dk1"/>
                </a:solidFill>
                <a:highlight>
                  <a:srgbClr val="FFFFFF"/>
                </a:highlight>
                <a:latin typeface="Courier New"/>
                <a:ea typeface="Courier New"/>
                <a:cs typeface="Courier New"/>
                <a:sym typeface="Courier New"/>
              </a:rPr>
              <a:t>Call:</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en-US" sz="1300" b="1">
                <a:solidFill>
                  <a:schemeClr val="dk1"/>
                </a:solidFill>
                <a:highlight>
                  <a:srgbClr val="FFFFFF"/>
                </a:highlight>
                <a:latin typeface="Courier New"/>
                <a:ea typeface="Courier New"/>
                <a:cs typeface="Courier New"/>
                <a:sym typeface="Courier New"/>
              </a:rPr>
              <a:t>lm(formula = Life_Expectancy ~ ., data = Cleaned_Health_Data)</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None/>
            </a:pP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en-US" sz="1300" b="1">
                <a:solidFill>
                  <a:schemeClr val="dk1"/>
                </a:solidFill>
                <a:highlight>
                  <a:srgbClr val="FFFFFF"/>
                </a:highlight>
                <a:latin typeface="Courier New"/>
                <a:ea typeface="Courier New"/>
                <a:cs typeface="Courier New"/>
                <a:sym typeface="Courier New"/>
              </a:rPr>
              <a:t>Residuals:</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en-US" sz="1300" b="1">
                <a:solidFill>
                  <a:schemeClr val="dk1"/>
                </a:solidFill>
                <a:highlight>
                  <a:srgbClr val="FFFFFF"/>
                </a:highlight>
                <a:latin typeface="Courier New"/>
                <a:ea typeface="Courier New"/>
                <a:cs typeface="Courier New"/>
                <a:sym typeface="Courier New"/>
              </a:rPr>
              <a:t>     Min       1Q   Median       3Q      Max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en-US" sz="1300" b="1">
                <a:solidFill>
                  <a:schemeClr val="dk1"/>
                </a:solidFill>
                <a:highlight>
                  <a:srgbClr val="FFFFFF"/>
                </a:highlight>
                <a:latin typeface="Courier New"/>
                <a:ea typeface="Courier New"/>
                <a:cs typeface="Courier New"/>
                <a:sym typeface="Courier New"/>
              </a:rPr>
              <a:t>-15.8298  -2.2417   0.1148   2.0961  12.3893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None/>
            </a:pP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en-US" sz="1300" b="1">
                <a:solidFill>
                  <a:schemeClr val="dk1"/>
                </a:solidFill>
                <a:highlight>
                  <a:srgbClr val="FFFFFF"/>
                </a:highlight>
                <a:latin typeface="Courier New"/>
                <a:ea typeface="Courier New"/>
                <a:cs typeface="Courier New"/>
                <a:sym typeface="Courier New"/>
              </a:rPr>
              <a:t>Coefficients:</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en-US" sz="1300" b="1">
                <a:solidFill>
                  <a:schemeClr val="dk1"/>
                </a:solidFill>
                <a:highlight>
                  <a:srgbClr val="FFFFFF"/>
                </a:highlight>
                <a:latin typeface="Courier New"/>
                <a:ea typeface="Courier New"/>
                <a:cs typeface="Courier New"/>
                <a:sym typeface="Courier New"/>
              </a:rPr>
              <a:t>                         Estimate Std. Error t value Pr(&gt;|t|)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en-US" sz="1300" b="1">
                <a:solidFill>
                  <a:schemeClr val="dk1"/>
                </a:solidFill>
                <a:highlight>
                  <a:srgbClr val="FFFFFF"/>
                </a:highlight>
                <a:latin typeface="Courier New"/>
                <a:ea typeface="Courier New"/>
                <a:cs typeface="Courier New"/>
                <a:sym typeface="Courier New"/>
              </a:rPr>
              <a:t>(Intercept)             5.485e+01  8.171e-01  67.124  &lt; 2e-16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en-US" sz="1300" b="1">
                <a:solidFill>
                  <a:schemeClr val="dk1"/>
                </a:solidFill>
                <a:highlight>
                  <a:srgbClr val="FFFFFF"/>
                </a:highlight>
                <a:latin typeface="Courier New"/>
                <a:ea typeface="Courier New"/>
                <a:cs typeface="Courier New"/>
                <a:sym typeface="Courier New"/>
              </a:rPr>
              <a:t>StatusDeveloping       -1.636e+00  3.622e-01  -4.517 6.71e-06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en-US" sz="1300" b="1">
                <a:solidFill>
                  <a:schemeClr val="dk1"/>
                </a:solidFill>
                <a:highlight>
                  <a:srgbClr val="FFFFFF"/>
                </a:highlight>
                <a:latin typeface="Courier New"/>
                <a:ea typeface="Courier New"/>
                <a:cs typeface="Courier New"/>
                <a:sym typeface="Courier New"/>
              </a:rPr>
              <a:t>ContinentAmericas       4.271e+00  3.345e-01  12.769  &lt; 2e-16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en-US" sz="1300" b="1">
                <a:solidFill>
                  <a:schemeClr val="dk1"/>
                </a:solidFill>
                <a:highlight>
                  <a:srgbClr val="FFFFFF"/>
                </a:highlight>
                <a:latin typeface="Courier New"/>
                <a:ea typeface="Courier New"/>
                <a:cs typeface="Courier New"/>
                <a:sym typeface="Courier New"/>
              </a:rPr>
              <a:t>ContinentAsia           2.775e+00  2.823e-01   9.827  &lt; 2e-16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en-US" sz="1300" b="1">
                <a:solidFill>
                  <a:schemeClr val="dk1"/>
                </a:solidFill>
                <a:highlight>
                  <a:srgbClr val="FFFFFF"/>
                </a:highlight>
                <a:latin typeface="Courier New"/>
                <a:ea typeface="Courier New"/>
                <a:cs typeface="Courier New"/>
                <a:sym typeface="Courier New"/>
              </a:rPr>
              <a:t>ContinentEurope         3.191e+00  4.152e-01   7.686 2.60e-14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en-US" sz="1300" b="1">
                <a:solidFill>
                  <a:schemeClr val="dk1"/>
                </a:solidFill>
                <a:highlight>
                  <a:srgbClr val="FFFFFF"/>
                </a:highlight>
                <a:latin typeface="Courier New"/>
                <a:ea typeface="Courier New"/>
                <a:cs typeface="Courier New"/>
                <a:sym typeface="Courier New"/>
              </a:rPr>
              <a:t>ContinentOceania        1.332e+00  4.258e-01   3.128  0.00179 **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en-US" sz="1300" b="1">
                <a:solidFill>
                  <a:schemeClr val="dk1"/>
                </a:solidFill>
                <a:highlight>
                  <a:srgbClr val="FFFFFF"/>
                </a:highlight>
                <a:latin typeface="Courier New"/>
                <a:ea typeface="Courier New"/>
                <a:cs typeface="Courier New"/>
                <a:sym typeface="Courier New"/>
              </a:rPr>
              <a:t>Adult_Mortality        -1.523e-02  9.047e-04 -16.831  &lt; 2e-16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en-US" sz="1300" b="1">
                <a:solidFill>
                  <a:schemeClr val="dk1"/>
                </a:solidFill>
                <a:highlight>
                  <a:srgbClr val="FFFFFF"/>
                </a:highlight>
                <a:latin typeface="Courier New"/>
                <a:ea typeface="Courier New"/>
                <a:cs typeface="Courier New"/>
                <a:sym typeface="Courier New"/>
              </a:rPr>
              <a:t>Infant_Deaths           5.856e-02  1.048e-02   5.587 2.70e-08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en-US" sz="1300" b="1">
                <a:solidFill>
                  <a:schemeClr val="dk1"/>
                </a:solidFill>
                <a:highlight>
                  <a:srgbClr val="FFFFFF"/>
                </a:highlight>
                <a:latin typeface="Courier New"/>
                <a:ea typeface="Courier New"/>
                <a:cs typeface="Courier New"/>
                <a:sym typeface="Courier New"/>
              </a:rPr>
              <a:t>Under_5_Deaths         -4.524e-02  7.580e-03  -5.969 2.93e-09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en-US" sz="1300" b="1">
                <a:solidFill>
                  <a:schemeClr val="dk1"/>
                </a:solidFill>
                <a:highlight>
                  <a:srgbClr val="FFFFFF"/>
                </a:highlight>
                <a:latin typeface="Courier New"/>
                <a:ea typeface="Courier New"/>
                <a:cs typeface="Courier New"/>
                <a:sym typeface="Courier New"/>
              </a:rPr>
              <a:t>Alcohol                -1.868e-01  3.584e-02  -5.212 2.11e-07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en-US" sz="1300" b="1">
                <a:solidFill>
                  <a:schemeClr val="dk1"/>
                </a:solidFill>
                <a:highlight>
                  <a:srgbClr val="FFFFFF"/>
                </a:highlight>
                <a:latin typeface="Courier New"/>
                <a:ea typeface="Courier New"/>
                <a:cs typeface="Courier New"/>
                <a:sym typeface="Courier New"/>
              </a:rPr>
              <a:t>HIV_AIDS               -3.733e-01  1.774e-02 -21.050  &lt; 2e-16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en-US" sz="1300" b="1">
                <a:solidFill>
                  <a:schemeClr val="dk1"/>
                </a:solidFill>
                <a:highlight>
                  <a:srgbClr val="FFFFFF"/>
                </a:highlight>
                <a:latin typeface="Courier New"/>
                <a:ea typeface="Courier New"/>
                <a:cs typeface="Courier New"/>
                <a:sym typeface="Courier New"/>
              </a:rPr>
              <a:t>Hepatitis_B            -6.107e-03  4.236e-03  -1.442  0.14963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en-US" sz="1300" b="1">
                <a:solidFill>
                  <a:schemeClr val="dk1"/>
                </a:solidFill>
                <a:highlight>
                  <a:srgbClr val="FFFFFF"/>
                </a:highlight>
                <a:latin typeface="Courier New"/>
                <a:ea typeface="Courier New"/>
                <a:cs typeface="Courier New"/>
                <a:sym typeface="Courier New"/>
              </a:rPr>
              <a:t>Polio                   8.919e-03  4.878e-03   1.828  0.06768 .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en-US" sz="1300" b="1">
                <a:solidFill>
                  <a:schemeClr val="dk1"/>
                </a:solidFill>
                <a:highlight>
                  <a:srgbClr val="FFFFFF"/>
                </a:highlight>
                <a:latin typeface="Courier New"/>
                <a:ea typeface="Courier New"/>
                <a:cs typeface="Courier New"/>
                <a:sym typeface="Courier New"/>
              </a:rPr>
              <a:t>Diphtheria              1.308e-02  5.638e-03   2.319  0.02050 *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en-US" sz="1300" b="1">
                <a:solidFill>
                  <a:schemeClr val="dk1"/>
                </a:solidFill>
                <a:highlight>
                  <a:srgbClr val="FFFFFF"/>
                </a:highlight>
                <a:latin typeface="Courier New"/>
                <a:ea typeface="Courier New"/>
                <a:cs typeface="Courier New"/>
                <a:sym typeface="Courier New"/>
              </a:rPr>
              <a:t>Measles                 1.309e-06  1.034e-05   0.127  0.89929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en-US" sz="1300" b="1">
                <a:solidFill>
                  <a:schemeClr val="dk1"/>
                </a:solidFill>
                <a:highlight>
                  <a:srgbClr val="FFFFFF"/>
                </a:highlight>
                <a:latin typeface="Courier New"/>
                <a:ea typeface="Courier New"/>
                <a:cs typeface="Courier New"/>
                <a:sym typeface="Courier New"/>
              </a:rPr>
              <a:t>BMI                     2.313e-02  5.887e-03   3.928 8.92e-05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en-US" sz="1300" b="1">
                <a:solidFill>
                  <a:schemeClr val="dk1"/>
                </a:solidFill>
                <a:highlight>
                  <a:srgbClr val="FFFFFF"/>
                </a:highlight>
                <a:latin typeface="Courier New"/>
                <a:ea typeface="Courier New"/>
                <a:cs typeface="Courier New"/>
                <a:sym typeface="Courier New"/>
              </a:rPr>
              <a:t>Thinness_5to9_Years    -5.048e-02  5.035e-02  -1.002  0.31627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en-US" sz="1300" b="1">
                <a:solidFill>
                  <a:schemeClr val="dk1"/>
                </a:solidFill>
                <a:highlight>
                  <a:srgbClr val="FFFFFF"/>
                </a:highlight>
                <a:latin typeface="Courier New"/>
                <a:ea typeface="Courier New"/>
                <a:cs typeface="Courier New"/>
                <a:sym typeface="Courier New"/>
              </a:rPr>
              <a:t>Thinness_10to19_Years   8.515e-03  5.038e-02   0.169  0.86580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en-US" sz="1300" b="1">
                <a:solidFill>
                  <a:schemeClr val="dk1"/>
                </a:solidFill>
                <a:highlight>
                  <a:srgbClr val="FFFFFF"/>
                </a:highlight>
                <a:latin typeface="Courier New"/>
                <a:ea typeface="Courier New"/>
                <a:cs typeface="Courier New"/>
                <a:sym typeface="Courier New"/>
              </a:rPr>
              <a:t>GDP                     2.103e-05  2.722e-05   0.773  0.43982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en-US" sz="1300" b="1">
                <a:solidFill>
                  <a:schemeClr val="dk1"/>
                </a:solidFill>
                <a:highlight>
                  <a:srgbClr val="FFFFFF"/>
                </a:highlight>
                <a:latin typeface="Courier New"/>
                <a:ea typeface="Courier New"/>
                <a:cs typeface="Courier New"/>
                <a:sym typeface="Courier New"/>
              </a:rPr>
              <a:t>Population             -6.374e-10  1.659e-09  -0.384  0.70079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en-US" sz="1300" b="1">
                <a:solidFill>
                  <a:schemeClr val="dk1"/>
                </a:solidFill>
                <a:highlight>
                  <a:srgbClr val="FFFFFF"/>
                </a:highlight>
                <a:latin typeface="Courier New"/>
                <a:ea typeface="Courier New"/>
                <a:cs typeface="Courier New"/>
                <a:sym typeface="Courier New"/>
              </a:rPr>
              <a:t>Percentage_Expenditure  3.392e-04  1.730e-04   1.960  0.05012 .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en-US" sz="1300" b="1">
                <a:solidFill>
                  <a:schemeClr val="dk1"/>
                </a:solidFill>
                <a:highlight>
                  <a:srgbClr val="FFFFFF"/>
                </a:highlight>
                <a:latin typeface="Courier New"/>
                <a:ea typeface="Courier New"/>
                <a:cs typeface="Courier New"/>
                <a:sym typeface="Courier New"/>
              </a:rPr>
              <a:t>Total_Expenditure       4.125e-02  3.907e-02   1.056  0.29126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en-US" sz="1300" b="1">
                <a:solidFill>
                  <a:schemeClr val="dk1"/>
                </a:solidFill>
                <a:highlight>
                  <a:srgbClr val="FFFFFF"/>
                </a:highlight>
                <a:latin typeface="Courier New"/>
                <a:ea typeface="Courier New"/>
                <a:cs typeface="Courier New"/>
                <a:sym typeface="Courier New"/>
              </a:rPr>
              <a:t>ICOR                    8.265e+00  8.084e-01  10.224  &lt; 2e-16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en-US" sz="1300" b="1">
                <a:solidFill>
                  <a:schemeClr val="dk1"/>
                </a:solidFill>
                <a:highlight>
                  <a:srgbClr val="FFFFFF"/>
                </a:highlight>
                <a:latin typeface="Courier New"/>
                <a:ea typeface="Courier New"/>
                <a:cs typeface="Courier New"/>
                <a:sym typeface="Courier New"/>
              </a:rPr>
              <a:t>Schooling               8.262e-01  5.756e-02  14.352  &lt; 2e-16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en-US" sz="1300" b="1">
                <a:solidFill>
                  <a:schemeClr val="dk1"/>
                </a:solidFill>
                <a:highlight>
                  <a:srgbClr val="FFFFFF"/>
                </a:highlight>
                <a:latin typeface="Courier New"/>
                <a:ea typeface="Courier New"/>
                <a:cs typeface="Courier New"/>
                <a:sym typeface="Courier New"/>
              </a:rPr>
              <a:t>---</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en-US" sz="1300" b="1">
                <a:solidFill>
                  <a:schemeClr val="dk1"/>
                </a:solidFill>
                <a:highlight>
                  <a:srgbClr val="FFFFFF"/>
                </a:highlight>
                <a:latin typeface="Courier New"/>
                <a:ea typeface="Courier New"/>
                <a:cs typeface="Courier New"/>
                <a:sym typeface="Courier New"/>
              </a:rPr>
              <a:t>Signif. codes:  0 ‘***’ 0.001 ‘**’ 0.01 ‘*’ 0.05 ‘.’ 0.1 ‘ ’ 1</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None/>
            </a:pP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en-US" sz="1300" b="1">
                <a:solidFill>
                  <a:schemeClr val="dk1"/>
                </a:solidFill>
                <a:highlight>
                  <a:srgbClr val="FFFFFF"/>
                </a:highlight>
                <a:latin typeface="Courier New"/>
                <a:ea typeface="Courier New"/>
                <a:cs typeface="Courier New"/>
                <a:sym typeface="Courier New"/>
              </a:rPr>
              <a:t>Residual standard error: 3.396 on 1625 degrees of freedom</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en-US" sz="1300" b="1">
                <a:solidFill>
                  <a:schemeClr val="dk1"/>
                </a:solidFill>
                <a:highlight>
                  <a:srgbClr val="FFFFFF"/>
                </a:highlight>
                <a:latin typeface="Courier New"/>
                <a:ea typeface="Courier New"/>
                <a:cs typeface="Courier New"/>
                <a:sym typeface="Courier New"/>
              </a:rPr>
              <a:t>Multiple R-squared:  0.8531,	Adjusted R-squared:  0.851 </a:t>
            </a:r>
            <a:endParaRPr sz="1300" b="1">
              <a:solidFill>
                <a:schemeClr val="dk1"/>
              </a:solidFill>
              <a:highlight>
                <a:srgbClr val="FFFFFF"/>
              </a:highlight>
              <a:latin typeface="Courier New"/>
              <a:ea typeface="Courier New"/>
              <a:cs typeface="Courier New"/>
              <a:sym typeface="Courier New"/>
            </a:endParaRPr>
          </a:p>
          <a:p>
            <a:pPr marL="0" lvl="0" indent="0" algn="l" rtl="0">
              <a:lnSpc>
                <a:spcPct val="120000"/>
              </a:lnSpc>
              <a:spcBef>
                <a:spcPts val="0"/>
              </a:spcBef>
              <a:spcAft>
                <a:spcPts val="0"/>
              </a:spcAft>
              <a:buNone/>
            </a:pPr>
            <a:r>
              <a:rPr lang="en-US" sz="1300" b="1">
                <a:solidFill>
                  <a:schemeClr val="dk1"/>
                </a:solidFill>
                <a:highlight>
                  <a:srgbClr val="FFFFFF"/>
                </a:highlight>
                <a:latin typeface="Courier New"/>
                <a:ea typeface="Courier New"/>
                <a:cs typeface="Courier New"/>
                <a:sym typeface="Courier New"/>
              </a:rPr>
              <a:t>F-statistic: 410.3 on 23 and 1625 DF,  p-value: &lt; 2.2e-16</a:t>
            </a:r>
            <a:endParaRPr/>
          </a:p>
        </p:txBody>
      </p:sp>
      <p:sp>
        <p:nvSpPr>
          <p:cNvPr id="346" name="Google Shape;346;p53"/>
          <p:cNvSpPr txBox="1">
            <a:spLocks noGrp="1"/>
          </p:cNvSpPr>
          <p:nvPr>
            <p:ph type="body" idx="1"/>
          </p:nvPr>
        </p:nvSpPr>
        <p:spPr>
          <a:xfrm>
            <a:off x="6253524" y="1536625"/>
            <a:ext cx="4305600" cy="4760400"/>
          </a:xfrm>
          <a:prstGeom prst="rect">
            <a:avLst/>
          </a:prstGeom>
        </p:spPr>
        <p:txBody>
          <a:bodyPr spcFirstLastPara="1" wrap="square" lIns="121900" tIns="121900" rIns="121900" bIns="121900" anchor="t" anchorCtr="0">
            <a:normAutofit fontScale="55000" lnSpcReduction="20000"/>
          </a:bodyPr>
          <a:lstStyle/>
          <a:p>
            <a:pPr marL="0" lvl="0" indent="0" algn="l" rtl="0">
              <a:lnSpc>
                <a:spcPct val="120000"/>
              </a:lnSpc>
              <a:spcBef>
                <a:spcPts val="0"/>
              </a:spcBef>
              <a:spcAft>
                <a:spcPts val="0"/>
              </a:spcAft>
              <a:buNone/>
            </a:pPr>
            <a:r>
              <a:rPr lang="en-US" sz="1300" b="1">
                <a:solidFill>
                  <a:srgbClr val="0000FF"/>
                </a:solidFill>
                <a:highlight>
                  <a:srgbClr val="FFFFFF"/>
                </a:highlight>
                <a:latin typeface="Courier New"/>
                <a:ea typeface="Courier New"/>
                <a:cs typeface="Courier New"/>
                <a:sym typeface="Courier New"/>
              </a:rPr>
              <a:t>&gt; summary(final_model) </a:t>
            </a:r>
            <a:endParaRPr sz="1300" b="1">
              <a:solidFill>
                <a:srgbClr val="0000FF"/>
              </a:solidFill>
              <a:highlight>
                <a:srgbClr val="FFFFFF"/>
              </a:highlight>
              <a:latin typeface="Courier New"/>
              <a:ea typeface="Courier New"/>
              <a:cs typeface="Courier New"/>
              <a:sym typeface="Courier New"/>
            </a:endParaRPr>
          </a:p>
          <a:p>
            <a:pPr marL="0" lvl="0" indent="0" algn="l" rtl="0">
              <a:lnSpc>
                <a:spcPct val="120000"/>
              </a:lnSpc>
              <a:spcBef>
                <a:spcPts val="0"/>
              </a:spcBef>
              <a:spcAft>
                <a:spcPts val="0"/>
              </a:spcAft>
              <a:buNone/>
            </a:pPr>
            <a:endParaRPr sz="1300" b="1">
              <a:solidFill>
                <a:schemeClr val="dk1"/>
              </a:solidFill>
              <a:highlight>
                <a:srgbClr val="FFFFFF"/>
              </a:highlight>
              <a:latin typeface="Courier New"/>
              <a:ea typeface="Courier New"/>
              <a:cs typeface="Courier New"/>
              <a:sym typeface="Courier New"/>
            </a:endParaRPr>
          </a:p>
          <a:p>
            <a:pPr marL="0" lvl="0" indent="0" algn="l" rtl="0">
              <a:lnSpc>
                <a:spcPct val="120000"/>
              </a:lnSpc>
              <a:spcBef>
                <a:spcPts val="0"/>
              </a:spcBef>
              <a:spcAft>
                <a:spcPts val="0"/>
              </a:spcAft>
              <a:buNone/>
            </a:pPr>
            <a:r>
              <a:rPr lang="en-US" sz="1300" b="1">
                <a:solidFill>
                  <a:schemeClr val="dk1"/>
                </a:solidFill>
                <a:highlight>
                  <a:srgbClr val="FFFFFF"/>
                </a:highlight>
                <a:latin typeface="Courier New"/>
                <a:ea typeface="Courier New"/>
                <a:cs typeface="Courier New"/>
                <a:sym typeface="Courier New"/>
              </a:rPr>
              <a:t>Call:</a:t>
            </a:r>
            <a:endParaRPr sz="1300" b="1">
              <a:solidFill>
                <a:schemeClr val="dk1"/>
              </a:solidFill>
              <a:highlight>
                <a:srgbClr val="FFFFFF"/>
              </a:highlight>
              <a:latin typeface="Courier New"/>
              <a:ea typeface="Courier New"/>
              <a:cs typeface="Courier New"/>
              <a:sym typeface="Courier New"/>
            </a:endParaRPr>
          </a:p>
          <a:p>
            <a:pPr marL="0" lvl="0" indent="0" algn="l" rtl="0">
              <a:lnSpc>
                <a:spcPct val="120000"/>
              </a:lnSpc>
              <a:spcBef>
                <a:spcPts val="0"/>
              </a:spcBef>
              <a:spcAft>
                <a:spcPts val="0"/>
              </a:spcAft>
              <a:buNone/>
            </a:pPr>
            <a:r>
              <a:rPr lang="en-US" sz="1300" b="1">
                <a:solidFill>
                  <a:schemeClr val="dk1"/>
                </a:solidFill>
                <a:highlight>
                  <a:srgbClr val="FFFFFF"/>
                </a:highlight>
                <a:latin typeface="Courier New"/>
                <a:ea typeface="Courier New"/>
                <a:cs typeface="Courier New"/>
                <a:sym typeface="Courier New"/>
              </a:rPr>
              <a:t>lm(formula = Life_Expectancy ~ Status + Adult_Mortality + Infant_Deaths + </a:t>
            </a:r>
            <a:endParaRPr sz="1300" b="1">
              <a:solidFill>
                <a:schemeClr val="dk1"/>
              </a:solidFill>
              <a:highlight>
                <a:srgbClr val="FFFFFF"/>
              </a:highlight>
              <a:latin typeface="Courier New"/>
              <a:ea typeface="Courier New"/>
              <a:cs typeface="Courier New"/>
              <a:sym typeface="Courier New"/>
            </a:endParaRPr>
          </a:p>
          <a:p>
            <a:pPr marL="0" lvl="0" indent="0" algn="l" rtl="0">
              <a:lnSpc>
                <a:spcPct val="120000"/>
              </a:lnSpc>
              <a:spcBef>
                <a:spcPts val="0"/>
              </a:spcBef>
              <a:spcAft>
                <a:spcPts val="0"/>
              </a:spcAft>
              <a:buNone/>
            </a:pPr>
            <a:r>
              <a:rPr lang="en-US" sz="1300" b="1">
                <a:solidFill>
                  <a:schemeClr val="dk1"/>
                </a:solidFill>
                <a:highlight>
                  <a:srgbClr val="FFFFFF"/>
                </a:highlight>
                <a:latin typeface="Courier New"/>
                <a:ea typeface="Courier New"/>
                <a:cs typeface="Courier New"/>
                <a:sym typeface="Courier New"/>
              </a:rPr>
              <a:t>    Under_5_Deaths + Alcohol + Percentage_Expenditure + BMI + </a:t>
            </a:r>
            <a:endParaRPr sz="1300" b="1">
              <a:solidFill>
                <a:schemeClr val="dk1"/>
              </a:solidFill>
              <a:highlight>
                <a:srgbClr val="FFFFFF"/>
              </a:highlight>
              <a:latin typeface="Courier New"/>
              <a:ea typeface="Courier New"/>
              <a:cs typeface="Courier New"/>
              <a:sym typeface="Courier New"/>
            </a:endParaRPr>
          </a:p>
          <a:p>
            <a:pPr marL="0" lvl="0" indent="0" algn="l" rtl="0">
              <a:lnSpc>
                <a:spcPct val="120000"/>
              </a:lnSpc>
              <a:spcBef>
                <a:spcPts val="0"/>
              </a:spcBef>
              <a:spcAft>
                <a:spcPts val="0"/>
              </a:spcAft>
              <a:buNone/>
            </a:pPr>
            <a:r>
              <a:rPr lang="en-US" sz="1300" b="1">
                <a:solidFill>
                  <a:schemeClr val="dk1"/>
                </a:solidFill>
                <a:highlight>
                  <a:srgbClr val="FFFFFF"/>
                </a:highlight>
                <a:latin typeface="Courier New"/>
                <a:ea typeface="Courier New"/>
                <a:cs typeface="Courier New"/>
                <a:sym typeface="Courier New"/>
              </a:rPr>
              <a:t>    Polio + Diphtheria + HIV_AIDS + Thinness_5to9_Years + ICOR + </a:t>
            </a:r>
            <a:endParaRPr sz="1300" b="1">
              <a:solidFill>
                <a:schemeClr val="dk1"/>
              </a:solidFill>
              <a:highlight>
                <a:srgbClr val="FFFFFF"/>
              </a:highlight>
              <a:latin typeface="Courier New"/>
              <a:ea typeface="Courier New"/>
              <a:cs typeface="Courier New"/>
              <a:sym typeface="Courier New"/>
            </a:endParaRPr>
          </a:p>
          <a:p>
            <a:pPr marL="0" lvl="0" indent="0" algn="l" rtl="0">
              <a:lnSpc>
                <a:spcPct val="120000"/>
              </a:lnSpc>
              <a:spcBef>
                <a:spcPts val="0"/>
              </a:spcBef>
              <a:spcAft>
                <a:spcPts val="0"/>
              </a:spcAft>
              <a:buNone/>
            </a:pPr>
            <a:r>
              <a:rPr lang="en-US" sz="1300" b="1">
                <a:solidFill>
                  <a:schemeClr val="dk1"/>
                </a:solidFill>
                <a:highlight>
                  <a:srgbClr val="FFFFFF"/>
                </a:highlight>
                <a:latin typeface="Courier New"/>
                <a:ea typeface="Courier New"/>
                <a:cs typeface="Courier New"/>
                <a:sym typeface="Courier New"/>
              </a:rPr>
              <a:t>    Schooling + Continent, data = Cleaned_Health_Data)</a:t>
            </a:r>
            <a:endParaRPr sz="1300" b="1">
              <a:solidFill>
                <a:schemeClr val="dk1"/>
              </a:solidFill>
              <a:highlight>
                <a:srgbClr val="FFFFFF"/>
              </a:highlight>
              <a:latin typeface="Courier New"/>
              <a:ea typeface="Courier New"/>
              <a:cs typeface="Courier New"/>
              <a:sym typeface="Courier New"/>
            </a:endParaRPr>
          </a:p>
          <a:p>
            <a:pPr marL="0" lvl="0" indent="0" algn="l" rtl="0">
              <a:lnSpc>
                <a:spcPct val="120000"/>
              </a:lnSpc>
              <a:spcBef>
                <a:spcPts val="0"/>
              </a:spcBef>
              <a:spcAft>
                <a:spcPts val="0"/>
              </a:spcAft>
              <a:buNone/>
            </a:pPr>
            <a:endParaRPr sz="1300" b="1">
              <a:solidFill>
                <a:schemeClr val="dk1"/>
              </a:solidFill>
              <a:highlight>
                <a:srgbClr val="FFFFFF"/>
              </a:highlight>
              <a:latin typeface="Courier New"/>
              <a:ea typeface="Courier New"/>
              <a:cs typeface="Courier New"/>
              <a:sym typeface="Courier New"/>
            </a:endParaRPr>
          </a:p>
          <a:p>
            <a:pPr marL="0" lvl="0" indent="0" algn="l" rtl="0">
              <a:lnSpc>
                <a:spcPct val="120000"/>
              </a:lnSpc>
              <a:spcBef>
                <a:spcPts val="0"/>
              </a:spcBef>
              <a:spcAft>
                <a:spcPts val="0"/>
              </a:spcAft>
              <a:buNone/>
            </a:pPr>
            <a:r>
              <a:rPr lang="en-US" sz="1300" b="1">
                <a:solidFill>
                  <a:schemeClr val="dk1"/>
                </a:solidFill>
                <a:highlight>
                  <a:srgbClr val="FFFFFF"/>
                </a:highlight>
                <a:latin typeface="Courier New"/>
                <a:ea typeface="Courier New"/>
                <a:cs typeface="Courier New"/>
                <a:sym typeface="Courier New"/>
              </a:rPr>
              <a:t>Residuals:</a:t>
            </a:r>
            <a:endParaRPr sz="1300" b="1">
              <a:solidFill>
                <a:schemeClr val="dk1"/>
              </a:solidFill>
              <a:highlight>
                <a:srgbClr val="FFFFFF"/>
              </a:highlight>
              <a:latin typeface="Courier New"/>
              <a:ea typeface="Courier New"/>
              <a:cs typeface="Courier New"/>
              <a:sym typeface="Courier New"/>
            </a:endParaRPr>
          </a:p>
          <a:p>
            <a:pPr marL="0" lvl="0" indent="0" algn="l" rtl="0">
              <a:lnSpc>
                <a:spcPct val="120000"/>
              </a:lnSpc>
              <a:spcBef>
                <a:spcPts val="0"/>
              </a:spcBef>
              <a:spcAft>
                <a:spcPts val="0"/>
              </a:spcAft>
              <a:buNone/>
            </a:pPr>
            <a:r>
              <a:rPr lang="en-US" sz="1300" b="1">
                <a:solidFill>
                  <a:schemeClr val="dk1"/>
                </a:solidFill>
                <a:highlight>
                  <a:srgbClr val="FFFFFF"/>
                </a:highlight>
                <a:latin typeface="Courier New"/>
                <a:ea typeface="Courier New"/>
                <a:cs typeface="Courier New"/>
                <a:sym typeface="Courier New"/>
              </a:rPr>
              <a:t>     Min       1Q   Median       3Q      Max </a:t>
            </a:r>
            <a:endParaRPr sz="1300" b="1">
              <a:solidFill>
                <a:schemeClr val="dk1"/>
              </a:solidFill>
              <a:highlight>
                <a:srgbClr val="FFFFFF"/>
              </a:highlight>
              <a:latin typeface="Courier New"/>
              <a:ea typeface="Courier New"/>
              <a:cs typeface="Courier New"/>
              <a:sym typeface="Courier New"/>
            </a:endParaRPr>
          </a:p>
          <a:p>
            <a:pPr marL="0" lvl="0" indent="0" algn="l" rtl="0">
              <a:lnSpc>
                <a:spcPct val="120000"/>
              </a:lnSpc>
              <a:spcBef>
                <a:spcPts val="0"/>
              </a:spcBef>
              <a:spcAft>
                <a:spcPts val="0"/>
              </a:spcAft>
              <a:buNone/>
            </a:pPr>
            <a:r>
              <a:rPr lang="en-US" sz="1300" b="1">
                <a:solidFill>
                  <a:schemeClr val="dk1"/>
                </a:solidFill>
                <a:highlight>
                  <a:srgbClr val="FFFFFF"/>
                </a:highlight>
                <a:latin typeface="Courier New"/>
                <a:ea typeface="Courier New"/>
                <a:cs typeface="Courier New"/>
                <a:sym typeface="Courier New"/>
              </a:rPr>
              <a:t>-16.0057  -2.2009   0.1094   2.1074  12.3786 </a:t>
            </a:r>
            <a:endParaRPr sz="1300" b="1">
              <a:solidFill>
                <a:schemeClr val="dk1"/>
              </a:solidFill>
              <a:highlight>
                <a:srgbClr val="FFFFFF"/>
              </a:highlight>
              <a:latin typeface="Courier New"/>
              <a:ea typeface="Courier New"/>
              <a:cs typeface="Courier New"/>
              <a:sym typeface="Courier New"/>
            </a:endParaRPr>
          </a:p>
          <a:p>
            <a:pPr marL="0" lvl="0" indent="0" algn="l" rtl="0">
              <a:lnSpc>
                <a:spcPct val="120000"/>
              </a:lnSpc>
              <a:spcBef>
                <a:spcPts val="0"/>
              </a:spcBef>
              <a:spcAft>
                <a:spcPts val="0"/>
              </a:spcAft>
              <a:buNone/>
            </a:pPr>
            <a:endParaRPr sz="1300" b="1">
              <a:solidFill>
                <a:schemeClr val="dk1"/>
              </a:solidFill>
              <a:highlight>
                <a:srgbClr val="FFFFFF"/>
              </a:highlight>
              <a:latin typeface="Courier New"/>
              <a:ea typeface="Courier New"/>
              <a:cs typeface="Courier New"/>
              <a:sym typeface="Courier New"/>
            </a:endParaRPr>
          </a:p>
          <a:p>
            <a:pPr marL="0" lvl="0" indent="0" algn="l" rtl="0">
              <a:lnSpc>
                <a:spcPct val="120000"/>
              </a:lnSpc>
              <a:spcBef>
                <a:spcPts val="0"/>
              </a:spcBef>
              <a:spcAft>
                <a:spcPts val="0"/>
              </a:spcAft>
              <a:buNone/>
            </a:pPr>
            <a:r>
              <a:rPr lang="en-US" sz="1300" b="1">
                <a:solidFill>
                  <a:schemeClr val="dk1"/>
                </a:solidFill>
                <a:highlight>
                  <a:srgbClr val="FFFFFF"/>
                </a:highlight>
                <a:latin typeface="Courier New"/>
                <a:ea typeface="Courier New"/>
                <a:cs typeface="Courier New"/>
                <a:sym typeface="Courier New"/>
              </a:rPr>
              <a:t>Coefficients:</a:t>
            </a:r>
            <a:endParaRPr sz="1300" b="1">
              <a:solidFill>
                <a:schemeClr val="dk1"/>
              </a:solidFill>
              <a:highlight>
                <a:srgbClr val="FFFFFF"/>
              </a:highlight>
              <a:latin typeface="Courier New"/>
              <a:ea typeface="Courier New"/>
              <a:cs typeface="Courier New"/>
              <a:sym typeface="Courier New"/>
            </a:endParaRPr>
          </a:p>
          <a:p>
            <a:pPr marL="0" lvl="0" indent="0" algn="l" rtl="0">
              <a:lnSpc>
                <a:spcPct val="120000"/>
              </a:lnSpc>
              <a:spcBef>
                <a:spcPts val="0"/>
              </a:spcBef>
              <a:spcAft>
                <a:spcPts val="0"/>
              </a:spcAft>
              <a:buNone/>
            </a:pPr>
            <a:r>
              <a:rPr lang="en-US" sz="1300" b="1">
                <a:solidFill>
                  <a:schemeClr val="dk1"/>
                </a:solidFill>
                <a:highlight>
                  <a:srgbClr val="FFFFFF"/>
                </a:highlight>
                <a:latin typeface="Courier New"/>
                <a:ea typeface="Courier New"/>
                <a:cs typeface="Courier New"/>
                <a:sym typeface="Courier New"/>
              </a:rPr>
              <a:t>                         Estimate Std. Error t value Pr(&gt;|t|)    </a:t>
            </a:r>
            <a:endParaRPr sz="1300" b="1">
              <a:solidFill>
                <a:schemeClr val="dk1"/>
              </a:solidFill>
              <a:highlight>
                <a:srgbClr val="FFFFFF"/>
              </a:highlight>
              <a:latin typeface="Courier New"/>
              <a:ea typeface="Courier New"/>
              <a:cs typeface="Courier New"/>
              <a:sym typeface="Courier New"/>
            </a:endParaRPr>
          </a:p>
          <a:p>
            <a:pPr marL="0" lvl="0" indent="0" algn="l" rtl="0">
              <a:lnSpc>
                <a:spcPct val="120000"/>
              </a:lnSpc>
              <a:spcBef>
                <a:spcPts val="0"/>
              </a:spcBef>
              <a:spcAft>
                <a:spcPts val="0"/>
              </a:spcAft>
              <a:buNone/>
            </a:pPr>
            <a:r>
              <a:rPr lang="en-US" sz="1300" b="1">
                <a:solidFill>
                  <a:schemeClr val="dk1"/>
                </a:solidFill>
                <a:highlight>
                  <a:srgbClr val="FFFFFF"/>
                </a:highlight>
                <a:latin typeface="Courier New"/>
                <a:ea typeface="Courier New"/>
                <a:cs typeface="Courier New"/>
                <a:sym typeface="Courier New"/>
              </a:rPr>
              <a:t>(Intercept)            54.9298997  0.7755889  70.823  &lt; 2e-16 ***</a:t>
            </a:r>
            <a:endParaRPr sz="1300" b="1">
              <a:solidFill>
                <a:schemeClr val="dk1"/>
              </a:solidFill>
              <a:highlight>
                <a:srgbClr val="FFFFFF"/>
              </a:highlight>
              <a:latin typeface="Courier New"/>
              <a:ea typeface="Courier New"/>
              <a:cs typeface="Courier New"/>
              <a:sym typeface="Courier New"/>
            </a:endParaRPr>
          </a:p>
          <a:p>
            <a:pPr marL="0" lvl="0" indent="0" algn="l" rtl="0">
              <a:lnSpc>
                <a:spcPct val="120000"/>
              </a:lnSpc>
              <a:spcBef>
                <a:spcPts val="0"/>
              </a:spcBef>
              <a:spcAft>
                <a:spcPts val="0"/>
              </a:spcAft>
              <a:buNone/>
            </a:pPr>
            <a:r>
              <a:rPr lang="en-US" sz="1300" b="1">
                <a:solidFill>
                  <a:schemeClr val="dk1"/>
                </a:solidFill>
                <a:highlight>
                  <a:srgbClr val="FFFFFF"/>
                </a:highlight>
                <a:latin typeface="Courier New"/>
                <a:ea typeface="Courier New"/>
                <a:cs typeface="Courier New"/>
                <a:sym typeface="Courier New"/>
              </a:rPr>
              <a:t>StatusDeveloping       -1.6070430  0.3589032  -4.478 8.07e-06 ***</a:t>
            </a:r>
            <a:endParaRPr sz="1300" b="1">
              <a:solidFill>
                <a:schemeClr val="dk1"/>
              </a:solidFill>
              <a:highlight>
                <a:srgbClr val="FFFFFF"/>
              </a:highlight>
              <a:latin typeface="Courier New"/>
              <a:ea typeface="Courier New"/>
              <a:cs typeface="Courier New"/>
              <a:sym typeface="Courier New"/>
            </a:endParaRPr>
          </a:p>
          <a:p>
            <a:pPr marL="0" lvl="0" indent="0" algn="l" rtl="0">
              <a:lnSpc>
                <a:spcPct val="120000"/>
              </a:lnSpc>
              <a:spcBef>
                <a:spcPts val="0"/>
              </a:spcBef>
              <a:spcAft>
                <a:spcPts val="0"/>
              </a:spcAft>
              <a:buNone/>
            </a:pPr>
            <a:r>
              <a:rPr lang="en-US" sz="1300" b="1">
                <a:solidFill>
                  <a:schemeClr val="dk1"/>
                </a:solidFill>
                <a:highlight>
                  <a:srgbClr val="FFFFFF"/>
                </a:highlight>
                <a:latin typeface="Courier New"/>
                <a:ea typeface="Courier New"/>
                <a:cs typeface="Courier New"/>
                <a:sym typeface="Courier New"/>
              </a:rPr>
              <a:t>Adult_Mortality        -0.0153076  0.0009020 -16.971  &lt; 2e-16 ***</a:t>
            </a:r>
            <a:endParaRPr sz="1300" b="1">
              <a:solidFill>
                <a:schemeClr val="dk1"/>
              </a:solidFill>
              <a:highlight>
                <a:srgbClr val="FFFFFF"/>
              </a:highlight>
              <a:latin typeface="Courier New"/>
              <a:ea typeface="Courier New"/>
              <a:cs typeface="Courier New"/>
              <a:sym typeface="Courier New"/>
            </a:endParaRPr>
          </a:p>
          <a:p>
            <a:pPr marL="0" lvl="0" indent="0" algn="l" rtl="0">
              <a:lnSpc>
                <a:spcPct val="120000"/>
              </a:lnSpc>
              <a:spcBef>
                <a:spcPts val="0"/>
              </a:spcBef>
              <a:spcAft>
                <a:spcPts val="0"/>
              </a:spcAft>
              <a:buNone/>
            </a:pPr>
            <a:r>
              <a:rPr lang="en-US" sz="1300" b="1">
                <a:solidFill>
                  <a:schemeClr val="dk1"/>
                </a:solidFill>
                <a:highlight>
                  <a:srgbClr val="FFFFFF"/>
                </a:highlight>
                <a:latin typeface="Courier New"/>
                <a:ea typeface="Courier New"/>
                <a:cs typeface="Courier New"/>
                <a:sym typeface="Courier New"/>
              </a:rPr>
              <a:t>Infant_Deaths           0.0581396  0.0098237   5.918 3.96e-09 ***</a:t>
            </a:r>
            <a:endParaRPr sz="1300" b="1">
              <a:solidFill>
                <a:schemeClr val="dk1"/>
              </a:solidFill>
              <a:highlight>
                <a:srgbClr val="FFFFFF"/>
              </a:highlight>
              <a:latin typeface="Courier New"/>
              <a:ea typeface="Courier New"/>
              <a:cs typeface="Courier New"/>
              <a:sym typeface="Courier New"/>
            </a:endParaRPr>
          </a:p>
          <a:p>
            <a:pPr marL="0" lvl="0" indent="0" algn="l" rtl="0">
              <a:lnSpc>
                <a:spcPct val="120000"/>
              </a:lnSpc>
              <a:spcBef>
                <a:spcPts val="0"/>
              </a:spcBef>
              <a:spcAft>
                <a:spcPts val="0"/>
              </a:spcAft>
              <a:buNone/>
            </a:pPr>
            <a:r>
              <a:rPr lang="en-US" sz="1300" b="1">
                <a:solidFill>
                  <a:schemeClr val="dk1"/>
                </a:solidFill>
                <a:highlight>
                  <a:srgbClr val="FFFFFF"/>
                </a:highlight>
                <a:latin typeface="Courier New"/>
                <a:ea typeface="Courier New"/>
                <a:cs typeface="Courier New"/>
                <a:sym typeface="Courier New"/>
              </a:rPr>
              <a:t>Under_5_Deaths         -0.0449376  0.0072852  -6.168 8.68e-10 ***</a:t>
            </a:r>
            <a:endParaRPr sz="1300" b="1">
              <a:solidFill>
                <a:schemeClr val="dk1"/>
              </a:solidFill>
              <a:highlight>
                <a:srgbClr val="FFFFFF"/>
              </a:highlight>
              <a:latin typeface="Courier New"/>
              <a:ea typeface="Courier New"/>
              <a:cs typeface="Courier New"/>
              <a:sym typeface="Courier New"/>
            </a:endParaRPr>
          </a:p>
          <a:p>
            <a:pPr marL="0" lvl="0" indent="0" algn="l" rtl="0">
              <a:lnSpc>
                <a:spcPct val="120000"/>
              </a:lnSpc>
              <a:spcBef>
                <a:spcPts val="0"/>
              </a:spcBef>
              <a:spcAft>
                <a:spcPts val="0"/>
              </a:spcAft>
              <a:buNone/>
            </a:pPr>
            <a:r>
              <a:rPr lang="en-US" sz="1300" b="1">
                <a:solidFill>
                  <a:schemeClr val="dk1"/>
                </a:solidFill>
                <a:highlight>
                  <a:srgbClr val="FFFFFF"/>
                </a:highlight>
                <a:latin typeface="Courier New"/>
                <a:ea typeface="Courier New"/>
                <a:cs typeface="Courier New"/>
                <a:sym typeface="Courier New"/>
              </a:rPr>
              <a:t>Alcohol                -0.1872329  0.0355395  -5.268 1.56e-07 ***</a:t>
            </a:r>
            <a:endParaRPr sz="1300" b="1">
              <a:solidFill>
                <a:schemeClr val="dk1"/>
              </a:solidFill>
              <a:highlight>
                <a:srgbClr val="FFFFFF"/>
              </a:highlight>
              <a:latin typeface="Courier New"/>
              <a:ea typeface="Courier New"/>
              <a:cs typeface="Courier New"/>
              <a:sym typeface="Courier New"/>
            </a:endParaRPr>
          </a:p>
          <a:p>
            <a:pPr marL="0" lvl="0" indent="0" algn="l" rtl="0">
              <a:lnSpc>
                <a:spcPct val="120000"/>
              </a:lnSpc>
              <a:spcBef>
                <a:spcPts val="0"/>
              </a:spcBef>
              <a:spcAft>
                <a:spcPts val="0"/>
              </a:spcAft>
              <a:buNone/>
            </a:pPr>
            <a:r>
              <a:rPr lang="en-US" sz="1300" b="1">
                <a:solidFill>
                  <a:schemeClr val="dk1"/>
                </a:solidFill>
                <a:highlight>
                  <a:srgbClr val="FFFFFF"/>
                </a:highlight>
                <a:latin typeface="Courier New"/>
                <a:ea typeface="Courier New"/>
                <a:cs typeface="Courier New"/>
                <a:sym typeface="Courier New"/>
              </a:rPr>
              <a:t>Percentage_Expenditure  0.0004767  0.0000561   8.497  &lt; 2e-16 ***</a:t>
            </a:r>
            <a:endParaRPr sz="1300" b="1">
              <a:solidFill>
                <a:schemeClr val="dk1"/>
              </a:solidFill>
              <a:highlight>
                <a:srgbClr val="FFFFFF"/>
              </a:highlight>
              <a:latin typeface="Courier New"/>
              <a:ea typeface="Courier New"/>
              <a:cs typeface="Courier New"/>
              <a:sym typeface="Courier New"/>
            </a:endParaRPr>
          </a:p>
          <a:p>
            <a:pPr marL="0" lvl="0" indent="0" algn="l" rtl="0">
              <a:lnSpc>
                <a:spcPct val="120000"/>
              </a:lnSpc>
              <a:spcBef>
                <a:spcPts val="0"/>
              </a:spcBef>
              <a:spcAft>
                <a:spcPts val="0"/>
              </a:spcAft>
              <a:buNone/>
            </a:pPr>
            <a:r>
              <a:rPr lang="en-US" sz="1300" b="1">
                <a:solidFill>
                  <a:schemeClr val="dk1"/>
                </a:solidFill>
                <a:highlight>
                  <a:srgbClr val="FFFFFF"/>
                </a:highlight>
                <a:latin typeface="Courier New"/>
                <a:ea typeface="Courier New"/>
                <a:cs typeface="Courier New"/>
                <a:sym typeface="Courier New"/>
              </a:rPr>
              <a:t>BMI                     0.0226790  0.0058473   3.879 0.000109 ***</a:t>
            </a:r>
            <a:endParaRPr sz="1300" b="1">
              <a:solidFill>
                <a:schemeClr val="dk1"/>
              </a:solidFill>
              <a:highlight>
                <a:srgbClr val="FFFFFF"/>
              </a:highlight>
              <a:latin typeface="Courier New"/>
              <a:ea typeface="Courier New"/>
              <a:cs typeface="Courier New"/>
              <a:sym typeface="Courier New"/>
            </a:endParaRPr>
          </a:p>
          <a:p>
            <a:pPr marL="0" lvl="0" indent="0" algn="l" rtl="0">
              <a:lnSpc>
                <a:spcPct val="120000"/>
              </a:lnSpc>
              <a:spcBef>
                <a:spcPts val="0"/>
              </a:spcBef>
              <a:spcAft>
                <a:spcPts val="0"/>
              </a:spcAft>
              <a:buNone/>
            </a:pPr>
            <a:r>
              <a:rPr lang="en-US" sz="1300" b="1">
                <a:solidFill>
                  <a:schemeClr val="dk1"/>
                </a:solidFill>
                <a:highlight>
                  <a:srgbClr val="FFFFFF"/>
                </a:highlight>
                <a:latin typeface="Courier New"/>
                <a:ea typeface="Courier New"/>
                <a:cs typeface="Courier New"/>
                <a:sym typeface="Courier New"/>
              </a:rPr>
              <a:t>Polio                   0.0080300  0.0048003   1.673 0.094560 .  </a:t>
            </a:r>
            <a:endParaRPr sz="1300" b="1">
              <a:solidFill>
                <a:schemeClr val="dk1"/>
              </a:solidFill>
              <a:highlight>
                <a:srgbClr val="FFFFFF"/>
              </a:highlight>
              <a:latin typeface="Courier New"/>
              <a:ea typeface="Courier New"/>
              <a:cs typeface="Courier New"/>
              <a:sym typeface="Courier New"/>
            </a:endParaRPr>
          </a:p>
          <a:p>
            <a:pPr marL="0" lvl="0" indent="0" algn="l" rtl="0">
              <a:lnSpc>
                <a:spcPct val="120000"/>
              </a:lnSpc>
              <a:spcBef>
                <a:spcPts val="0"/>
              </a:spcBef>
              <a:spcAft>
                <a:spcPts val="0"/>
              </a:spcAft>
              <a:buNone/>
            </a:pPr>
            <a:r>
              <a:rPr lang="en-US" sz="1300" b="1">
                <a:solidFill>
                  <a:schemeClr val="dk1"/>
                </a:solidFill>
                <a:highlight>
                  <a:srgbClr val="FFFFFF"/>
                </a:highlight>
                <a:latin typeface="Courier New"/>
                <a:ea typeface="Courier New"/>
                <a:cs typeface="Courier New"/>
                <a:sym typeface="Courier New"/>
              </a:rPr>
              <a:t>Diphtheria              0.0096180  0.0050789   1.894 0.058441 .  </a:t>
            </a:r>
            <a:endParaRPr sz="1300" b="1">
              <a:solidFill>
                <a:schemeClr val="dk1"/>
              </a:solidFill>
              <a:highlight>
                <a:srgbClr val="FFFFFF"/>
              </a:highlight>
              <a:latin typeface="Courier New"/>
              <a:ea typeface="Courier New"/>
              <a:cs typeface="Courier New"/>
              <a:sym typeface="Courier New"/>
            </a:endParaRPr>
          </a:p>
          <a:p>
            <a:pPr marL="0" lvl="0" indent="0" algn="l" rtl="0">
              <a:lnSpc>
                <a:spcPct val="120000"/>
              </a:lnSpc>
              <a:spcBef>
                <a:spcPts val="0"/>
              </a:spcBef>
              <a:spcAft>
                <a:spcPts val="0"/>
              </a:spcAft>
              <a:buNone/>
            </a:pPr>
            <a:r>
              <a:rPr lang="en-US" sz="1300" b="1">
                <a:solidFill>
                  <a:schemeClr val="dk1"/>
                </a:solidFill>
                <a:highlight>
                  <a:srgbClr val="FFFFFF"/>
                </a:highlight>
                <a:latin typeface="Courier New"/>
                <a:ea typeface="Courier New"/>
                <a:cs typeface="Courier New"/>
                <a:sym typeface="Courier New"/>
              </a:rPr>
              <a:t>HIV_AIDS               -0.3701773  0.0176009 -21.032  &lt; 2e-16 ***</a:t>
            </a:r>
            <a:endParaRPr sz="1300" b="1">
              <a:solidFill>
                <a:schemeClr val="dk1"/>
              </a:solidFill>
              <a:highlight>
                <a:srgbClr val="FFFFFF"/>
              </a:highlight>
              <a:latin typeface="Courier New"/>
              <a:ea typeface="Courier New"/>
              <a:cs typeface="Courier New"/>
              <a:sym typeface="Courier New"/>
            </a:endParaRPr>
          </a:p>
          <a:p>
            <a:pPr marL="0" lvl="0" indent="0" algn="l" rtl="0">
              <a:lnSpc>
                <a:spcPct val="120000"/>
              </a:lnSpc>
              <a:spcBef>
                <a:spcPts val="0"/>
              </a:spcBef>
              <a:spcAft>
                <a:spcPts val="0"/>
              </a:spcAft>
              <a:buNone/>
            </a:pPr>
            <a:r>
              <a:rPr lang="en-US" sz="1300" b="1">
                <a:solidFill>
                  <a:schemeClr val="dk1"/>
                </a:solidFill>
                <a:highlight>
                  <a:srgbClr val="FFFFFF"/>
                </a:highlight>
                <a:latin typeface="Courier New"/>
                <a:ea typeface="Courier New"/>
                <a:cs typeface="Courier New"/>
                <a:sym typeface="Courier New"/>
              </a:rPr>
              <a:t>Thinness_5to9_Years    -0.0478565  0.0269605  -1.775 0.076074 .  </a:t>
            </a:r>
            <a:endParaRPr sz="1300" b="1">
              <a:solidFill>
                <a:schemeClr val="dk1"/>
              </a:solidFill>
              <a:highlight>
                <a:srgbClr val="FFFFFF"/>
              </a:highlight>
              <a:latin typeface="Courier New"/>
              <a:ea typeface="Courier New"/>
              <a:cs typeface="Courier New"/>
              <a:sym typeface="Courier New"/>
            </a:endParaRPr>
          </a:p>
          <a:p>
            <a:pPr marL="0" lvl="0" indent="0" algn="l" rtl="0">
              <a:lnSpc>
                <a:spcPct val="120000"/>
              </a:lnSpc>
              <a:spcBef>
                <a:spcPts val="0"/>
              </a:spcBef>
              <a:spcAft>
                <a:spcPts val="0"/>
              </a:spcAft>
              <a:buNone/>
            </a:pPr>
            <a:r>
              <a:rPr lang="en-US" sz="1300" b="1">
                <a:solidFill>
                  <a:schemeClr val="dk1"/>
                </a:solidFill>
                <a:highlight>
                  <a:srgbClr val="FFFFFF"/>
                </a:highlight>
                <a:latin typeface="Courier New"/>
                <a:ea typeface="Courier New"/>
                <a:cs typeface="Courier New"/>
                <a:sym typeface="Courier New"/>
              </a:rPr>
              <a:t>ICOR                    8.2859429  0.8039707  10.306  &lt; 2e-16 ***</a:t>
            </a:r>
            <a:endParaRPr sz="1300" b="1">
              <a:solidFill>
                <a:schemeClr val="dk1"/>
              </a:solidFill>
              <a:highlight>
                <a:srgbClr val="FFFFFF"/>
              </a:highlight>
              <a:latin typeface="Courier New"/>
              <a:ea typeface="Courier New"/>
              <a:cs typeface="Courier New"/>
              <a:sym typeface="Courier New"/>
            </a:endParaRPr>
          </a:p>
          <a:p>
            <a:pPr marL="0" lvl="0" indent="0" algn="l" rtl="0">
              <a:lnSpc>
                <a:spcPct val="120000"/>
              </a:lnSpc>
              <a:spcBef>
                <a:spcPts val="0"/>
              </a:spcBef>
              <a:spcAft>
                <a:spcPts val="0"/>
              </a:spcAft>
              <a:buNone/>
            </a:pPr>
            <a:r>
              <a:rPr lang="en-US" sz="1300" b="1">
                <a:solidFill>
                  <a:schemeClr val="dk1"/>
                </a:solidFill>
                <a:highlight>
                  <a:srgbClr val="FFFFFF"/>
                </a:highlight>
                <a:latin typeface="Courier New"/>
                <a:ea typeface="Courier New"/>
                <a:cs typeface="Courier New"/>
                <a:sym typeface="Courier New"/>
              </a:rPr>
              <a:t>Schooling               0.8316711  0.0568180  14.637  &lt; 2e-16 ***</a:t>
            </a:r>
            <a:endParaRPr sz="1300" b="1">
              <a:solidFill>
                <a:schemeClr val="dk1"/>
              </a:solidFill>
              <a:highlight>
                <a:srgbClr val="FFFFFF"/>
              </a:highlight>
              <a:latin typeface="Courier New"/>
              <a:ea typeface="Courier New"/>
              <a:cs typeface="Courier New"/>
              <a:sym typeface="Courier New"/>
            </a:endParaRPr>
          </a:p>
          <a:p>
            <a:pPr marL="0" lvl="0" indent="0" algn="l" rtl="0">
              <a:lnSpc>
                <a:spcPct val="120000"/>
              </a:lnSpc>
              <a:spcBef>
                <a:spcPts val="0"/>
              </a:spcBef>
              <a:spcAft>
                <a:spcPts val="0"/>
              </a:spcAft>
              <a:buNone/>
            </a:pPr>
            <a:r>
              <a:rPr lang="en-US" sz="1300" b="1">
                <a:solidFill>
                  <a:schemeClr val="dk1"/>
                </a:solidFill>
                <a:highlight>
                  <a:srgbClr val="FFFFFF"/>
                </a:highlight>
                <a:latin typeface="Courier New"/>
                <a:ea typeface="Courier New"/>
                <a:cs typeface="Courier New"/>
                <a:sym typeface="Courier New"/>
              </a:rPr>
              <a:t>ContinentAmericas       4.2769100  0.3289078  13.003  &lt; 2e-16 ***</a:t>
            </a:r>
            <a:endParaRPr sz="1300" b="1">
              <a:solidFill>
                <a:schemeClr val="dk1"/>
              </a:solidFill>
              <a:highlight>
                <a:srgbClr val="FFFFFF"/>
              </a:highlight>
              <a:latin typeface="Courier New"/>
              <a:ea typeface="Courier New"/>
              <a:cs typeface="Courier New"/>
              <a:sym typeface="Courier New"/>
            </a:endParaRPr>
          </a:p>
          <a:p>
            <a:pPr marL="0" lvl="0" indent="0" algn="l" rtl="0">
              <a:lnSpc>
                <a:spcPct val="120000"/>
              </a:lnSpc>
              <a:spcBef>
                <a:spcPts val="0"/>
              </a:spcBef>
              <a:spcAft>
                <a:spcPts val="0"/>
              </a:spcAft>
              <a:buNone/>
            </a:pPr>
            <a:r>
              <a:rPr lang="en-US" sz="1300" b="1">
                <a:solidFill>
                  <a:schemeClr val="dk1"/>
                </a:solidFill>
                <a:highlight>
                  <a:srgbClr val="FFFFFF"/>
                </a:highlight>
                <a:latin typeface="Courier New"/>
                <a:ea typeface="Courier New"/>
                <a:cs typeface="Courier New"/>
                <a:sym typeface="Courier New"/>
              </a:rPr>
              <a:t>ContinentAsia           2.7650899  0.2806507   9.852  &lt; 2e-16 ***</a:t>
            </a:r>
            <a:endParaRPr sz="1300" b="1">
              <a:solidFill>
                <a:schemeClr val="dk1"/>
              </a:solidFill>
              <a:highlight>
                <a:srgbClr val="FFFFFF"/>
              </a:highlight>
              <a:latin typeface="Courier New"/>
              <a:ea typeface="Courier New"/>
              <a:cs typeface="Courier New"/>
              <a:sym typeface="Courier New"/>
            </a:endParaRPr>
          </a:p>
          <a:p>
            <a:pPr marL="0" lvl="0" indent="0" algn="l" rtl="0">
              <a:lnSpc>
                <a:spcPct val="120000"/>
              </a:lnSpc>
              <a:spcBef>
                <a:spcPts val="0"/>
              </a:spcBef>
              <a:spcAft>
                <a:spcPts val="0"/>
              </a:spcAft>
              <a:buNone/>
            </a:pPr>
            <a:r>
              <a:rPr lang="en-US" sz="1300" b="1">
                <a:solidFill>
                  <a:schemeClr val="dk1"/>
                </a:solidFill>
                <a:highlight>
                  <a:srgbClr val="FFFFFF"/>
                </a:highlight>
                <a:latin typeface="Courier New"/>
                <a:ea typeface="Courier New"/>
                <a:cs typeface="Courier New"/>
                <a:sym typeface="Courier New"/>
              </a:rPr>
              <a:t>ContinentEurope         3.2504223  0.4115620   7.898 5.17e-15 ***</a:t>
            </a:r>
            <a:endParaRPr sz="1300" b="1">
              <a:solidFill>
                <a:schemeClr val="dk1"/>
              </a:solidFill>
              <a:highlight>
                <a:srgbClr val="FFFFFF"/>
              </a:highlight>
              <a:latin typeface="Courier New"/>
              <a:ea typeface="Courier New"/>
              <a:cs typeface="Courier New"/>
              <a:sym typeface="Courier New"/>
            </a:endParaRPr>
          </a:p>
          <a:p>
            <a:pPr marL="0" lvl="0" indent="0" algn="l" rtl="0">
              <a:lnSpc>
                <a:spcPct val="120000"/>
              </a:lnSpc>
              <a:spcBef>
                <a:spcPts val="0"/>
              </a:spcBef>
              <a:spcAft>
                <a:spcPts val="0"/>
              </a:spcAft>
              <a:buNone/>
            </a:pPr>
            <a:r>
              <a:rPr lang="en-US" sz="1300" b="1">
                <a:solidFill>
                  <a:schemeClr val="dk1"/>
                </a:solidFill>
                <a:highlight>
                  <a:srgbClr val="FFFFFF"/>
                </a:highlight>
                <a:latin typeface="Courier New"/>
                <a:ea typeface="Courier New"/>
                <a:cs typeface="Courier New"/>
                <a:sym typeface="Courier New"/>
              </a:rPr>
              <a:t>ContinentOceania        1.2869572  0.4199960   3.064 0.002218 ** </a:t>
            </a:r>
            <a:endParaRPr sz="1300" b="1">
              <a:solidFill>
                <a:schemeClr val="dk1"/>
              </a:solidFill>
              <a:highlight>
                <a:srgbClr val="FFFFFF"/>
              </a:highlight>
              <a:latin typeface="Courier New"/>
              <a:ea typeface="Courier New"/>
              <a:cs typeface="Courier New"/>
              <a:sym typeface="Courier New"/>
            </a:endParaRPr>
          </a:p>
          <a:p>
            <a:pPr marL="0" lvl="0" indent="0" algn="l" rtl="0">
              <a:lnSpc>
                <a:spcPct val="120000"/>
              </a:lnSpc>
              <a:spcBef>
                <a:spcPts val="0"/>
              </a:spcBef>
              <a:spcAft>
                <a:spcPts val="0"/>
              </a:spcAft>
              <a:buNone/>
            </a:pPr>
            <a:r>
              <a:rPr lang="en-US" sz="1300" b="1">
                <a:solidFill>
                  <a:schemeClr val="dk1"/>
                </a:solidFill>
                <a:highlight>
                  <a:srgbClr val="FFFFFF"/>
                </a:highlight>
                <a:latin typeface="Courier New"/>
                <a:ea typeface="Courier New"/>
                <a:cs typeface="Courier New"/>
                <a:sym typeface="Courier New"/>
              </a:rPr>
              <a:t>---</a:t>
            </a:r>
            <a:endParaRPr sz="1300" b="1">
              <a:solidFill>
                <a:schemeClr val="dk1"/>
              </a:solidFill>
              <a:highlight>
                <a:srgbClr val="FFFFFF"/>
              </a:highlight>
              <a:latin typeface="Courier New"/>
              <a:ea typeface="Courier New"/>
              <a:cs typeface="Courier New"/>
              <a:sym typeface="Courier New"/>
            </a:endParaRPr>
          </a:p>
          <a:p>
            <a:pPr marL="0" lvl="0" indent="0" algn="l" rtl="0">
              <a:lnSpc>
                <a:spcPct val="120000"/>
              </a:lnSpc>
              <a:spcBef>
                <a:spcPts val="0"/>
              </a:spcBef>
              <a:spcAft>
                <a:spcPts val="0"/>
              </a:spcAft>
              <a:buNone/>
            </a:pPr>
            <a:r>
              <a:rPr lang="en-US" sz="1300" b="1">
                <a:solidFill>
                  <a:schemeClr val="dk1"/>
                </a:solidFill>
                <a:highlight>
                  <a:srgbClr val="FFFFFF"/>
                </a:highlight>
                <a:latin typeface="Courier New"/>
                <a:ea typeface="Courier New"/>
                <a:cs typeface="Courier New"/>
                <a:sym typeface="Courier New"/>
              </a:rPr>
              <a:t>Signif. codes:  0 ‘***’ 0.001 ‘**’ 0.01 ‘*’ 0.05 ‘.’ 0.1 ‘ ’ 1</a:t>
            </a:r>
            <a:endParaRPr sz="1300" b="1">
              <a:solidFill>
                <a:schemeClr val="dk1"/>
              </a:solidFill>
              <a:highlight>
                <a:srgbClr val="FFFFFF"/>
              </a:highlight>
              <a:latin typeface="Courier New"/>
              <a:ea typeface="Courier New"/>
              <a:cs typeface="Courier New"/>
              <a:sym typeface="Courier New"/>
            </a:endParaRPr>
          </a:p>
          <a:p>
            <a:pPr marL="0" lvl="0" indent="0" algn="l" rtl="0">
              <a:lnSpc>
                <a:spcPct val="120000"/>
              </a:lnSpc>
              <a:spcBef>
                <a:spcPts val="0"/>
              </a:spcBef>
              <a:spcAft>
                <a:spcPts val="0"/>
              </a:spcAft>
              <a:buNone/>
            </a:pPr>
            <a:endParaRPr sz="1300" b="1">
              <a:solidFill>
                <a:schemeClr val="dk1"/>
              </a:solidFill>
              <a:highlight>
                <a:srgbClr val="FFFFFF"/>
              </a:highlight>
              <a:latin typeface="Courier New"/>
              <a:ea typeface="Courier New"/>
              <a:cs typeface="Courier New"/>
              <a:sym typeface="Courier New"/>
            </a:endParaRPr>
          </a:p>
          <a:p>
            <a:pPr marL="0" lvl="0" indent="0" algn="l" rtl="0">
              <a:lnSpc>
                <a:spcPct val="120000"/>
              </a:lnSpc>
              <a:spcBef>
                <a:spcPts val="0"/>
              </a:spcBef>
              <a:spcAft>
                <a:spcPts val="0"/>
              </a:spcAft>
              <a:buNone/>
            </a:pPr>
            <a:r>
              <a:rPr lang="en-US" sz="1300" b="1">
                <a:solidFill>
                  <a:schemeClr val="dk1"/>
                </a:solidFill>
                <a:highlight>
                  <a:srgbClr val="FFFFFF"/>
                </a:highlight>
                <a:latin typeface="Courier New"/>
                <a:ea typeface="Courier New"/>
                <a:cs typeface="Courier New"/>
                <a:sym typeface="Courier New"/>
              </a:rPr>
              <a:t>Residual standard error: 3.393 on 1631 degrees of freedom</a:t>
            </a:r>
            <a:endParaRPr sz="1300" b="1">
              <a:solidFill>
                <a:schemeClr val="dk1"/>
              </a:solidFill>
              <a:highlight>
                <a:srgbClr val="FFFFFF"/>
              </a:highlight>
              <a:latin typeface="Courier New"/>
              <a:ea typeface="Courier New"/>
              <a:cs typeface="Courier New"/>
              <a:sym typeface="Courier New"/>
            </a:endParaRPr>
          </a:p>
          <a:p>
            <a:pPr marL="0" lvl="0" indent="0" algn="l" rtl="0">
              <a:lnSpc>
                <a:spcPct val="120000"/>
              </a:lnSpc>
              <a:spcBef>
                <a:spcPts val="0"/>
              </a:spcBef>
              <a:spcAft>
                <a:spcPts val="0"/>
              </a:spcAft>
              <a:buNone/>
            </a:pPr>
            <a:r>
              <a:rPr lang="en-US" sz="1300" b="1">
                <a:solidFill>
                  <a:schemeClr val="dk1"/>
                </a:solidFill>
                <a:highlight>
                  <a:srgbClr val="FFFFFF"/>
                </a:highlight>
                <a:latin typeface="Courier New"/>
                <a:ea typeface="Courier New"/>
                <a:cs typeface="Courier New"/>
                <a:sym typeface="Courier New"/>
              </a:rPr>
              <a:t>Multiple R-squared:  0.8527,	Adjusted R-squared:  0.8512 </a:t>
            </a:r>
            <a:endParaRPr sz="1300" b="1">
              <a:solidFill>
                <a:schemeClr val="dk1"/>
              </a:solidFill>
              <a:highlight>
                <a:srgbClr val="FFFFFF"/>
              </a:highlight>
              <a:latin typeface="Courier New"/>
              <a:ea typeface="Courier New"/>
              <a:cs typeface="Courier New"/>
              <a:sym typeface="Courier New"/>
            </a:endParaRPr>
          </a:p>
          <a:p>
            <a:pPr marL="0" lvl="0" indent="0" algn="l" rtl="0">
              <a:lnSpc>
                <a:spcPct val="120000"/>
              </a:lnSpc>
              <a:spcBef>
                <a:spcPts val="0"/>
              </a:spcBef>
              <a:spcAft>
                <a:spcPts val="0"/>
              </a:spcAft>
              <a:buNone/>
            </a:pPr>
            <a:r>
              <a:rPr lang="en-US" sz="1300" b="1">
                <a:solidFill>
                  <a:schemeClr val="dk1"/>
                </a:solidFill>
                <a:highlight>
                  <a:srgbClr val="FFFFFF"/>
                </a:highlight>
                <a:latin typeface="Courier New"/>
                <a:ea typeface="Courier New"/>
                <a:cs typeface="Courier New"/>
                <a:sym typeface="Courier New"/>
              </a:rPr>
              <a:t>F-statistic: 555.6 on 17 and 1631 DF,  p-value: &lt; 2.2e-16</a:t>
            </a:r>
            <a:endParaRPr sz="1300" b="1">
              <a:solidFill>
                <a:schemeClr val="dk1"/>
              </a:solidFill>
              <a:highlight>
                <a:srgbClr val="FFFFFF"/>
              </a:highlight>
              <a:latin typeface="Courier New"/>
              <a:ea typeface="Courier New"/>
              <a:cs typeface="Courier New"/>
              <a:sym typeface="Courier New"/>
            </a:endParaRPr>
          </a:p>
          <a:p>
            <a:pPr marL="0" lvl="0" indent="0" algn="l" rtl="0">
              <a:lnSpc>
                <a:spcPct val="120000"/>
              </a:lnSpc>
              <a:spcBef>
                <a:spcPts val="0"/>
              </a:spcBef>
              <a:spcAft>
                <a:spcPts val="0"/>
              </a:spcAft>
              <a:buNone/>
            </a:pPr>
            <a:endParaRPr sz="1300" b="1">
              <a:solidFill>
                <a:srgbClr val="0000FF"/>
              </a:solidFill>
              <a:highlight>
                <a:srgbClr val="FFFFFF"/>
              </a:highlight>
              <a:latin typeface="Courier New"/>
              <a:ea typeface="Courier New"/>
              <a:cs typeface="Courier New"/>
              <a:sym typeface="Courier New"/>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54"/>
          <p:cNvSpPr txBox="1">
            <a:spLocks noGrp="1"/>
          </p:cNvSpPr>
          <p:nvPr>
            <p:ph type="title"/>
          </p:nvPr>
        </p:nvSpPr>
        <p:spPr>
          <a:xfrm>
            <a:off x="415600" y="593367"/>
            <a:ext cx="11360700" cy="763500"/>
          </a:xfrm>
          <a:prstGeom prst="rect">
            <a:avLst/>
          </a:prstGeom>
        </p:spPr>
        <p:txBody>
          <a:bodyPr spcFirstLastPara="1" wrap="square" lIns="121900" tIns="121900" rIns="121900" bIns="121900" anchor="t" anchorCtr="0">
            <a:normAutofit fontScale="90000"/>
          </a:bodyPr>
          <a:lstStyle/>
          <a:p>
            <a:pPr marL="0" lvl="0" indent="0" algn="ctr" rtl="0">
              <a:spcBef>
                <a:spcPts val="0"/>
              </a:spcBef>
              <a:spcAft>
                <a:spcPts val="0"/>
              </a:spcAft>
              <a:buNone/>
            </a:pPr>
            <a:r>
              <a:rPr lang="en-US"/>
              <a:t>Stepwise Regression - Backward Elimination </a:t>
            </a:r>
            <a:endParaRPr/>
          </a:p>
        </p:txBody>
      </p:sp>
      <p:sp>
        <p:nvSpPr>
          <p:cNvPr id="352" name="Google Shape;352;p54"/>
          <p:cNvSpPr txBox="1">
            <a:spLocks noGrp="1"/>
          </p:cNvSpPr>
          <p:nvPr>
            <p:ph type="body" idx="1"/>
          </p:nvPr>
        </p:nvSpPr>
        <p:spPr>
          <a:xfrm>
            <a:off x="824325" y="1536625"/>
            <a:ext cx="4789500" cy="4845300"/>
          </a:xfrm>
          <a:prstGeom prst="rect">
            <a:avLst/>
          </a:prstGeom>
        </p:spPr>
        <p:txBody>
          <a:bodyPr spcFirstLastPara="1" wrap="square" lIns="121900" tIns="121900" rIns="121900" bIns="121900" anchor="t" anchorCtr="0">
            <a:normAutofit fontScale="62500" lnSpcReduction="20000"/>
          </a:bodyPr>
          <a:lstStyle/>
          <a:p>
            <a:pPr marL="0" lvl="0" indent="0" algn="l" rtl="0">
              <a:spcBef>
                <a:spcPts val="0"/>
              </a:spcBef>
              <a:spcAft>
                <a:spcPts val="0"/>
              </a:spcAft>
              <a:buClr>
                <a:schemeClr val="dk1"/>
              </a:buClr>
              <a:buSzPct val="115384"/>
              <a:buFont typeface="Arial"/>
              <a:buNone/>
            </a:pPr>
            <a:r>
              <a:rPr lang="en-US" sz="1300" b="1">
                <a:solidFill>
                  <a:srgbClr val="0000FF"/>
                </a:solidFill>
                <a:highlight>
                  <a:srgbClr val="FFFFFF"/>
                </a:highlight>
                <a:latin typeface="Courier New"/>
                <a:ea typeface="Courier New"/>
                <a:cs typeface="Courier New"/>
                <a:sym typeface="Courier New"/>
              </a:rPr>
              <a:t>&gt; summary(backstep_model)</a:t>
            </a:r>
            <a:endParaRPr sz="1300" b="1">
              <a:solidFill>
                <a:srgbClr val="0000FF"/>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Call:</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lm(formula = Life_Expectancy ~ Status + Continent + Adult_Mortality +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    Infant_Deaths + Under_5_Deaths + Alcohol + HIV_AIDS + Polio +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    Diphtheria + BMI + Thinness_5to9_Years + Percentage_Expenditure +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    ICOR + Schooling, data = Cleaned_Health_Data)</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Residuals:</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     Min       1Q   Median       3Q      Max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-16.0057  -2.2009   0.1094   2.1074  12.3786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Coefficients:</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                         Estimate Std. Error t value Pr(&gt;|t|)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(Intercept)            54.9298997  0.7755889  70.823  &lt; 2e-16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StatusDeveloping       -1.6070430  0.3589032  -4.478 8.07e-06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ContinentAmericas       4.2769100  0.3289078  13.003  &lt; 2e-16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ContinentAsia           2.7650899  0.2806507   9.852  &lt; 2e-16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ContinentEurope         3.2504223  0.4115620   7.898 5.17e-15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ContinentOceania        1.2869572  0.4199960   3.064 0.002218 **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Adult_Mortality        -0.0153076  0.0009020 -16.971  &lt; 2e-16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Infant_Deaths           0.0581396  0.0098237   5.918 3.96e-09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Under_5_Deaths         -0.0449376  0.0072852  -6.168 8.68e-10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Alcohol                -0.1872329  0.0355395  -5.268 1.56e-07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HIV_AIDS               -0.3701773  0.0176009 -21.032  &lt; 2e-16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Polio                   0.0080300  0.0048003   1.673 0.094560 .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Diphtheria              0.0096180  0.0050789   1.894 0.058441 .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BMI                     0.0226790  0.0058473   3.879 0.000109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Thinness_5to9_Years    -0.0478565  0.0269605  -1.775 0.076074 .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Percentage_Expenditure  0.0004767  0.0000561   8.497  &lt; 2e-16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ICOR                    8.2859429  0.8039707  10.306  &lt; 2e-16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Schooling               0.8316711  0.0568180  14.637  &lt; 2e-16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Signif. codes:  0 ‘***’ 0.001 ‘**’ 0.01 ‘*’ 0.05 ‘.’ 0.1 ‘ ’ 1</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Residual standard error: 3.393 on 1631 degrees of freedom</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Multiple R-squared:  0.8527,	Adjusted R-squared:  0.8512 </a:t>
            </a:r>
            <a:endParaRPr sz="1300" b="1">
              <a:solidFill>
                <a:schemeClr val="dk1"/>
              </a:solidFill>
              <a:highlight>
                <a:srgbClr val="FFFFFF"/>
              </a:highlight>
              <a:latin typeface="Courier New"/>
              <a:ea typeface="Courier New"/>
              <a:cs typeface="Courier New"/>
              <a:sym typeface="Courier New"/>
            </a:endParaRPr>
          </a:p>
          <a:p>
            <a:pPr marL="0" lvl="0" indent="0" algn="l" rtl="0">
              <a:lnSpc>
                <a:spcPct val="120000"/>
              </a:lnSpc>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F-statistic: 555.6 on 17 and 1631 DF,  p-value: &lt; 2.2e-16</a:t>
            </a:r>
            <a:endParaRPr/>
          </a:p>
        </p:txBody>
      </p:sp>
      <p:sp>
        <p:nvSpPr>
          <p:cNvPr id="353" name="Google Shape;353;p54"/>
          <p:cNvSpPr txBox="1">
            <a:spLocks noGrp="1"/>
          </p:cNvSpPr>
          <p:nvPr>
            <p:ph type="body" idx="1"/>
          </p:nvPr>
        </p:nvSpPr>
        <p:spPr>
          <a:xfrm>
            <a:off x="6823587" y="1709433"/>
            <a:ext cx="4462790" cy="4435728"/>
          </a:xfrm>
          <a:prstGeom prst="rect">
            <a:avLst/>
          </a:prstGeom>
        </p:spPr>
        <p:txBody>
          <a:bodyPr spcFirstLastPara="1" wrap="square" lIns="121900" tIns="121900" rIns="121900" bIns="121900" anchor="t" anchorCtr="0">
            <a:normAutofit fontScale="62500" lnSpcReduction="20000"/>
          </a:bodyPr>
          <a:lstStyle/>
          <a:p>
            <a:pPr marL="0" lvl="0" indent="0" algn="l" rtl="0">
              <a:spcBef>
                <a:spcPts val="0"/>
              </a:spcBef>
              <a:spcAft>
                <a:spcPts val="0"/>
              </a:spcAft>
              <a:buNone/>
            </a:pPr>
            <a:r>
              <a:rPr lang="en-US" sz="1300" b="1" dirty="0">
                <a:solidFill>
                  <a:srgbClr val="0000FF"/>
                </a:solidFill>
                <a:highlight>
                  <a:srgbClr val="FFFFFF"/>
                </a:highlight>
                <a:latin typeface="Courier New"/>
                <a:ea typeface="Courier New"/>
                <a:cs typeface="Courier New"/>
                <a:sym typeface="Courier New"/>
              </a:rPr>
              <a:t>&gt; </a:t>
            </a:r>
            <a:r>
              <a:rPr lang="en-US" sz="1300" b="1" dirty="0" err="1">
                <a:solidFill>
                  <a:srgbClr val="0000FF"/>
                </a:solidFill>
                <a:highlight>
                  <a:srgbClr val="FFFFFF"/>
                </a:highlight>
                <a:latin typeface="Courier New"/>
                <a:ea typeface="Courier New"/>
                <a:cs typeface="Courier New"/>
                <a:sym typeface="Courier New"/>
              </a:rPr>
              <a:t>backstep_model$anova</a:t>
            </a:r>
            <a:endParaRPr sz="1300" b="1" dirty="0">
              <a:solidFill>
                <a:srgbClr val="0000FF"/>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en-US" sz="1300" b="1" dirty="0">
                <a:solidFill>
                  <a:schemeClr val="dk1"/>
                </a:solidFill>
                <a:highlight>
                  <a:srgbClr val="FFFFFF"/>
                </a:highlight>
                <a:latin typeface="Courier New"/>
                <a:ea typeface="Courier New"/>
                <a:cs typeface="Courier New"/>
                <a:sym typeface="Courier New"/>
              </a:rPr>
              <a:t>Stepwise Model Path </a:t>
            </a:r>
            <a:endParaRPr sz="1300" b="1" dirty="0">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en-US" sz="1300" b="1" dirty="0">
                <a:solidFill>
                  <a:schemeClr val="dk1"/>
                </a:solidFill>
                <a:highlight>
                  <a:srgbClr val="FFFFFF"/>
                </a:highlight>
                <a:latin typeface="Courier New"/>
                <a:ea typeface="Courier New"/>
                <a:cs typeface="Courier New"/>
                <a:sym typeface="Courier New"/>
              </a:rPr>
              <a:t>Analysis of Deviance Table</a:t>
            </a:r>
            <a:endParaRPr sz="1300" b="1" dirty="0">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None/>
            </a:pPr>
            <a:endParaRPr sz="1300" b="1" dirty="0">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en-US" sz="1300" b="1" dirty="0">
                <a:solidFill>
                  <a:schemeClr val="dk1"/>
                </a:solidFill>
                <a:highlight>
                  <a:srgbClr val="FFFFFF"/>
                </a:highlight>
                <a:latin typeface="Courier New"/>
                <a:ea typeface="Courier New"/>
                <a:cs typeface="Courier New"/>
                <a:sym typeface="Courier New"/>
              </a:rPr>
              <a:t>Initial Model:</a:t>
            </a:r>
            <a:endParaRPr sz="1300" b="1" dirty="0">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en-US" sz="1300" b="1" dirty="0" err="1">
                <a:solidFill>
                  <a:schemeClr val="dk1"/>
                </a:solidFill>
                <a:highlight>
                  <a:srgbClr val="FFFFFF"/>
                </a:highlight>
                <a:latin typeface="Courier New"/>
                <a:ea typeface="Courier New"/>
                <a:cs typeface="Courier New"/>
                <a:sym typeface="Courier New"/>
              </a:rPr>
              <a:t>Life_Expectancy</a:t>
            </a:r>
            <a:r>
              <a:rPr lang="en-US" sz="1300" b="1" dirty="0">
                <a:solidFill>
                  <a:schemeClr val="dk1"/>
                </a:solidFill>
                <a:highlight>
                  <a:srgbClr val="FFFFFF"/>
                </a:highlight>
                <a:latin typeface="Courier New"/>
                <a:ea typeface="Courier New"/>
                <a:cs typeface="Courier New"/>
                <a:sym typeface="Courier New"/>
              </a:rPr>
              <a:t> ~ Status + Continent + </a:t>
            </a:r>
            <a:r>
              <a:rPr lang="en-US" sz="1300" b="1" dirty="0" err="1">
                <a:solidFill>
                  <a:schemeClr val="dk1"/>
                </a:solidFill>
                <a:highlight>
                  <a:srgbClr val="FFFFFF"/>
                </a:highlight>
                <a:latin typeface="Courier New"/>
                <a:ea typeface="Courier New"/>
                <a:cs typeface="Courier New"/>
                <a:sym typeface="Courier New"/>
              </a:rPr>
              <a:t>Adult_Mortality</a:t>
            </a:r>
            <a:r>
              <a:rPr lang="en-US" sz="1300" b="1" dirty="0">
                <a:solidFill>
                  <a:schemeClr val="dk1"/>
                </a:solidFill>
                <a:highlight>
                  <a:srgbClr val="FFFFFF"/>
                </a:highlight>
                <a:latin typeface="Courier New"/>
                <a:ea typeface="Courier New"/>
                <a:cs typeface="Courier New"/>
                <a:sym typeface="Courier New"/>
              </a:rPr>
              <a:t> + </a:t>
            </a:r>
            <a:r>
              <a:rPr lang="en-US" sz="1300" b="1" dirty="0" err="1">
                <a:solidFill>
                  <a:schemeClr val="dk1"/>
                </a:solidFill>
                <a:highlight>
                  <a:srgbClr val="FFFFFF"/>
                </a:highlight>
                <a:latin typeface="Courier New"/>
                <a:ea typeface="Courier New"/>
                <a:cs typeface="Courier New"/>
                <a:sym typeface="Courier New"/>
              </a:rPr>
              <a:t>Infant_Deaths</a:t>
            </a:r>
            <a:r>
              <a:rPr lang="en-US" sz="1300" b="1" dirty="0">
                <a:solidFill>
                  <a:schemeClr val="dk1"/>
                </a:solidFill>
                <a:highlight>
                  <a:srgbClr val="FFFFFF"/>
                </a:highlight>
                <a:latin typeface="Courier New"/>
                <a:ea typeface="Courier New"/>
                <a:cs typeface="Courier New"/>
                <a:sym typeface="Courier New"/>
              </a:rPr>
              <a:t> + </a:t>
            </a:r>
            <a:endParaRPr sz="1300" b="1" dirty="0">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en-US" sz="1300" b="1" dirty="0">
                <a:solidFill>
                  <a:schemeClr val="dk1"/>
                </a:solidFill>
                <a:highlight>
                  <a:srgbClr val="FFFFFF"/>
                </a:highlight>
                <a:latin typeface="Courier New"/>
                <a:ea typeface="Courier New"/>
                <a:cs typeface="Courier New"/>
                <a:sym typeface="Courier New"/>
              </a:rPr>
              <a:t>    Under_5_Deaths + Alcohol + HIV_AIDS + </a:t>
            </a:r>
            <a:r>
              <a:rPr lang="en-US" sz="1300" b="1" dirty="0" err="1">
                <a:solidFill>
                  <a:schemeClr val="dk1"/>
                </a:solidFill>
                <a:highlight>
                  <a:srgbClr val="FFFFFF"/>
                </a:highlight>
                <a:latin typeface="Courier New"/>
                <a:ea typeface="Courier New"/>
                <a:cs typeface="Courier New"/>
                <a:sym typeface="Courier New"/>
              </a:rPr>
              <a:t>Hepatitis_B</a:t>
            </a:r>
            <a:r>
              <a:rPr lang="en-US" sz="1300" b="1" dirty="0">
                <a:solidFill>
                  <a:schemeClr val="dk1"/>
                </a:solidFill>
                <a:highlight>
                  <a:srgbClr val="FFFFFF"/>
                </a:highlight>
                <a:latin typeface="Courier New"/>
                <a:ea typeface="Courier New"/>
                <a:cs typeface="Courier New"/>
                <a:sym typeface="Courier New"/>
              </a:rPr>
              <a:t> + Polio + </a:t>
            </a:r>
            <a:endParaRPr sz="1300" b="1" dirty="0">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en-US" sz="1300" b="1" dirty="0">
                <a:solidFill>
                  <a:schemeClr val="dk1"/>
                </a:solidFill>
                <a:highlight>
                  <a:srgbClr val="FFFFFF"/>
                </a:highlight>
                <a:latin typeface="Courier New"/>
                <a:ea typeface="Courier New"/>
                <a:cs typeface="Courier New"/>
                <a:sym typeface="Courier New"/>
              </a:rPr>
              <a:t>    Diphtheria + Measles + BMI + Thinness_5to9_Years + Thinness_10to19_Years + </a:t>
            </a:r>
            <a:endParaRPr sz="1300" b="1" dirty="0">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en-US" sz="1300" b="1" dirty="0">
                <a:solidFill>
                  <a:schemeClr val="dk1"/>
                </a:solidFill>
                <a:highlight>
                  <a:srgbClr val="FFFFFF"/>
                </a:highlight>
                <a:latin typeface="Courier New"/>
                <a:ea typeface="Courier New"/>
                <a:cs typeface="Courier New"/>
                <a:sym typeface="Courier New"/>
              </a:rPr>
              <a:t>    GDP + Population + </a:t>
            </a:r>
            <a:r>
              <a:rPr lang="en-US" sz="1300" b="1" dirty="0" err="1">
                <a:solidFill>
                  <a:schemeClr val="dk1"/>
                </a:solidFill>
                <a:highlight>
                  <a:srgbClr val="FFFFFF"/>
                </a:highlight>
                <a:latin typeface="Courier New"/>
                <a:ea typeface="Courier New"/>
                <a:cs typeface="Courier New"/>
                <a:sym typeface="Courier New"/>
              </a:rPr>
              <a:t>Percentage_Expenditure</a:t>
            </a:r>
            <a:r>
              <a:rPr lang="en-US" sz="1300" b="1" dirty="0">
                <a:solidFill>
                  <a:schemeClr val="dk1"/>
                </a:solidFill>
                <a:highlight>
                  <a:srgbClr val="FFFFFF"/>
                </a:highlight>
                <a:latin typeface="Courier New"/>
                <a:ea typeface="Courier New"/>
                <a:cs typeface="Courier New"/>
                <a:sym typeface="Courier New"/>
              </a:rPr>
              <a:t> + </a:t>
            </a:r>
            <a:r>
              <a:rPr lang="en-US" sz="1300" b="1" dirty="0" err="1">
                <a:solidFill>
                  <a:schemeClr val="dk1"/>
                </a:solidFill>
                <a:highlight>
                  <a:srgbClr val="FFFFFF"/>
                </a:highlight>
                <a:latin typeface="Courier New"/>
                <a:ea typeface="Courier New"/>
                <a:cs typeface="Courier New"/>
                <a:sym typeface="Courier New"/>
              </a:rPr>
              <a:t>Total_Expenditure</a:t>
            </a:r>
            <a:r>
              <a:rPr lang="en-US" sz="1300" b="1" dirty="0">
                <a:solidFill>
                  <a:schemeClr val="dk1"/>
                </a:solidFill>
                <a:highlight>
                  <a:srgbClr val="FFFFFF"/>
                </a:highlight>
                <a:latin typeface="Courier New"/>
                <a:ea typeface="Courier New"/>
                <a:cs typeface="Courier New"/>
                <a:sym typeface="Courier New"/>
              </a:rPr>
              <a:t> + </a:t>
            </a:r>
            <a:endParaRPr sz="1300" b="1" dirty="0">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en-US" sz="1300" b="1" dirty="0">
                <a:solidFill>
                  <a:schemeClr val="dk1"/>
                </a:solidFill>
                <a:highlight>
                  <a:srgbClr val="FFFFFF"/>
                </a:highlight>
                <a:latin typeface="Courier New"/>
                <a:ea typeface="Courier New"/>
                <a:cs typeface="Courier New"/>
                <a:sym typeface="Courier New"/>
              </a:rPr>
              <a:t>    ICOR + Schooling</a:t>
            </a:r>
            <a:endParaRPr sz="1300" b="1" dirty="0">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None/>
            </a:pPr>
            <a:endParaRPr sz="1300" b="1" dirty="0">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en-US" sz="1300" b="1" dirty="0">
                <a:solidFill>
                  <a:schemeClr val="dk1"/>
                </a:solidFill>
                <a:highlight>
                  <a:srgbClr val="FFFFFF"/>
                </a:highlight>
                <a:latin typeface="Courier New"/>
                <a:ea typeface="Courier New"/>
                <a:cs typeface="Courier New"/>
                <a:sym typeface="Courier New"/>
              </a:rPr>
              <a:t>Final Model:</a:t>
            </a:r>
            <a:endParaRPr sz="1300" b="1" dirty="0">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en-US" sz="1300" b="1" dirty="0" err="1">
                <a:solidFill>
                  <a:schemeClr val="dk1"/>
                </a:solidFill>
                <a:highlight>
                  <a:srgbClr val="FFFFFF"/>
                </a:highlight>
                <a:latin typeface="Courier New"/>
                <a:ea typeface="Courier New"/>
                <a:cs typeface="Courier New"/>
                <a:sym typeface="Courier New"/>
              </a:rPr>
              <a:t>Life_Expectancy</a:t>
            </a:r>
            <a:r>
              <a:rPr lang="en-US" sz="1300" b="1" dirty="0">
                <a:solidFill>
                  <a:schemeClr val="dk1"/>
                </a:solidFill>
                <a:highlight>
                  <a:srgbClr val="FFFFFF"/>
                </a:highlight>
                <a:latin typeface="Courier New"/>
                <a:ea typeface="Courier New"/>
                <a:cs typeface="Courier New"/>
                <a:sym typeface="Courier New"/>
              </a:rPr>
              <a:t> ~ Status + Continent + </a:t>
            </a:r>
            <a:r>
              <a:rPr lang="en-US" sz="1300" b="1" dirty="0" err="1">
                <a:solidFill>
                  <a:schemeClr val="dk1"/>
                </a:solidFill>
                <a:highlight>
                  <a:srgbClr val="FFFFFF"/>
                </a:highlight>
                <a:latin typeface="Courier New"/>
                <a:ea typeface="Courier New"/>
                <a:cs typeface="Courier New"/>
                <a:sym typeface="Courier New"/>
              </a:rPr>
              <a:t>Adult_Mortality</a:t>
            </a:r>
            <a:r>
              <a:rPr lang="en-US" sz="1300" b="1" dirty="0">
                <a:solidFill>
                  <a:schemeClr val="dk1"/>
                </a:solidFill>
                <a:highlight>
                  <a:srgbClr val="FFFFFF"/>
                </a:highlight>
                <a:latin typeface="Courier New"/>
                <a:ea typeface="Courier New"/>
                <a:cs typeface="Courier New"/>
                <a:sym typeface="Courier New"/>
              </a:rPr>
              <a:t> + </a:t>
            </a:r>
            <a:r>
              <a:rPr lang="en-US" sz="1300" b="1" dirty="0" err="1">
                <a:solidFill>
                  <a:schemeClr val="dk1"/>
                </a:solidFill>
                <a:highlight>
                  <a:srgbClr val="FFFFFF"/>
                </a:highlight>
                <a:latin typeface="Courier New"/>
                <a:ea typeface="Courier New"/>
                <a:cs typeface="Courier New"/>
                <a:sym typeface="Courier New"/>
              </a:rPr>
              <a:t>Infant_Deaths</a:t>
            </a:r>
            <a:r>
              <a:rPr lang="en-US" sz="1300" b="1" dirty="0">
                <a:solidFill>
                  <a:schemeClr val="dk1"/>
                </a:solidFill>
                <a:highlight>
                  <a:srgbClr val="FFFFFF"/>
                </a:highlight>
                <a:latin typeface="Courier New"/>
                <a:ea typeface="Courier New"/>
                <a:cs typeface="Courier New"/>
                <a:sym typeface="Courier New"/>
              </a:rPr>
              <a:t> + </a:t>
            </a:r>
            <a:endParaRPr sz="1300" b="1" dirty="0">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en-US" sz="1300" b="1" dirty="0">
                <a:solidFill>
                  <a:schemeClr val="dk1"/>
                </a:solidFill>
                <a:highlight>
                  <a:srgbClr val="FFFFFF"/>
                </a:highlight>
                <a:latin typeface="Courier New"/>
                <a:ea typeface="Courier New"/>
                <a:cs typeface="Courier New"/>
                <a:sym typeface="Courier New"/>
              </a:rPr>
              <a:t>    Under_5_Deaths + Alcohol + HIV_AIDS + Polio + Diphtheria + </a:t>
            </a:r>
            <a:endParaRPr sz="1300" b="1" dirty="0">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en-US" sz="1300" b="1" dirty="0">
                <a:solidFill>
                  <a:schemeClr val="dk1"/>
                </a:solidFill>
                <a:highlight>
                  <a:srgbClr val="FFFFFF"/>
                </a:highlight>
                <a:latin typeface="Courier New"/>
                <a:ea typeface="Courier New"/>
                <a:cs typeface="Courier New"/>
                <a:sym typeface="Courier New"/>
              </a:rPr>
              <a:t>    BMI + Thinness_5to9_Years + </a:t>
            </a:r>
            <a:r>
              <a:rPr lang="en-US" sz="1300" b="1" dirty="0" err="1">
                <a:solidFill>
                  <a:schemeClr val="dk1"/>
                </a:solidFill>
                <a:highlight>
                  <a:srgbClr val="FFFFFF"/>
                </a:highlight>
                <a:latin typeface="Courier New"/>
                <a:ea typeface="Courier New"/>
                <a:cs typeface="Courier New"/>
                <a:sym typeface="Courier New"/>
              </a:rPr>
              <a:t>Percentage_Expenditure</a:t>
            </a:r>
            <a:r>
              <a:rPr lang="en-US" sz="1300" b="1" dirty="0">
                <a:solidFill>
                  <a:schemeClr val="dk1"/>
                </a:solidFill>
                <a:highlight>
                  <a:srgbClr val="FFFFFF"/>
                </a:highlight>
                <a:latin typeface="Courier New"/>
                <a:ea typeface="Courier New"/>
                <a:cs typeface="Courier New"/>
                <a:sym typeface="Courier New"/>
              </a:rPr>
              <a:t> + ICOR + </a:t>
            </a:r>
            <a:endParaRPr sz="1300" b="1" dirty="0">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en-US" sz="1300" b="1" dirty="0">
                <a:solidFill>
                  <a:schemeClr val="dk1"/>
                </a:solidFill>
                <a:highlight>
                  <a:srgbClr val="FFFFFF"/>
                </a:highlight>
                <a:latin typeface="Courier New"/>
                <a:ea typeface="Courier New"/>
                <a:cs typeface="Courier New"/>
                <a:sym typeface="Courier New"/>
              </a:rPr>
              <a:t>    Schooling</a:t>
            </a:r>
            <a:endParaRPr sz="1300" b="1" dirty="0">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None/>
            </a:pPr>
            <a:endParaRPr sz="1300" b="1" dirty="0">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None/>
            </a:pPr>
            <a:endParaRPr sz="1300" b="1" dirty="0">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en-US" sz="1300" b="1" dirty="0">
                <a:solidFill>
                  <a:schemeClr val="dk1"/>
                </a:solidFill>
                <a:highlight>
                  <a:srgbClr val="FFFFFF"/>
                </a:highlight>
                <a:latin typeface="Courier New"/>
                <a:ea typeface="Courier New"/>
                <a:cs typeface="Courier New"/>
                <a:sym typeface="Courier New"/>
              </a:rPr>
              <a:t>                     Step </a:t>
            </a:r>
            <a:r>
              <a:rPr lang="en-US" sz="1300" b="1" dirty="0" err="1">
                <a:solidFill>
                  <a:schemeClr val="dk1"/>
                </a:solidFill>
                <a:highlight>
                  <a:srgbClr val="FFFFFF"/>
                </a:highlight>
                <a:latin typeface="Courier New"/>
                <a:ea typeface="Courier New"/>
                <a:cs typeface="Courier New"/>
                <a:sym typeface="Courier New"/>
              </a:rPr>
              <a:t>Df</a:t>
            </a:r>
            <a:r>
              <a:rPr lang="en-US" sz="1300" b="1" dirty="0">
                <a:solidFill>
                  <a:schemeClr val="dk1"/>
                </a:solidFill>
                <a:highlight>
                  <a:srgbClr val="FFFFFF"/>
                </a:highlight>
                <a:latin typeface="Courier New"/>
                <a:ea typeface="Courier New"/>
                <a:cs typeface="Courier New"/>
                <a:sym typeface="Courier New"/>
              </a:rPr>
              <a:t>   Deviance Resid. </a:t>
            </a:r>
            <a:r>
              <a:rPr lang="en-US" sz="1300" b="1" dirty="0" err="1">
                <a:solidFill>
                  <a:schemeClr val="dk1"/>
                </a:solidFill>
                <a:highlight>
                  <a:srgbClr val="FFFFFF"/>
                </a:highlight>
                <a:latin typeface="Courier New"/>
                <a:ea typeface="Courier New"/>
                <a:cs typeface="Courier New"/>
                <a:sym typeface="Courier New"/>
              </a:rPr>
              <a:t>Df</a:t>
            </a:r>
            <a:r>
              <a:rPr lang="en-US" sz="1300" b="1" dirty="0">
                <a:solidFill>
                  <a:schemeClr val="dk1"/>
                </a:solidFill>
                <a:highlight>
                  <a:srgbClr val="FFFFFF"/>
                </a:highlight>
                <a:latin typeface="Courier New"/>
                <a:ea typeface="Courier New"/>
                <a:cs typeface="Courier New"/>
                <a:sym typeface="Courier New"/>
              </a:rPr>
              <a:t> Resid. Dev      AIC</a:t>
            </a:r>
            <a:endParaRPr sz="1300" b="1" dirty="0">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en-US" sz="1300" b="1" dirty="0">
                <a:solidFill>
                  <a:schemeClr val="dk1"/>
                </a:solidFill>
                <a:highlight>
                  <a:srgbClr val="FFFFFF"/>
                </a:highlight>
                <a:latin typeface="Courier New"/>
                <a:ea typeface="Courier New"/>
                <a:cs typeface="Courier New"/>
                <a:sym typeface="Courier New"/>
              </a:rPr>
              <a:t>1                                            1625   18735.93 4055.522</a:t>
            </a:r>
            <a:endParaRPr sz="1300" b="1" dirty="0">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en-US" sz="1300" b="1" dirty="0">
                <a:solidFill>
                  <a:schemeClr val="dk1"/>
                </a:solidFill>
                <a:highlight>
                  <a:srgbClr val="FFFFFF"/>
                </a:highlight>
                <a:latin typeface="Courier New"/>
                <a:ea typeface="Courier New"/>
                <a:cs typeface="Courier New"/>
                <a:sym typeface="Courier New"/>
              </a:rPr>
              <a:t>2               - Measles  1  0.1847385      1626   18736.11 4053.538</a:t>
            </a:r>
            <a:endParaRPr sz="1300" b="1" dirty="0">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en-US" sz="1300" b="1" dirty="0">
                <a:solidFill>
                  <a:schemeClr val="dk1"/>
                </a:solidFill>
                <a:highlight>
                  <a:srgbClr val="FFFFFF"/>
                </a:highlight>
                <a:latin typeface="Courier New"/>
                <a:ea typeface="Courier New"/>
                <a:cs typeface="Courier New"/>
                <a:sym typeface="Courier New"/>
              </a:rPr>
              <a:t>3 - Thinness_10to19_Years  1  0.3221885      1627   18736.44 4051.566</a:t>
            </a:r>
            <a:endParaRPr sz="1300" b="1" dirty="0">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en-US" sz="1300" b="1" dirty="0">
                <a:solidFill>
                  <a:schemeClr val="dk1"/>
                </a:solidFill>
                <a:highlight>
                  <a:srgbClr val="FFFFFF"/>
                </a:highlight>
                <a:latin typeface="Courier New"/>
                <a:ea typeface="Courier New"/>
                <a:cs typeface="Courier New"/>
                <a:sym typeface="Courier New"/>
              </a:rPr>
              <a:t>4            - Population  1  1.7709850      1628   18738.21 4049.722</a:t>
            </a:r>
            <a:endParaRPr sz="1300" b="1" dirty="0">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en-US" sz="1300" b="1" dirty="0">
                <a:solidFill>
                  <a:schemeClr val="dk1"/>
                </a:solidFill>
                <a:highlight>
                  <a:srgbClr val="FFFFFF"/>
                </a:highlight>
                <a:latin typeface="Courier New"/>
                <a:ea typeface="Courier New"/>
                <a:cs typeface="Courier New"/>
                <a:sym typeface="Courier New"/>
              </a:rPr>
              <a:t>5                   - GDP  1  6.8843111      1629   18745.09 4048.328</a:t>
            </a:r>
            <a:endParaRPr sz="1300" b="1" dirty="0">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None/>
            </a:pPr>
            <a:r>
              <a:rPr lang="en-US" sz="1300" b="1" dirty="0">
                <a:solidFill>
                  <a:schemeClr val="dk1"/>
                </a:solidFill>
                <a:highlight>
                  <a:srgbClr val="FFFFFF"/>
                </a:highlight>
                <a:latin typeface="Courier New"/>
                <a:ea typeface="Courier New"/>
                <a:cs typeface="Courier New"/>
                <a:sym typeface="Courier New"/>
              </a:rPr>
              <a:t>6     - </a:t>
            </a:r>
            <a:r>
              <a:rPr lang="en-US" sz="1300" b="1" dirty="0" err="1">
                <a:solidFill>
                  <a:schemeClr val="dk1"/>
                </a:solidFill>
                <a:highlight>
                  <a:srgbClr val="FFFFFF"/>
                </a:highlight>
                <a:latin typeface="Courier New"/>
                <a:ea typeface="Courier New"/>
                <a:cs typeface="Courier New"/>
                <a:sym typeface="Courier New"/>
              </a:rPr>
              <a:t>Total_Expenditure</a:t>
            </a:r>
            <a:r>
              <a:rPr lang="en-US" sz="1300" b="1" dirty="0">
                <a:solidFill>
                  <a:schemeClr val="dk1"/>
                </a:solidFill>
                <a:highlight>
                  <a:srgbClr val="FFFFFF"/>
                </a:highlight>
                <a:latin typeface="Courier New"/>
                <a:ea typeface="Courier New"/>
                <a:cs typeface="Courier New"/>
                <a:sym typeface="Courier New"/>
              </a:rPr>
              <a:t>  1 12.4564596      1630   18757.55 4047.423</a:t>
            </a:r>
            <a:endParaRPr sz="1300" b="1" dirty="0">
              <a:solidFill>
                <a:schemeClr val="dk1"/>
              </a:solidFill>
              <a:highlight>
                <a:srgbClr val="FFFFFF"/>
              </a:highlight>
              <a:latin typeface="Courier New"/>
              <a:ea typeface="Courier New"/>
              <a:cs typeface="Courier New"/>
              <a:sym typeface="Courier New"/>
            </a:endParaRPr>
          </a:p>
          <a:p>
            <a:pPr marL="0" lvl="0" indent="0" algn="l" rtl="0">
              <a:lnSpc>
                <a:spcPct val="120000"/>
              </a:lnSpc>
              <a:spcBef>
                <a:spcPts val="0"/>
              </a:spcBef>
              <a:spcAft>
                <a:spcPts val="0"/>
              </a:spcAft>
              <a:buNone/>
            </a:pPr>
            <a:r>
              <a:rPr lang="en-US" sz="1300" b="1" dirty="0">
                <a:solidFill>
                  <a:schemeClr val="dk1"/>
                </a:solidFill>
                <a:highlight>
                  <a:srgbClr val="FFFFFF"/>
                </a:highlight>
                <a:latin typeface="Courier New"/>
                <a:ea typeface="Courier New"/>
                <a:cs typeface="Courier New"/>
                <a:sym typeface="Courier New"/>
              </a:rPr>
              <a:t>7           - </a:t>
            </a:r>
            <a:r>
              <a:rPr lang="en-US" sz="1300" b="1" dirty="0" err="1">
                <a:solidFill>
                  <a:schemeClr val="dk1"/>
                </a:solidFill>
                <a:highlight>
                  <a:srgbClr val="FFFFFF"/>
                </a:highlight>
                <a:latin typeface="Courier New"/>
                <a:ea typeface="Courier New"/>
                <a:cs typeface="Courier New"/>
                <a:sym typeface="Courier New"/>
              </a:rPr>
              <a:t>Hepatitis_B</a:t>
            </a:r>
            <a:r>
              <a:rPr lang="en-US" sz="1300" b="1" dirty="0">
                <a:solidFill>
                  <a:schemeClr val="dk1"/>
                </a:solidFill>
                <a:highlight>
                  <a:srgbClr val="FFFFFF"/>
                </a:highlight>
                <a:latin typeface="Courier New"/>
                <a:ea typeface="Courier New"/>
                <a:cs typeface="Courier New"/>
                <a:sym typeface="Courier New"/>
              </a:rPr>
              <a:t>  1 21.6205515      1631   18779.17 4047.323</a:t>
            </a:r>
            <a:endParaRPr sz="1300" b="1" dirty="0">
              <a:solidFill>
                <a:schemeClr val="dk1"/>
              </a:solidFill>
              <a:highlight>
                <a:srgbClr val="FFFFFF"/>
              </a:highlight>
              <a:latin typeface="Courier New"/>
              <a:ea typeface="Courier New"/>
              <a:cs typeface="Courier New"/>
              <a:sym typeface="Courier New"/>
            </a:endParaRPr>
          </a:p>
          <a:p>
            <a:pPr marL="0" lvl="0" indent="0" algn="l" rtl="0">
              <a:lnSpc>
                <a:spcPct val="120000"/>
              </a:lnSpc>
              <a:spcBef>
                <a:spcPts val="0"/>
              </a:spcBef>
              <a:spcAft>
                <a:spcPts val="0"/>
              </a:spcAft>
              <a:buNone/>
            </a:pPr>
            <a:endParaRPr sz="1300" b="1" dirty="0">
              <a:solidFill>
                <a:srgbClr val="0000FF"/>
              </a:solidFill>
              <a:highlight>
                <a:srgbClr val="FFFFFF"/>
              </a:highlight>
              <a:latin typeface="Courier New"/>
              <a:ea typeface="Courier New"/>
              <a:cs typeface="Courier New"/>
              <a:sym typeface="Courier New"/>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8" name="Google Shape;358;p55"/>
          <p:cNvSpPr txBox="1">
            <a:spLocks noGrp="1"/>
          </p:cNvSpPr>
          <p:nvPr>
            <p:ph type="title"/>
          </p:nvPr>
        </p:nvSpPr>
        <p:spPr>
          <a:xfrm>
            <a:off x="415600" y="593367"/>
            <a:ext cx="11360700" cy="763500"/>
          </a:xfrm>
          <a:prstGeom prst="rect">
            <a:avLst/>
          </a:prstGeom>
        </p:spPr>
        <p:txBody>
          <a:bodyPr spcFirstLastPara="1" wrap="square" lIns="121900" tIns="121900" rIns="121900" bIns="121900" anchor="t" anchorCtr="0">
            <a:normAutofit fontScale="90000"/>
          </a:bodyPr>
          <a:lstStyle/>
          <a:p>
            <a:pPr marL="0" lvl="0" indent="0" algn="ctr" rtl="0">
              <a:spcBef>
                <a:spcPts val="0"/>
              </a:spcBef>
              <a:spcAft>
                <a:spcPts val="0"/>
              </a:spcAft>
              <a:buClr>
                <a:schemeClr val="dk1"/>
              </a:buClr>
              <a:buSzPct val="40540"/>
              <a:buFont typeface="Arial"/>
              <a:buNone/>
            </a:pPr>
            <a:r>
              <a:rPr lang="en-US"/>
              <a:t>Stepwise Regression - Forward Selection</a:t>
            </a:r>
            <a:endParaRPr/>
          </a:p>
          <a:p>
            <a:pPr marL="0" lvl="0" indent="0" algn="l" rtl="0">
              <a:spcBef>
                <a:spcPts val="0"/>
              </a:spcBef>
              <a:spcAft>
                <a:spcPts val="0"/>
              </a:spcAft>
              <a:buNone/>
            </a:pPr>
            <a:endParaRPr/>
          </a:p>
        </p:txBody>
      </p:sp>
      <p:sp>
        <p:nvSpPr>
          <p:cNvPr id="359" name="Google Shape;359;p55"/>
          <p:cNvSpPr txBox="1">
            <a:spLocks noGrp="1"/>
          </p:cNvSpPr>
          <p:nvPr>
            <p:ph type="body" idx="1"/>
          </p:nvPr>
        </p:nvSpPr>
        <p:spPr>
          <a:xfrm>
            <a:off x="415600" y="1536625"/>
            <a:ext cx="5439300" cy="4944600"/>
          </a:xfrm>
          <a:prstGeom prst="rect">
            <a:avLst/>
          </a:prstGeom>
        </p:spPr>
        <p:txBody>
          <a:bodyPr spcFirstLastPara="1" wrap="square" lIns="121900" tIns="121900" rIns="121900" bIns="121900" anchor="t" anchorCtr="0">
            <a:normAutofit fontScale="62500" lnSpcReduction="20000"/>
          </a:bodyPr>
          <a:lstStyle/>
          <a:p>
            <a:pPr marL="0" lvl="0" indent="0" algn="l" rtl="0">
              <a:spcBef>
                <a:spcPts val="0"/>
              </a:spcBef>
              <a:spcAft>
                <a:spcPts val="0"/>
              </a:spcAft>
              <a:buClr>
                <a:schemeClr val="dk1"/>
              </a:buClr>
              <a:buSzPct val="115384"/>
              <a:buFont typeface="Arial"/>
              <a:buNone/>
            </a:pPr>
            <a:r>
              <a:rPr lang="en-US" sz="1300" b="1">
                <a:solidFill>
                  <a:srgbClr val="0000FF"/>
                </a:solidFill>
                <a:highlight>
                  <a:srgbClr val="FFFFFF"/>
                </a:highlight>
                <a:latin typeface="Courier New"/>
                <a:ea typeface="Courier New"/>
                <a:cs typeface="Courier New"/>
                <a:sym typeface="Courier New"/>
              </a:rPr>
              <a:t>&gt; summary(fwdstep_model)</a:t>
            </a:r>
            <a:endParaRPr sz="1300" b="1">
              <a:solidFill>
                <a:srgbClr val="0000FF"/>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Call:</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lm(formula = Life_Expectancy ~ Continent + Adult_Mortality +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    Schooling + HIV_AIDS + ICOR + Percentage_Expenditure + Under_5_Deaths +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    Infant_Deaths + BMI + Alcohol + Status + Diphtheria + Thinness_5to9_Years +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    Polio, data = Cleaned_Health_Data)</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Residuals:</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     Min       1Q   Median       3Q      Max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-16.0057  -2.2009   0.1094   2.1074  12.3786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Coefficients:</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                         Estimate Std. Error t value Pr(&gt;|t|)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(Intercept)            54.9298997  0.7755889  70.823  &lt; 2e-16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ContinentAmericas       4.2769100  0.3289078  13.003  &lt; 2e-16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ContinentAsia           2.7650899  0.2806507   9.852  &lt; 2e-16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ContinentEurope         3.2504223  0.4115620   7.898 5.17e-15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ContinentOceania        1.2869572  0.4199960   3.064 0.002218 **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Adult_Mortality        -0.0153076  0.0009020 -16.971  &lt; 2e-16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Schooling               0.8316711  0.0568180  14.637  &lt; 2e-16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HIV_AIDS               -0.3701773  0.0176009 -21.032  &lt; 2e-16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ICOR                    8.2859429  0.8039707  10.306  &lt; 2e-16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Percentage_Expenditure  0.0004767  0.0000561   8.497  &lt; 2e-16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Under_5_Deaths         -0.0449376  0.0072852  -6.168 8.68e-10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Infant_Deaths           0.0581396  0.0098237   5.918 3.96e-09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BMI                     0.0226790  0.0058473   3.879 0.000109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Alcohol                -0.1872329  0.0355395  -5.268 1.56e-07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StatusDeveloping       -1.6070430  0.3589032  -4.478 8.07e-06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Diphtheria              0.0096180  0.0050789   1.894 0.058441 .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Thinness_5to9_Years    -0.0478565  0.0269605  -1.775 0.076074 .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Polio                   0.0080300  0.0048003   1.673 0.094560 .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Signif. codes:  0 ‘***’ 0.001 ‘**’ 0.01 ‘*’ 0.05 ‘.’ 0.1 ‘ ’ 1</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Residual standard error: 3.393 on 1631 degrees of freedom</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Multiple R-squared:  0.8527,	Adjusted R-squared:  0.8512 </a:t>
            </a:r>
            <a:endParaRPr sz="1300" b="1">
              <a:solidFill>
                <a:schemeClr val="dk1"/>
              </a:solidFill>
              <a:highlight>
                <a:srgbClr val="FFFFFF"/>
              </a:highlight>
              <a:latin typeface="Courier New"/>
              <a:ea typeface="Courier New"/>
              <a:cs typeface="Courier New"/>
              <a:sym typeface="Courier New"/>
            </a:endParaRPr>
          </a:p>
          <a:p>
            <a:pPr marL="0" lvl="0" indent="0" algn="l" rtl="0">
              <a:lnSpc>
                <a:spcPct val="120000"/>
              </a:lnSpc>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F-statistic: 555.6 on 17 and 1631 DF,  p-value: &lt; 2.2e-16</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1600"/>
              </a:spcAft>
              <a:buNone/>
            </a:pPr>
            <a:endParaRPr/>
          </a:p>
        </p:txBody>
      </p:sp>
      <p:sp>
        <p:nvSpPr>
          <p:cNvPr id="360" name="Google Shape;360;p55"/>
          <p:cNvSpPr txBox="1">
            <a:spLocks noGrp="1"/>
          </p:cNvSpPr>
          <p:nvPr>
            <p:ph type="body" idx="1"/>
          </p:nvPr>
        </p:nvSpPr>
        <p:spPr>
          <a:xfrm>
            <a:off x="6096000" y="1739825"/>
            <a:ext cx="5086500" cy="4599600"/>
          </a:xfrm>
          <a:prstGeom prst="rect">
            <a:avLst/>
          </a:prstGeom>
        </p:spPr>
        <p:txBody>
          <a:bodyPr spcFirstLastPara="1" wrap="square" lIns="121900" tIns="121900" rIns="121900" bIns="121900" anchor="t" anchorCtr="0">
            <a:normAutofit fontScale="70000" lnSpcReduction="20000"/>
          </a:bodyPr>
          <a:lstStyle/>
          <a:p>
            <a:pPr marL="0" lvl="0" indent="0" algn="l" rtl="0">
              <a:spcBef>
                <a:spcPts val="0"/>
              </a:spcBef>
              <a:spcAft>
                <a:spcPts val="0"/>
              </a:spcAft>
              <a:buClr>
                <a:schemeClr val="dk1"/>
              </a:buClr>
              <a:buSzPct val="115384"/>
              <a:buFont typeface="Arial"/>
              <a:buNone/>
            </a:pPr>
            <a:r>
              <a:rPr lang="en-US" sz="1300" b="1">
                <a:solidFill>
                  <a:srgbClr val="0000FF"/>
                </a:solidFill>
                <a:highlight>
                  <a:srgbClr val="FFFFFF"/>
                </a:highlight>
                <a:latin typeface="Courier New"/>
                <a:ea typeface="Courier New"/>
                <a:cs typeface="Courier New"/>
                <a:sym typeface="Courier New"/>
              </a:rPr>
              <a:t>&gt; fwdstep_model$anova</a:t>
            </a:r>
            <a:endParaRPr sz="1300" b="1">
              <a:solidFill>
                <a:srgbClr val="0000FF"/>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Stepwise Model Path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Analysis of Deviance Table</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Initial Model:</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Life_Expectancy ~ 1</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Final Model:</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Life_Expectancy ~ Continent + Adult_Mortality + Schooling + HIV_AIDS +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    ICOR + Percentage_Expenditure + Under_5_Deaths + Infant_Deaths +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    BMI + Alcohol + Status + Diphtheria + Thinness_5to9_Years +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    Polio</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                       Step Df    Deviance Resid. Df Resid. Dev      AIC</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1                                               1648  127529.31 7172.144</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2               + Continent  4 67917.95477      1644   59611.36 5926.079</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3         + Adult_Mortality  1 19982.70082      1643   39628.66 5254.803</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4               + Schooling  1 11069.40154      1642   28559.25 4716.638</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5                + HIV_AIDS  1  5272.00523      1641   23287.25 4382.118</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6                    + ICOR  1  1804.73121      1640   21482.52 4251.099</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7  + Percentage_Expenditure  1   849.17383      1639   20633.34 4186.593</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8          + Under_5_Deaths  1   440.96400      1638   20192.38 4152.970</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9           + Infant_Deaths  1   569.30827      1637   19623.07 4107.809</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10                    + BMI  1   221.16916      1636   19401.90 4091.118</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11                + Alcohol  1   190.35624      1635   19211.55 4076.860</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12                 + Status  1   239.72180      1634   18971.82 4058.154</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13             + Diphtheria  1   125.32405      1633   18846.50 4049.225</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14    + Thinness_5to9_Years  1    35.11331      1632   18811.39 4048.150</a:t>
            </a:r>
            <a:endParaRPr sz="1300" b="1">
              <a:solidFill>
                <a:schemeClr val="dk1"/>
              </a:solidFill>
              <a:highlight>
                <a:srgbClr val="FFFFFF"/>
              </a:highlight>
              <a:latin typeface="Courier New"/>
              <a:ea typeface="Courier New"/>
              <a:cs typeface="Courier New"/>
              <a:sym typeface="Courier New"/>
            </a:endParaRPr>
          </a:p>
          <a:p>
            <a:pPr marL="0" lvl="0" indent="0" algn="l" rtl="0">
              <a:lnSpc>
                <a:spcPct val="120000"/>
              </a:lnSpc>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15                  + Polio  1    32.21860      1631   18779.17 4047.323</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1600"/>
              </a:spcAft>
              <a:buNone/>
            </a:pPr>
            <a:endParaRPr sz="1300" b="1">
              <a:solidFill>
                <a:srgbClr val="0000FF"/>
              </a:solidFill>
              <a:highlight>
                <a:srgbClr val="FFFFFF"/>
              </a:highlight>
              <a:latin typeface="Courier New"/>
              <a:ea typeface="Courier New"/>
              <a:cs typeface="Courier New"/>
              <a:sym typeface="Courier New"/>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56"/>
          <p:cNvSpPr txBox="1">
            <a:spLocks noGrp="1"/>
          </p:cNvSpPr>
          <p:nvPr>
            <p:ph type="title"/>
          </p:nvPr>
        </p:nvSpPr>
        <p:spPr>
          <a:xfrm>
            <a:off x="415600" y="593367"/>
            <a:ext cx="11360700" cy="763500"/>
          </a:xfrm>
          <a:prstGeom prst="rect">
            <a:avLst/>
          </a:prstGeom>
        </p:spPr>
        <p:txBody>
          <a:bodyPr spcFirstLastPara="1" wrap="square" lIns="121900" tIns="121900" rIns="121900" bIns="121900" anchor="t" anchorCtr="0">
            <a:normAutofit fontScale="90000"/>
          </a:bodyPr>
          <a:lstStyle/>
          <a:p>
            <a:pPr marL="0" lvl="0" indent="0" algn="ctr" rtl="0">
              <a:spcBef>
                <a:spcPts val="0"/>
              </a:spcBef>
              <a:spcAft>
                <a:spcPts val="0"/>
              </a:spcAft>
              <a:buNone/>
            </a:pPr>
            <a:r>
              <a:rPr lang="en-US"/>
              <a:t>Multicollinearity - Variance Inflation Factor (VIF)</a:t>
            </a:r>
            <a:endParaRPr/>
          </a:p>
        </p:txBody>
      </p:sp>
      <p:sp>
        <p:nvSpPr>
          <p:cNvPr id="366" name="Google Shape;366;p56"/>
          <p:cNvSpPr txBox="1">
            <a:spLocks noGrp="1"/>
          </p:cNvSpPr>
          <p:nvPr>
            <p:ph type="body" idx="1"/>
          </p:nvPr>
        </p:nvSpPr>
        <p:spPr>
          <a:xfrm>
            <a:off x="2880433" y="1522133"/>
            <a:ext cx="5586900" cy="4555200"/>
          </a:xfrm>
          <a:prstGeom prst="rect">
            <a:avLst/>
          </a:prstGeom>
        </p:spPr>
        <p:txBody>
          <a:bodyPr spcFirstLastPara="1" wrap="square" lIns="121900" tIns="121900" rIns="121900" bIns="121900" anchor="t" anchorCtr="0">
            <a:normAutofit/>
          </a:bodyPr>
          <a:lstStyle/>
          <a:p>
            <a:pPr marL="0" lvl="0" indent="0" algn="l" rtl="0">
              <a:lnSpc>
                <a:spcPct val="120000"/>
              </a:lnSpc>
              <a:spcBef>
                <a:spcPts val="0"/>
              </a:spcBef>
              <a:spcAft>
                <a:spcPts val="0"/>
              </a:spcAft>
              <a:buClr>
                <a:schemeClr val="dk1"/>
              </a:buClr>
              <a:buSzPts val="1500"/>
              <a:buFont typeface="Arial"/>
              <a:buNone/>
            </a:pPr>
            <a:r>
              <a:rPr lang="en-US" sz="1300" b="1">
                <a:solidFill>
                  <a:srgbClr val="0000FF"/>
                </a:solidFill>
                <a:highlight>
                  <a:srgbClr val="FFFFFF"/>
                </a:highlight>
                <a:latin typeface="Courier New"/>
                <a:ea typeface="Courier New"/>
                <a:cs typeface="Courier New"/>
                <a:sym typeface="Courier New"/>
              </a:rPr>
              <a:t>&gt; install.packages("car")</a:t>
            </a:r>
            <a:endParaRPr sz="1300" b="1">
              <a:solidFill>
                <a:srgbClr val="0000FF"/>
              </a:solidFill>
              <a:highlight>
                <a:srgbClr val="FFFFFF"/>
              </a:highlight>
              <a:latin typeface="Courier New"/>
              <a:ea typeface="Courier New"/>
              <a:cs typeface="Courier New"/>
              <a:sym typeface="Courier New"/>
            </a:endParaRPr>
          </a:p>
          <a:p>
            <a:pPr marL="0" lvl="0" indent="0" algn="l" rtl="0">
              <a:lnSpc>
                <a:spcPct val="120000"/>
              </a:lnSpc>
              <a:spcBef>
                <a:spcPts val="0"/>
              </a:spcBef>
              <a:spcAft>
                <a:spcPts val="0"/>
              </a:spcAft>
              <a:buClr>
                <a:schemeClr val="dk1"/>
              </a:buClr>
              <a:buSzPts val="1500"/>
              <a:buFont typeface="Arial"/>
              <a:buNone/>
            </a:pPr>
            <a:r>
              <a:rPr lang="en-US" sz="1300" b="1">
                <a:solidFill>
                  <a:srgbClr val="0000FF"/>
                </a:solidFill>
                <a:highlight>
                  <a:srgbClr val="FFFFFF"/>
                </a:highlight>
                <a:latin typeface="Courier New"/>
                <a:ea typeface="Courier New"/>
                <a:cs typeface="Courier New"/>
                <a:sym typeface="Courier New"/>
              </a:rPr>
              <a:t>&gt; library(car)</a:t>
            </a:r>
            <a:endParaRPr sz="1300" b="1">
              <a:solidFill>
                <a:srgbClr val="0000FF"/>
              </a:solidFill>
              <a:highlight>
                <a:srgbClr val="FFFFFF"/>
              </a:highlight>
              <a:latin typeface="Courier New"/>
              <a:ea typeface="Courier New"/>
              <a:cs typeface="Courier New"/>
              <a:sym typeface="Courier New"/>
            </a:endParaRPr>
          </a:p>
          <a:p>
            <a:pPr marL="0" lvl="0" indent="0" algn="l" rtl="0">
              <a:lnSpc>
                <a:spcPct val="120000"/>
              </a:lnSpc>
              <a:spcBef>
                <a:spcPts val="0"/>
              </a:spcBef>
              <a:spcAft>
                <a:spcPts val="0"/>
              </a:spcAft>
              <a:buClr>
                <a:schemeClr val="dk1"/>
              </a:buClr>
              <a:buSzPts val="1500"/>
              <a:buFont typeface="Arial"/>
              <a:buNone/>
            </a:pPr>
            <a:r>
              <a:rPr lang="en-US" sz="1300" b="1">
                <a:solidFill>
                  <a:srgbClr val="0000FF"/>
                </a:solidFill>
                <a:highlight>
                  <a:srgbClr val="FFFFFF"/>
                </a:highlight>
                <a:latin typeface="Courier New"/>
                <a:ea typeface="Courier New"/>
                <a:cs typeface="Courier New"/>
                <a:sym typeface="Courier New"/>
              </a:rPr>
              <a:t>&gt; vif(final_model)</a:t>
            </a:r>
            <a:endParaRPr sz="1300" b="1">
              <a:solidFill>
                <a:srgbClr val="0000FF"/>
              </a:solidFill>
              <a:highlight>
                <a:srgbClr val="FFFFFF"/>
              </a:highlight>
              <a:latin typeface="Courier New"/>
              <a:ea typeface="Courier New"/>
              <a:cs typeface="Courier New"/>
              <a:sym typeface="Courier New"/>
            </a:endParaRPr>
          </a:p>
          <a:p>
            <a:pPr marL="0" lvl="0" indent="0" algn="l" rtl="0">
              <a:lnSpc>
                <a:spcPct val="120000"/>
              </a:lnSpc>
              <a:spcBef>
                <a:spcPts val="0"/>
              </a:spcBef>
              <a:spcAft>
                <a:spcPts val="0"/>
              </a:spcAft>
              <a:buClr>
                <a:schemeClr val="dk1"/>
              </a:buClr>
              <a:buSzPts val="1500"/>
              <a:buFont typeface="Arial"/>
              <a:buNone/>
            </a:pPr>
            <a:r>
              <a:rPr lang="en-US" sz="1300" b="1">
                <a:solidFill>
                  <a:schemeClr val="dk1"/>
                </a:solidFill>
                <a:highlight>
                  <a:srgbClr val="FFFFFF"/>
                </a:highlight>
                <a:latin typeface="Courier New"/>
                <a:ea typeface="Courier New"/>
                <a:cs typeface="Courier New"/>
                <a:sym typeface="Courier New"/>
              </a:rPr>
              <a:t>                             GVIF Df GVIF^(1/(2*Df))</a:t>
            </a:r>
            <a:endParaRPr sz="1300" b="1">
              <a:solidFill>
                <a:schemeClr val="dk1"/>
              </a:solidFill>
              <a:highlight>
                <a:srgbClr val="FFFFFF"/>
              </a:highlight>
              <a:latin typeface="Courier New"/>
              <a:ea typeface="Courier New"/>
              <a:cs typeface="Courier New"/>
              <a:sym typeface="Courier New"/>
            </a:endParaRPr>
          </a:p>
          <a:p>
            <a:pPr marL="0" lvl="0" indent="0" algn="l" rtl="0">
              <a:lnSpc>
                <a:spcPct val="120000"/>
              </a:lnSpc>
              <a:spcBef>
                <a:spcPts val="0"/>
              </a:spcBef>
              <a:spcAft>
                <a:spcPts val="0"/>
              </a:spcAft>
              <a:buClr>
                <a:schemeClr val="dk1"/>
              </a:buClr>
              <a:buSzPts val="1500"/>
              <a:buFont typeface="Arial"/>
              <a:buNone/>
            </a:pPr>
            <a:r>
              <a:rPr lang="en-US" sz="1300" b="1">
                <a:solidFill>
                  <a:schemeClr val="dk1"/>
                </a:solidFill>
                <a:highlight>
                  <a:srgbClr val="FFFFFF"/>
                </a:highlight>
                <a:latin typeface="Courier New"/>
                <a:ea typeface="Courier New"/>
                <a:cs typeface="Courier New"/>
                <a:sym typeface="Courier New"/>
              </a:rPr>
              <a:t>Status                   2.310048  1        1.519884</a:t>
            </a:r>
            <a:endParaRPr sz="1300" b="1">
              <a:solidFill>
                <a:schemeClr val="dk1"/>
              </a:solidFill>
              <a:highlight>
                <a:srgbClr val="FFFFFF"/>
              </a:highlight>
              <a:latin typeface="Courier New"/>
              <a:ea typeface="Courier New"/>
              <a:cs typeface="Courier New"/>
              <a:sym typeface="Courier New"/>
            </a:endParaRPr>
          </a:p>
          <a:p>
            <a:pPr marL="0" lvl="0" indent="0" algn="l" rtl="0">
              <a:lnSpc>
                <a:spcPct val="120000"/>
              </a:lnSpc>
              <a:spcBef>
                <a:spcPts val="0"/>
              </a:spcBef>
              <a:spcAft>
                <a:spcPts val="0"/>
              </a:spcAft>
              <a:buClr>
                <a:schemeClr val="dk1"/>
              </a:buClr>
              <a:buSzPts val="1500"/>
              <a:buFont typeface="Arial"/>
              <a:buNone/>
            </a:pPr>
            <a:r>
              <a:rPr lang="en-US" sz="1300" b="1">
                <a:solidFill>
                  <a:schemeClr val="dk1"/>
                </a:solidFill>
                <a:highlight>
                  <a:srgbClr val="FFFFFF"/>
                </a:highlight>
                <a:latin typeface="Courier New"/>
                <a:ea typeface="Courier New"/>
                <a:cs typeface="Courier New"/>
                <a:sym typeface="Courier New"/>
              </a:rPr>
              <a:t>Adult_Mortality          1.828522  1        1.352229</a:t>
            </a:r>
            <a:endParaRPr sz="1300" b="1">
              <a:solidFill>
                <a:schemeClr val="dk1"/>
              </a:solidFill>
              <a:highlight>
                <a:srgbClr val="FFFFFF"/>
              </a:highlight>
              <a:latin typeface="Courier New"/>
              <a:ea typeface="Courier New"/>
              <a:cs typeface="Courier New"/>
              <a:sym typeface="Courier New"/>
            </a:endParaRPr>
          </a:p>
          <a:p>
            <a:pPr marL="0" lvl="0" indent="0" algn="l" rtl="0">
              <a:lnSpc>
                <a:spcPct val="120000"/>
              </a:lnSpc>
              <a:spcBef>
                <a:spcPts val="0"/>
              </a:spcBef>
              <a:spcAft>
                <a:spcPts val="0"/>
              </a:spcAft>
              <a:buClr>
                <a:schemeClr val="dk1"/>
              </a:buClr>
              <a:buSzPts val="1500"/>
              <a:buFont typeface="Arial"/>
              <a:buNone/>
            </a:pPr>
            <a:r>
              <a:rPr lang="en-US" sz="1300" b="1">
                <a:solidFill>
                  <a:schemeClr val="dk1"/>
                </a:solidFill>
                <a:highlight>
                  <a:srgbClr val="FFFFFF"/>
                </a:highlight>
                <a:latin typeface="Courier New"/>
                <a:ea typeface="Courier New"/>
                <a:cs typeface="Courier New"/>
                <a:sym typeface="Courier New"/>
              </a:rPr>
              <a:t>Infant_Deaths          201.726086  1       14.203031</a:t>
            </a:r>
            <a:endParaRPr sz="1300" b="1">
              <a:solidFill>
                <a:schemeClr val="dk1"/>
              </a:solidFill>
              <a:highlight>
                <a:srgbClr val="FFFFFF"/>
              </a:highlight>
              <a:latin typeface="Courier New"/>
              <a:ea typeface="Courier New"/>
              <a:cs typeface="Courier New"/>
              <a:sym typeface="Courier New"/>
            </a:endParaRPr>
          </a:p>
          <a:p>
            <a:pPr marL="0" lvl="0" indent="0" algn="l" rtl="0">
              <a:lnSpc>
                <a:spcPct val="120000"/>
              </a:lnSpc>
              <a:spcBef>
                <a:spcPts val="0"/>
              </a:spcBef>
              <a:spcAft>
                <a:spcPts val="0"/>
              </a:spcAft>
              <a:buClr>
                <a:schemeClr val="dk1"/>
              </a:buClr>
              <a:buSzPts val="1500"/>
              <a:buFont typeface="Arial"/>
              <a:buNone/>
            </a:pPr>
            <a:r>
              <a:rPr lang="en-US" sz="1300" b="1">
                <a:solidFill>
                  <a:schemeClr val="dk1"/>
                </a:solidFill>
                <a:highlight>
                  <a:srgbClr val="FFFFFF"/>
                </a:highlight>
                <a:latin typeface="Courier New"/>
                <a:ea typeface="Courier New"/>
                <a:cs typeface="Courier New"/>
                <a:sym typeface="Courier New"/>
              </a:rPr>
              <a:t>Under_5_Deaths         201.579887  1       14.197883</a:t>
            </a:r>
            <a:endParaRPr sz="1300" b="1">
              <a:solidFill>
                <a:schemeClr val="dk1"/>
              </a:solidFill>
              <a:highlight>
                <a:srgbClr val="FFFFFF"/>
              </a:highlight>
              <a:latin typeface="Courier New"/>
              <a:ea typeface="Courier New"/>
              <a:cs typeface="Courier New"/>
              <a:sym typeface="Courier New"/>
            </a:endParaRPr>
          </a:p>
          <a:p>
            <a:pPr marL="0" lvl="0" indent="0" algn="l" rtl="0">
              <a:lnSpc>
                <a:spcPct val="120000"/>
              </a:lnSpc>
              <a:spcBef>
                <a:spcPts val="0"/>
              </a:spcBef>
              <a:spcAft>
                <a:spcPts val="0"/>
              </a:spcAft>
              <a:buClr>
                <a:schemeClr val="dk1"/>
              </a:buClr>
              <a:buSzPts val="1500"/>
              <a:buFont typeface="Arial"/>
              <a:buNone/>
            </a:pPr>
            <a:r>
              <a:rPr lang="en-US" sz="1300" b="1">
                <a:solidFill>
                  <a:schemeClr val="dk1"/>
                </a:solidFill>
                <a:highlight>
                  <a:srgbClr val="FFFFFF"/>
                </a:highlight>
                <a:latin typeface="Courier New"/>
                <a:ea typeface="Courier New"/>
                <a:cs typeface="Courier New"/>
                <a:sym typeface="Courier New"/>
              </a:rPr>
              <a:t>Alcohol                  2.934891  1        1.713152</a:t>
            </a:r>
            <a:endParaRPr sz="1300" b="1">
              <a:solidFill>
                <a:schemeClr val="dk1"/>
              </a:solidFill>
              <a:highlight>
                <a:srgbClr val="FFFFFF"/>
              </a:highlight>
              <a:latin typeface="Courier New"/>
              <a:ea typeface="Courier New"/>
              <a:cs typeface="Courier New"/>
              <a:sym typeface="Courier New"/>
            </a:endParaRPr>
          </a:p>
          <a:p>
            <a:pPr marL="0" lvl="0" indent="0" algn="l" rtl="0">
              <a:lnSpc>
                <a:spcPct val="120000"/>
              </a:lnSpc>
              <a:spcBef>
                <a:spcPts val="0"/>
              </a:spcBef>
              <a:spcAft>
                <a:spcPts val="0"/>
              </a:spcAft>
              <a:buClr>
                <a:schemeClr val="dk1"/>
              </a:buClr>
              <a:buSzPts val="1500"/>
              <a:buFont typeface="Arial"/>
              <a:buNone/>
            </a:pPr>
            <a:r>
              <a:rPr lang="en-US" sz="1300" b="1">
                <a:solidFill>
                  <a:schemeClr val="dk1"/>
                </a:solidFill>
                <a:highlight>
                  <a:srgbClr val="FFFFFF"/>
                </a:highlight>
                <a:latin typeface="Courier New"/>
                <a:ea typeface="Courier New"/>
                <a:cs typeface="Courier New"/>
                <a:sym typeface="Courier New"/>
              </a:rPr>
              <a:t>Percentage_Expenditure   1.394210  1        1.180767</a:t>
            </a:r>
            <a:endParaRPr sz="1300" b="1">
              <a:solidFill>
                <a:schemeClr val="dk1"/>
              </a:solidFill>
              <a:highlight>
                <a:srgbClr val="FFFFFF"/>
              </a:highlight>
              <a:latin typeface="Courier New"/>
              <a:ea typeface="Courier New"/>
              <a:cs typeface="Courier New"/>
              <a:sym typeface="Courier New"/>
            </a:endParaRPr>
          </a:p>
          <a:p>
            <a:pPr marL="0" lvl="0" indent="0" algn="l" rtl="0">
              <a:lnSpc>
                <a:spcPct val="120000"/>
              </a:lnSpc>
              <a:spcBef>
                <a:spcPts val="0"/>
              </a:spcBef>
              <a:spcAft>
                <a:spcPts val="0"/>
              </a:spcAft>
              <a:buClr>
                <a:schemeClr val="dk1"/>
              </a:buClr>
              <a:buSzPts val="1500"/>
              <a:buFont typeface="Arial"/>
              <a:buNone/>
            </a:pPr>
            <a:r>
              <a:rPr lang="en-US" sz="1300" b="1">
                <a:solidFill>
                  <a:schemeClr val="dk1"/>
                </a:solidFill>
                <a:highlight>
                  <a:srgbClr val="FFFFFF"/>
                </a:highlight>
                <a:latin typeface="Courier New"/>
                <a:ea typeface="Courier New"/>
                <a:cs typeface="Courier New"/>
                <a:sym typeface="Courier New"/>
              </a:rPr>
              <a:t>BMI                      1.909682  1        1.381913</a:t>
            </a:r>
            <a:endParaRPr sz="1300" b="1">
              <a:solidFill>
                <a:schemeClr val="dk1"/>
              </a:solidFill>
              <a:highlight>
                <a:srgbClr val="FFFFFF"/>
              </a:highlight>
              <a:latin typeface="Courier New"/>
              <a:ea typeface="Courier New"/>
              <a:cs typeface="Courier New"/>
              <a:sym typeface="Courier New"/>
            </a:endParaRPr>
          </a:p>
          <a:p>
            <a:pPr marL="0" lvl="0" indent="0" algn="l" rtl="0">
              <a:lnSpc>
                <a:spcPct val="120000"/>
              </a:lnSpc>
              <a:spcBef>
                <a:spcPts val="0"/>
              </a:spcBef>
              <a:spcAft>
                <a:spcPts val="0"/>
              </a:spcAft>
              <a:buClr>
                <a:schemeClr val="dk1"/>
              </a:buClr>
              <a:buSzPts val="1500"/>
              <a:buFont typeface="Arial"/>
              <a:buNone/>
            </a:pPr>
            <a:r>
              <a:rPr lang="en-US" sz="1300" b="1">
                <a:solidFill>
                  <a:schemeClr val="dk1"/>
                </a:solidFill>
                <a:highlight>
                  <a:srgbClr val="FFFFFF"/>
                </a:highlight>
                <a:latin typeface="Courier New"/>
                <a:ea typeface="Courier New"/>
                <a:cs typeface="Courier New"/>
                <a:sym typeface="Courier New"/>
              </a:rPr>
              <a:t>Polio                    1.662384  1        1.289335</a:t>
            </a:r>
            <a:endParaRPr sz="1300" b="1">
              <a:solidFill>
                <a:schemeClr val="dk1"/>
              </a:solidFill>
              <a:highlight>
                <a:srgbClr val="FFFFFF"/>
              </a:highlight>
              <a:latin typeface="Courier New"/>
              <a:ea typeface="Courier New"/>
              <a:cs typeface="Courier New"/>
              <a:sym typeface="Courier New"/>
            </a:endParaRPr>
          </a:p>
          <a:p>
            <a:pPr marL="0" lvl="0" indent="0" algn="l" rtl="0">
              <a:lnSpc>
                <a:spcPct val="120000"/>
              </a:lnSpc>
              <a:spcBef>
                <a:spcPts val="0"/>
              </a:spcBef>
              <a:spcAft>
                <a:spcPts val="0"/>
              </a:spcAft>
              <a:buClr>
                <a:schemeClr val="dk1"/>
              </a:buClr>
              <a:buSzPts val="1500"/>
              <a:buFont typeface="Arial"/>
              <a:buNone/>
            </a:pPr>
            <a:r>
              <a:rPr lang="en-US" sz="1300" b="1">
                <a:solidFill>
                  <a:schemeClr val="dk1"/>
                </a:solidFill>
                <a:highlight>
                  <a:srgbClr val="FFFFFF"/>
                </a:highlight>
                <a:latin typeface="Courier New"/>
                <a:ea typeface="Courier New"/>
                <a:cs typeface="Courier New"/>
                <a:sym typeface="Courier New"/>
              </a:rPr>
              <a:t>Diphtheria               1.719273  1        1.311210</a:t>
            </a:r>
            <a:endParaRPr sz="1300" b="1">
              <a:solidFill>
                <a:schemeClr val="dk1"/>
              </a:solidFill>
              <a:highlight>
                <a:srgbClr val="FFFFFF"/>
              </a:highlight>
              <a:latin typeface="Courier New"/>
              <a:ea typeface="Courier New"/>
              <a:cs typeface="Courier New"/>
              <a:sym typeface="Courier New"/>
            </a:endParaRPr>
          </a:p>
          <a:p>
            <a:pPr marL="0" lvl="0" indent="0" algn="l" rtl="0">
              <a:lnSpc>
                <a:spcPct val="120000"/>
              </a:lnSpc>
              <a:spcBef>
                <a:spcPts val="0"/>
              </a:spcBef>
              <a:spcAft>
                <a:spcPts val="0"/>
              </a:spcAft>
              <a:buClr>
                <a:schemeClr val="dk1"/>
              </a:buClr>
              <a:buSzPts val="1500"/>
              <a:buFont typeface="Arial"/>
              <a:buNone/>
            </a:pPr>
            <a:r>
              <a:rPr lang="en-US" sz="1300" b="1">
                <a:solidFill>
                  <a:schemeClr val="dk1"/>
                </a:solidFill>
                <a:highlight>
                  <a:srgbClr val="FFFFFF"/>
                </a:highlight>
                <a:latin typeface="Courier New"/>
                <a:ea typeface="Courier New"/>
                <a:cs typeface="Courier New"/>
                <a:sym typeface="Courier New"/>
              </a:rPr>
              <a:t>HIV_AIDS                 1.613539  1        1.270252</a:t>
            </a:r>
            <a:endParaRPr sz="1300" b="1">
              <a:solidFill>
                <a:schemeClr val="dk1"/>
              </a:solidFill>
              <a:highlight>
                <a:srgbClr val="FFFFFF"/>
              </a:highlight>
              <a:latin typeface="Courier New"/>
              <a:ea typeface="Courier New"/>
              <a:cs typeface="Courier New"/>
              <a:sym typeface="Courier New"/>
            </a:endParaRPr>
          </a:p>
          <a:p>
            <a:pPr marL="0" lvl="0" indent="0" algn="l" rtl="0">
              <a:lnSpc>
                <a:spcPct val="120000"/>
              </a:lnSpc>
              <a:spcBef>
                <a:spcPts val="0"/>
              </a:spcBef>
              <a:spcAft>
                <a:spcPts val="0"/>
              </a:spcAft>
              <a:buClr>
                <a:schemeClr val="dk1"/>
              </a:buClr>
              <a:buSzPts val="1500"/>
              <a:buFont typeface="Arial"/>
              <a:buNone/>
            </a:pPr>
            <a:r>
              <a:rPr lang="en-US" sz="1300" b="1">
                <a:solidFill>
                  <a:schemeClr val="dk1"/>
                </a:solidFill>
                <a:highlight>
                  <a:srgbClr val="FFFFFF"/>
                </a:highlight>
                <a:latin typeface="Courier New"/>
                <a:ea typeface="Courier New"/>
                <a:cs typeface="Courier New"/>
                <a:sym typeface="Courier New"/>
              </a:rPr>
              <a:t>Thinness_5to9_Years      2.253183  1        1.501061</a:t>
            </a:r>
            <a:endParaRPr sz="1300" b="1">
              <a:solidFill>
                <a:schemeClr val="dk1"/>
              </a:solidFill>
              <a:highlight>
                <a:srgbClr val="FFFFFF"/>
              </a:highlight>
              <a:latin typeface="Courier New"/>
              <a:ea typeface="Courier New"/>
              <a:cs typeface="Courier New"/>
              <a:sym typeface="Courier New"/>
            </a:endParaRPr>
          </a:p>
          <a:p>
            <a:pPr marL="0" lvl="0" indent="0" algn="l" rtl="0">
              <a:lnSpc>
                <a:spcPct val="120000"/>
              </a:lnSpc>
              <a:spcBef>
                <a:spcPts val="0"/>
              </a:spcBef>
              <a:spcAft>
                <a:spcPts val="0"/>
              </a:spcAft>
              <a:buClr>
                <a:schemeClr val="dk1"/>
              </a:buClr>
              <a:buSzPts val="1500"/>
              <a:buFont typeface="Arial"/>
              <a:buNone/>
            </a:pPr>
            <a:r>
              <a:rPr lang="en-US" sz="1300" b="1">
                <a:solidFill>
                  <a:schemeClr val="dk1"/>
                </a:solidFill>
                <a:highlight>
                  <a:srgbClr val="FFFFFF"/>
                </a:highlight>
                <a:latin typeface="Courier New"/>
                <a:ea typeface="Courier New"/>
                <a:cs typeface="Courier New"/>
                <a:sym typeface="Courier New"/>
              </a:rPr>
              <a:t>ICOR                     3.101262  1        1.761040</a:t>
            </a:r>
            <a:endParaRPr sz="1300" b="1">
              <a:solidFill>
                <a:schemeClr val="dk1"/>
              </a:solidFill>
              <a:highlight>
                <a:srgbClr val="FFFFFF"/>
              </a:highlight>
              <a:latin typeface="Courier New"/>
              <a:ea typeface="Courier New"/>
              <a:cs typeface="Courier New"/>
              <a:sym typeface="Courier New"/>
            </a:endParaRPr>
          </a:p>
          <a:p>
            <a:pPr marL="0" lvl="0" indent="0" algn="l" rtl="0">
              <a:lnSpc>
                <a:spcPct val="120000"/>
              </a:lnSpc>
              <a:spcBef>
                <a:spcPts val="0"/>
              </a:spcBef>
              <a:spcAft>
                <a:spcPts val="0"/>
              </a:spcAft>
              <a:buClr>
                <a:schemeClr val="dk1"/>
              </a:buClr>
              <a:buSzPts val="1500"/>
              <a:buFont typeface="Arial"/>
              <a:buNone/>
            </a:pPr>
            <a:r>
              <a:rPr lang="en-US" sz="1300" b="1">
                <a:solidFill>
                  <a:schemeClr val="dk1"/>
                </a:solidFill>
                <a:highlight>
                  <a:srgbClr val="FFFFFF"/>
                </a:highlight>
                <a:latin typeface="Courier New"/>
                <a:ea typeface="Courier New"/>
                <a:cs typeface="Courier New"/>
                <a:sym typeface="Courier New"/>
              </a:rPr>
              <a:t>Schooling                3.610696  1        1.900183</a:t>
            </a:r>
            <a:endParaRPr sz="1300" b="1">
              <a:solidFill>
                <a:schemeClr val="dk1"/>
              </a:solidFill>
              <a:highlight>
                <a:srgbClr val="FFFFFF"/>
              </a:highlight>
              <a:latin typeface="Courier New"/>
              <a:ea typeface="Courier New"/>
              <a:cs typeface="Courier New"/>
              <a:sym typeface="Courier New"/>
            </a:endParaRPr>
          </a:p>
          <a:p>
            <a:pPr marL="0" lvl="0" indent="0" algn="l" rtl="0">
              <a:lnSpc>
                <a:spcPct val="120000"/>
              </a:lnSpc>
              <a:spcBef>
                <a:spcPts val="0"/>
              </a:spcBef>
              <a:spcAft>
                <a:spcPts val="0"/>
              </a:spcAft>
              <a:buClr>
                <a:schemeClr val="dk1"/>
              </a:buClr>
              <a:buSzPts val="1500"/>
              <a:buFont typeface="Arial"/>
              <a:buNone/>
            </a:pPr>
            <a:r>
              <a:rPr lang="en-US" sz="1300" b="1">
                <a:solidFill>
                  <a:schemeClr val="dk1"/>
                </a:solidFill>
                <a:highlight>
                  <a:srgbClr val="FFFFFF"/>
                </a:highlight>
                <a:latin typeface="Courier New"/>
                <a:ea typeface="Courier New"/>
                <a:cs typeface="Courier New"/>
                <a:sym typeface="Courier New"/>
              </a:rPr>
              <a:t>Continent                7.356703  4        1.283321</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p57"/>
          <p:cNvSpPr txBox="1">
            <a:spLocks noGrp="1"/>
          </p:cNvSpPr>
          <p:nvPr>
            <p:ph type="title"/>
          </p:nvPr>
        </p:nvSpPr>
        <p:spPr>
          <a:xfrm>
            <a:off x="415600" y="593367"/>
            <a:ext cx="11360700" cy="763500"/>
          </a:xfrm>
          <a:prstGeom prst="rect">
            <a:avLst/>
          </a:prstGeom>
        </p:spPr>
        <p:txBody>
          <a:bodyPr spcFirstLastPara="1" wrap="square" lIns="121900" tIns="121900" rIns="121900" bIns="121900" anchor="t" anchorCtr="0">
            <a:normAutofit fontScale="90000"/>
          </a:bodyPr>
          <a:lstStyle/>
          <a:p>
            <a:pPr marL="0" lvl="0" indent="0" algn="ctr" rtl="0">
              <a:spcBef>
                <a:spcPts val="0"/>
              </a:spcBef>
              <a:spcAft>
                <a:spcPts val="0"/>
              </a:spcAft>
              <a:buNone/>
            </a:pPr>
            <a:r>
              <a:rPr lang="en-US"/>
              <a:t>Final model after removing values with high VIF</a:t>
            </a:r>
            <a:endParaRPr/>
          </a:p>
        </p:txBody>
      </p:sp>
      <p:sp>
        <p:nvSpPr>
          <p:cNvPr id="372" name="Google Shape;372;p57"/>
          <p:cNvSpPr txBox="1">
            <a:spLocks noGrp="1"/>
          </p:cNvSpPr>
          <p:nvPr>
            <p:ph type="body" idx="1"/>
          </p:nvPr>
        </p:nvSpPr>
        <p:spPr>
          <a:xfrm>
            <a:off x="2613848" y="1521799"/>
            <a:ext cx="6400800" cy="5100900"/>
          </a:xfrm>
          <a:prstGeom prst="rect">
            <a:avLst/>
          </a:prstGeom>
        </p:spPr>
        <p:txBody>
          <a:bodyPr spcFirstLastPara="1" wrap="square" lIns="121900" tIns="121900" rIns="121900" bIns="121900" anchor="t" anchorCtr="0">
            <a:normAutofit fontScale="70000" lnSpcReduction="20000"/>
          </a:bodyPr>
          <a:lstStyle/>
          <a:p>
            <a:pPr marL="0" lvl="0" indent="0" algn="l" rtl="0">
              <a:spcBef>
                <a:spcPts val="0"/>
              </a:spcBef>
              <a:spcAft>
                <a:spcPts val="0"/>
              </a:spcAft>
              <a:buClr>
                <a:schemeClr val="dk1"/>
              </a:buClr>
              <a:buSzPct val="115384"/>
              <a:buFont typeface="Arial"/>
              <a:buNone/>
            </a:pPr>
            <a:r>
              <a:rPr lang="en-US" sz="1300" b="1">
                <a:solidFill>
                  <a:srgbClr val="0000FF"/>
                </a:solidFill>
                <a:highlight>
                  <a:srgbClr val="FFFFFF"/>
                </a:highlight>
                <a:latin typeface="Courier New"/>
                <a:ea typeface="Courier New"/>
                <a:cs typeface="Courier New"/>
                <a:sym typeface="Courier New"/>
              </a:rPr>
              <a:t>&gt; summary(final_model) # Adjusted R-squared:  0.848</a:t>
            </a:r>
            <a:endParaRPr sz="1300" b="1">
              <a:solidFill>
                <a:srgbClr val="0000FF"/>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Call:</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lm(formula = Life_Expectancy ~ Status + Adult_Mortality + Under_5_Deaths +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    Alcohol + Percentage_Expenditure + BMI + Polio + Diphtheria +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    HIV_AIDS + ICOR + Schooling + Continent, data = Cleaned_Health_Data)</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Residuals:</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     Min       1Q   Median       3Q      Max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-15.9552  -2.2009   0.1002   2.1038  12.4560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Coefficients:</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                         Estimate Std. Error t value Pr(&gt;|t|)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(Intercept)            53.8675054  0.7375504  73.036  &lt; 2e-16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StatusDeveloping       -1.5972179  0.3626613  -4.404 1.13e-05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Adult_Mortality        -0.0158249  0.0009070 -17.447  &lt; 2e-16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Under_5_Deaths         -0.0022942  0.0005563  -4.124 3.91e-05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Alcohol                -0.2152172  0.0353856  -6.082 1.47e-09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Percentage_Expenditure  0.0004755  0.0000567   8.387  &lt; 2e-16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BMI                     0.0237864  0.0057244   4.155 3.42e-05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Polio                   0.0093428  0.0048441   1.929   0.0539 .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Diphtheria              0.0129565  0.0051026   2.539   0.0112 *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HIV_AIDS               -0.3638553  0.0177196 -20.534  &lt; 2e-16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ICOR                    8.6657473  0.8072059  10.735  &lt; 2e-16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Schooling               0.8348830  0.0574176  14.541  &lt; 2e-16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ContinentAmericas       4.7453547  0.3210193  14.782  &lt; 2e-16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ContinentAsia           3.1576253  0.2699555  11.697  &lt; 2e-16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ContinentEurope         3.7248983  0.4080388   9.129  &lt; 2e-16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ContinentOceania        1.7587037  0.4098957   4.291 1.89e-05 ***</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Signif. codes:  0 ‘***’ 0.001 ‘**’ 0.01 ‘*’ 0.05 ‘.’ 0.1 ‘ ’ 1</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Residual standard error: 3.429 on 1633 degrees of freedom</a:t>
            </a:r>
            <a:endParaRPr sz="13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Multiple R-squared:  0.8494,	Adjusted R-squared:  0.848 </a:t>
            </a:r>
            <a:endParaRPr sz="1300" b="1">
              <a:solidFill>
                <a:schemeClr val="dk1"/>
              </a:solidFill>
              <a:highlight>
                <a:srgbClr val="FFFFFF"/>
              </a:highlight>
              <a:latin typeface="Courier New"/>
              <a:ea typeface="Courier New"/>
              <a:cs typeface="Courier New"/>
              <a:sym typeface="Courier New"/>
            </a:endParaRPr>
          </a:p>
          <a:p>
            <a:pPr marL="0" lvl="0" indent="0" algn="l" rtl="0">
              <a:lnSpc>
                <a:spcPct val="120000"/>
              </a:lnSpc>
              <a:spcBef>
                <a:spcPts val="0"/>
              </a:spcBef>
              <a:spcAft>
                <a:spcPts val="0"/>
              </a:spcAft>
              <a:buClr>
                <a:schemeClr val="dk1"/>
              </a:buClr>
              <a:buSzPct val="115384"/>
              <a:buFont typeface="Arial"/>
              <a:buNone/>
            </a:pPr>
            <a:r>
              <a:rPr lang="en-US" sz="1300" b="1">
                <a:solidFill>
                  <a:schemeClr val="dk1"/>
                </a:solidFill>
                <a:highlight>
                  <a:srgbClr val="FFFFFF"/>
                </a:highlight>
                <a:latin typeface="Courier New"/>
                <a:ea typeface="Courier New"/>
                <a:cs typeface="Courier New"/>
                <a:sym typeface="Courier New"/>
              </a:rPr>
              <a:t>F-statistic: 614.1 on 15 and 1633 DF,  p-value: &lt; 2.2e-16</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p58"/>
          <p:cNvSpPr txBox="1">
            <a:spLocks noGrp="1"/>
          </p:cNvSpPr>
          <p:nvPr>
            <p:ph type="title"/>
          </p:nvPr>
        </p:nvSpPr>
        <p:spPr>
          <a:xfrm>
            <a:off x="415600" y="0"/>
            <a:ext cx="11360700" cy="763500"/>
          </a:xfrm>
          <a:prstGeom prst="rect">
            <a:avLst/>
          </a:prstGeom>
        </p:spPr>
        <p:txBody>
          <a:bodyPr spcFirstLastPara="1" wrap="square" lIns="121900" tIns="121900" rIns="121900" bIns="121900" anchor="t" anchorCtr="0">
            <a:normAutofit fontScale="90000"/>
          </a:bodyPr>
          <a:lstStyle/>
          <a:p>
            <a:pPr marL="0" lvl="0" indent="0" algn="ctr" rtl="0">
              <a:spcBef>
                <a:spcPts val="0"/>
              </a:spcBef>
              <a:spcAft>
                <a:spcPts val="0"/>
              </a:spcAft>
              <a:buNone/>
            </a:pPr>
            <a:r>
              <a:rPr lang="en-US"/>
              <a:t>Residual Analysis</a:t>
            </a:r>
            <a:endParaRPr/>
          </a:p>
        </p:txBody>
      </p:sp>
      <p:pic>
        <p:nvPicPr>
          <p:cNvPr id="378" name="Google Shape;378;p58"/>
          <p:cNvPicPr preferRelativeResize="0"/>
          <p:nvPr/>
        </p:nvPicPr>
        <p:blipFill>
          <a:blip r:embed="rId3">
            <a:alphaModFix/>
          </a:blip>
          <a:stretch>
            <a:fillRect/>
          </a:stretch>
        </p:blipFill>
        <p:spPr>
          <a:xfrm>
            <a:off x="116167" y="834017"/>
            <a:ext cx="7924800" cy="3060700"/>
          </a:xfrm>
          <a:prstGeom prst="rect">
            <a:avLst/>
          </a:prstGeom>
          <a:noFill/>
          <a:ln>
            <a:noFill/>
          </a:ln>
        </p:spPr>
      </p:pic>
      <p:pic>
        <p:nvPicPr>
          <p:cNvPr id="379" name="Google Shape;379;p58"/>
          <p:cNvPicPr preferRelativeResize="0"/>
          <p:nvPr/>
        </p:nvPicPr>
        <p:blipFill>
          <a:blip r:embed="rId4">
            <a:alphaModFix/>
          </a:blip>
          <a:stretch>
            <a:fillRect/>
          </a:stretch>
        </p:blipFill>
        <p:spPr>
          <a:xfrm>
            <a:off x="3953100" y="3429000"/>
            <a:ext cx="7924800" cy="30607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p59"/>
          <p:cNvSpPr txBox="1">
            <a:spLocks noGrp="1"/>
          </p:cNvSpPr>
          <p:nvPr>
            <p:ph type="title"/>
          </p:nvPr>
        </p:nvSpPr>
        <p:spPr>
          <a:xfrm>
            <a:off x="415600" y="0"/>
            <a:ext cx="11360700" cy="763500"/>
          </a:xfrm>
          <a:prstGeom prst="rect">
            <a:avLst/>
          </a:prstGeom>
        </p:spPr>
        <p:txBody>
          <a:bodyPr spcFirstLastPara="1" wrap="square" lIns="121900" tIns="121900" rIns="121900" bIns="121900" anchor="t" anchorCtr="0">
            <a:normAutofit fontScale="90000"/>
          </a:bodyPr>
          <a:lstStyle/>
          <a:p>
            <a:pPr marL="0" lvl="0" indent="0" algn="ctr" rtl="0">
              <a:spcBef>
                <a:spcPts val="0"/>
              </a:spcBef>
              <a:spcAft>
                <a:spcPts val="0"/>
              </a:spcAft>
              <a:buNone/>
            </a:pPr>
            <a:r>
              <a:rPr lang="en-US"/>
              <a:t>Residual Plots</a:t>
            </a:r>
            <a:endParaRPr/>
          </a:p>
          <a:p>
            <a:pPr marL="0" lvl="0" indent="0" algn="ctr" rtl="0">
              <a:spcBef>
                <a:spcPts val="0"/>
              </a:spcBef>
              <a:spcAft>
                <a:spcPts val="0"/>
              </a:spcAft>
              <a:buNone/>
            </a:pPr>
            <a:endParaRPr/>
          </a:p>
        </p:txBody>
      </p:sp>
      <p:pic>
        <p:nvPicPr>
          <p:cNvPr id="385" name="Google Shape;385;p59"/>
          <p:cNvPicPr preferRelativeResize="0"/>
          <p:nvPr/>
        </p:nvPicPr>
        <p:blipFill>
          <a:blip r:embed="rId3">
            <a:alphaModFix/>
          </a:blip>
          <a:stretch>
            <a:fillRect/>
          </a:stretch>
        </p:blipFill>
        <p:spPr>
          <a:xfrm>
            <a:off x="87200" y="824467"/>
            <a:ext cx="6092232" cy="3055895"/>
          </a:xfrm>
          <a:prstGeom prst="rect">
            <a:avLst/>
          </a:prstGeom>
          <a:noFill/>
          <a:ln>
            <a:noFill/>
          </a:ln>
        </p:spPr>
      </p:pic>
      <p:pic>
        <p:nvPicPr>
          <p:cNvPr id="386" name="Google Shape;386;p59"/>
          <p:cNvPicPr preferRelativeResize="0"/>
          <p:nvPr/>
        </p:nvPicPr>
        <p:blipFill>
          <a:blip r:embed="rId4">
            <a:alphaModFix/>
          </a:blip>
          <a:stretch>
            <a:fillRect/>
          </a:stretch>
        </p:blipFill>
        <p:spPr>
          <a:xfrm>
            <a:off x="6005433" y="3659067"/>
            <a:ext cx="5712600" cy="2865467"/>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pic>
        <p:nvPicPr>
          <p:cNvPr id="391" name="Google Shape;391;p60"/>
          <p:cNvPicPr preferRelativeResize="0"/>
          <p:nvPr/>
        </p:nvPicPr>
        <p:blipFill>
          <a:blip r:embed="rId3">
            <a:alphaModFix/>
          </a:blip>
          <a:stretch>
            <a:fillRect/>
          </a:stretch>
        </p:blipFill>
        <p:spPr>
          <a:xfrm>
            <a:off x="145000" y="0"/>
            <a:ext cx="6561967" cy="3291499"/>
          </a:xfrm>
          <a:prstGeom prst="rect">
            <a:avLst/>
          </a:prstGeom>
          <a:noFill/>
          <a:ln>
            <a:noFill/>
          </a:ln>
        </p:spPr>
      </p:pic>
      <p:pic>
        <p:nvPicPr>
          <p:cNvPr id="392" name="Google Shape;392;p60"/>
          <p:cNvPicPr preferRelativeResize="0"/>
          <p:nvPr/>
        </p:nvPicPr>
        <p:blipFill>
          <a:blip r:embed="rId4">
            <a:alphaModFix/>
          </a:blip>
          <a:stretch>
            <a:fillRect/>
          </a:stretch>
        </p:blipFill>
        <p:spPr>
          <a:xfrm>
            <a:off x="5839933" y="3291500"/>
            <a:ext cx="5936468" cy="2977734"/>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sp>
        <p:nvSpPr>
          <p:cNvPr id="397" name="Google Shape;397;p61"/>
          <p:cNvSpPr txBox="1">
            <a:spLocks noGrp="1"/>
          </p:cNvSpPr>
          <p:nvPr>
            <p:ph type="title"/>
          </p:nvPr>
        </p:nvSpPr>
        <p:spPr>
          <a:xfrm>
            <a:off x="415600" y="593367"/>
            <a:ext cx="11360700" cy="763500"/>
          </a:xfrm>
          <a:prstGeom prst="rect">
            <a:avLst/>
          </a:prstGeom>
        </p:spPr>
        <p:txBody>
          <a:bodyPr spcFirstLastPara="1" wrap="square" lIns="121900" tIns="121900" rIns="121900" bIns="121900" anchor="t" anchorCtr="0">
            <a:normAutofit fontScale="90000"/>
          </a:bodyPr>
          <a:lstStyle/>
          <a:p>
            <a:pPr marL="0" lvl="0" indent="0" algn="ctr" rtl="0">
              <a:spcBef>
                <a:spcPts val="0"/>
              </a:spcBef>
              <a:spcAft>
                <a:spcPts val="0"/>
              </a:spcAft>
              <a:buNone/>
            </a:pPr>
            <a:r>
              <a:rPr lang="en-US"/>
              <a:t>Test and Train Models</a:t>
            </a:r>
            <a:endParaRPr/>
          </a:p>
        </p:txBody>
      </p:sp>
      <p:sp>
        <p:nvSpPr>
          <p:cNvPr id="398" name="Google Shape;398;p61"/>
          <p:cNvSpPr txBox="1">
            <a:spLocks noGrp="1"/>
          </p:cNvSpPr>
          <p:nvPr>
            <p:ph type="body" idx="1"/>
          </p:nvPr>
        </p:nvSpPr>
        <p:spPr>
          <a:xfrm>
            <a:off x="415600" y="1536625"/>
            <a:ext cx="5662500" cy="4555200"/>
          </a:xfrm>
          <a:prstGeom prst="rect">
            <a:avLst/>
          </a:prstGeom>
        </p:spPr>
        <p:txBody>
          <a:bodyPr spcFirstLastPara="1" wrap="square" lIns="121900" tIns="121900" rIns="121900" bIns="121900" anchor="t" anchorCtr="0">
            <a:normAutofit fontScale="92500" lnSpcReduction="10000"/>
          </a:bodyPr>
          <a:lstStyle/>
          <a:p>
            <a:pPr marL="609600" lvl="0" indent="-416401" algn="l" rtl="0">
              <a:spcBef>
                <a:spcPts val="0"/>
              </a:spcBef>
              <a:spcAft>
                <a:spcPts val="0"/>
              </a:spcAft>
              <a:buSzPct val="100000"/>
              <a:buChar char="●"/>
            </a:pPr>
            <a:r>
              <a:rPr lang="en-US" sz="1900"/>
              <a:t>Dividing the data into train and test models:</a:t>
            </a:r>
            <a:endParaRPr sz="1900"/>
          </a:p>
          <a:p>
            <a:pPr marL="609600" lvl="0" indent="0" algn="l" rtl="0">
              <a:spcBef>
                <a:spcPts val="1600"/>
              </a:spcBef>
              <a:spcAft>
                <a:spcPts val="0"/>
              </a:spcAft>
              <a:buNone/>
            </a:pPr>
            <a:r>
              <a:rPr lang="en-US"/>
              <a:t>Adjusted R-squared : 0.8511</a:t>
            </a:r>
            <a:endParaRPr/>
          </a:p>
          <a:p>
            <a:pPr marL="609600" lvl="0" indent="0" algn="l" rtl="0">
              <a:spcBef>
                <a:spcPts val="1600"/>
              </a:spcBef>
              <a:spcAft>
                <a:spcPts val="0"/>
              </a:spcAft>
              <a:buNone/>
            </a:pPr>
            <a:r>
              <a:rPr lang="en-US" sz="1417" b="1">
                <a:solidFill>
                  <a:srgbClr val="0000FF"/>
                </a:solidFill>
                <a:highlight>
                  <a:srgbClr val="FFFFFF"/>
                </a:highlight>
                <a:latin typeface="Courier New"/>
                <a:ea typeface="Courier New"/>
                <a:cs typeface="Courier New"/>
                <a:sym typeface="Courier New"/>
              </a:rPr>
              <a:t>&gt; prediction &lt;- predict(train_model, test)</a:t>
            </a:r>
            <a:endParaRPr sz="1417" b="1">
              <a:solidFill>
                <a:srgbClr val="0000FF"/>
              </a:solidFill>
              <a:highlight>
                <a:srgbClr val="FFFFFF"/>
              </a:highlight>
              <a:latin typeface="Courier New"/>
              <a:ea typeface="Courier New"/>
              <a:cs typeface="Courier New"/>
              <a:sym typeface="Courier New"/>
            </a:endParaRPr>
          </a:p>
          <a:p>
            <a:pPr marL="609600" lvl="0" indent="0" algn="l" rtl="0">
              <a:spcBef>
                <a:spcPts val="1600"/>
              </a:spcBef>
              <a:spcAft>
                <a:spcPts val="0"/>
              </a:spcAft>
              <a:buNone/>
            </a:pPr>
            <a:r>
              <a:rPr lang="en-US" sz="1417" b="1">
                <a:solidFill>
                  <a:srgbClr val="0000FF"/>
                </a:solidFill>
                <a:highlight>
                  <a:srgbClr val="FFFFFF"/>
                </a:highlight>
                <a:latin typeface="Courier New"/>
                <a:ea typeface="Courier New"/>
                <a:cs typeface="Courier New"/>
                <a:sym typeface="Courier New"/>
              </a:rPr>
              <a:t>&gt; head(prediction)</a:t>
            </a:r>
            <a:endParaRPr sz="1417" b="1">
              <a:solidFill>
                <a:srgbClr val="0000FF"/>
              </a:solidFill>
              <a:highlight>
                <a:srgbClr val="FFFFFF"/>
              </a:highlight>
              <a:latin typeface="Courier New"/>
              <a:ea typeface="Courier New"/>
              <a:cs typeface="Courier New"/>
              <a:sym typeface="Courier New"/>
            </a:endParaRPr>
          </a:p>
          <a:p>
            <a:pPr marL="609600" lvl="0" indent="0" algn="l" rtl="0">
              <a:spcBef>
                <a:spcPts val="1600"/>
              </a:spcBef>
              <a:spcAft>
                <a:spcPts val="0"/>
              </a:spcAft>
              <a:buNone/>
            </a:pPr>
            <a:r>
              <a:rPr lang="en-US" sz="1417" b="1">
                <a:solidFill>
                  <a:schemeClr val="dk1"/>
                </a:solidFill>
                <a:highlight>
                  <a:srgbClr val="FFFFFF"/>
                </a:highlight>
                <a:latin typeface="Courier New"/>
                <a:ea typeface="Courier New"/>
                <a:cs typeface="Courier New"/>
                <a:sym typeface="Courier New"/>
              </a:rPr>
              <a:t>       4        5        8       11       16       20 </a:t>
            </a:r>
            <a:endParaRPr sz="1417" b="1">
              <a:solidFill>
                <a:schemeClr val="dk1"/>
              </a:solidFill>
              <a:highlight>
                <a:srgbClr val="FFFFFF"/>
              </a:highlight>
              <a:latin typeface="Courier New"/>
              <a:ea typeface="Courier New"/>
              <a:cs typeface="Courier New"/>
              <a:sym typeface="Courier New"/>
            </a:endParaRPr>
          </a:p>
          <a:p>
            <a:pPr marL="609600" lvl="0" indent="0" algn="l" rtl="0">
              <a:spcBef>
                <a:spcPts val="1600"/>
              </a:spcBef>
              <a:spcAft>
                <a:spcPts val="0"/>
              </a:spcAft>
              <a:buNone/>
            </a:pPr>
            <a:r>
              <a:rPr lang="en-US" sz="1417" b="1">
                <a:solidFill>
                  <a:schemeClr val="dk1"/>
                </a:solidFill>
                <a:highlight>
                  <a:srgbClr val="FFFFFF"/>
                </a:highlight>
                <a:latin typeface="Courier New"/>
                <a:ea typeface="Courier New"/>
                <a:cs typeface="Courier New"/>
                <a:sym typeface="Courier New"/>
              </a:rPr>
              <a:t>64.56593 64.06244 62.87104 61.59536 58.53320 75.17245 </a:t>
            </a:r>
            <a:endParaRPr sz="1417" b="1">
              <a:solidFill>
                <a:schemeClr val="dk1"/>
              </a:solidFill>
              <a:highlight>
                <a:srgbClr val="FFFFFF"/>
              </a:highlight>
              <a:latin typeface="Courier New"/>
              <a:ea typeface="Courier New"/>
              <a:cs typeface="Courier New"/>
              <a:sym typeface="Courier New"/>
            </a:endParaRPr>
          </a:p>
          <a:p>
            <a:pPr marL="609600" lvl="0" indent="0" algn="l" rtl="0">
              <a:spcBef>
                <a:spcPts val="1600"/>
              </a:spcBef>
              <a:spcAft>
                <a:spcPts val="0"/>
              </a:spcAft>
              <a:buNone/>
            </a:pPr>
            <a:r>
              <a:rPr lang="en-US" sz="1417" b="1">
                <a:solidFill>
                  <a:srgbClr val="0000FF"/>
                </a:solidFill>
                <a:highlight>
                  <a:srgbClr val="FFFFFF"/>
                </a:highlight>
                <a:latin typeface="Courier New"/>
                <a:ea typeface="Courier New"/>
                <a:cs typeface="Courier New"/>
                <a:sym typeface="Courier New"/>
              </a:rPr>
              <a:t>&gt; actual = test$Life_Expectancy</a:t>
            </a:r>
            <a:endParaRPr sz="1417" b="1">
              <a:solidFill>
                <a:srgbClr val="0000FF"/>
              </a:solidFill>
              <a:highlight>
                <a:srgbClr val="FFFFFF"/>
              </a:highlight>
              <a:latin typeface="Courier New"/>
              <a:ea typeface="Courier New"/>
              <a:cs typeface="Courier New"/>
              <a:sym typeface="Courier New"/>
            </a:endParaRPr>
          </a:p>
          <a:p>
            <a:pPr marL="609600" lvl="0" indent="0" algn="l" rtl="0">
              <a:spcBef>
                <a:spcPts val="1600"/>
              </a:spcBef>
              <a:spcAft>
                <a:spcPts val="0"/>
              </a:spcAft>
              <a:buNone/>
            </a:pPr>
            <a:r>
              <a:rPr lang="en-US" sz="1417" b="1">
                <a:solidFill>
                  <a:srgbClr val="0000FF"/>
                </a:solidFill>
                <a:highlight>
                  <a:srgbClr val="FFFFFF"/>
                </a:highlight>
                <a:latin typeface="Courier New"/>
                <a:ea typeface="Courier New"/>
                <a:cs typeface="Courier New"/>
                <a:sym typeface="Courier New"/>
              </a:rPr>
              <a:t>&gt; head(actual)</a:t>
            </a:r>
            <a:endParaRPr sz="1417" b="1">
              <a:solidFill>
                <a:srgbClr val="0000FF"/>
              </a:solidFill>
              <a:highlight>
                <a:srgbClr val="FFFFFF"/>
              </a:highlight>
              <a:latin typeface="Courier New"/>
              <a:ea typeface="Courier New"/>
              <a:cs typeface="Courier New"/>
              <a:sym typeface="Courier New"/>
            </a:endParaRPr>
          </a:p>
          <a:p>
            <a:pPr marL="0" lvl="0" indent="609600" algn="l" rtl="0">
              <a:lnSpc>
                <a:spcPct val="120000"/>
              </a:lnSpc>
              <a:spcBef>
                <a:spcPts val="1600"/>
              </a:spcBef>
              <a:spcAft>
                <a:spcPts val="0"/>
              </a:spcAft>
              <a:buNone/>
            </a:pPr>
            <a:r>
              <a:rPr lang="en-US" sz="1417" b="1">
                <a:solidFill>
                  <a:schemeClr val="dk1"/>
                </a:solidFill>
                <a:highlight>
                  <a:srgbClr val="FFFFFF"/>
                </a:highlight>
                <a:latin typeface="Courier New"/>
                <a:ea typeface="Courier New"/>
                <a:cs typeface="Courier New"/>
                <a:sym typeface="Courier New"/>
              </a:rPr>
              <a:t>[1] 59.5 59.2 58.1 57.3 54.8 76.9</a:t>
            </a:r>
            <a:endParaRPr sz="1417" b="1">
              <a:solidFill>
                <a:schemeClr val="dk1"/>
              </a:solidFill>
              <a:highlight>
                <a:srgbClr val="FFFFFF"/>
              </a:highlight>
              <a:latin typeface="Courier New"/>
              <a:ea typeface="Courier New"/>
              <a:cs typeface="Courier New"/>
              <a:sym typeface="Courier New"/>
            </a:endParaRPr>
          </a:p>
          <a:p>
            <a:pPr marL="609600" lvl="0" indent="0" algn="l" rtl="0">
              <a:spcBef>
                <a:spcPts val="0"/>
              </a:spcBef>
              <a:spcAft>
                <a:spcPts val="1600"/>
              </a:spcAft>
              <a:buNone/>
            </a:pPr>
            <a:endParaRPr sz="2517" b="1"/>
          </a:p>
        </p:txBody>
      </p:sp>
      <p:sp>
        <p:nvSpPr>
          <p:cNvPr id="399" name="Google Shape;399;p61"/>
          <p:cNvSpPr txBox="1">
            <a:spLocks noGrp="1"/>
          </p:cNvSpPr>
          <p:nvPr>
            <p:ph type="body" idx="1"/>
          </p:nvPr>
        </p:nvSpPr>
        <p:spPr>
          <a:xfrm>
            <a:off x="6441900" y="1536633"/>
            <a:ext cx="5072400" cy="4555200"/>
          </a:xfrm>
          <a:prstGeom prst="rect">
            <a:avLst/>
          </a:prstGeom>
        </p:spPr>
        <p:txBody>
          <a:bodyPr spcFirstLastPara="1" wrap="square" lIns="121900" tIns="121900" rIns="121900" bIns="121900" anchor="t" anchorCtr="0">
            <a:normAutofit/>
          </a:bodyPr>
          <a:lstStyle/>
          <a:p>
            <a:pPr marL="0" lvl="0" indent="0" algn="l" rtl="0">
              <a:spcBef>
                <a:spcPts val="0"/>
              </a:spcBef>
              <a:spcAft>
                <a:spcPts val="0"/>
              </a:spcAft>
              <a:buNone/>
            </a:pPr>
            <a:r>
              <a:rPr lang="en-US" sz="1400" b="1">
                <a:solidFill>
                  <a:srgbClr val="0000FF"/>
                </a:solidFill>
                <a:highlight>
                  <a:srgbClr val="FFFFFF"/>
                </a:highlight>
                <a:latin typeface="Courier New"/>
                <a:ea typeface="Courier New"/>
                <a:cs typeface="Courier New"/>
                <a:sym typeface="Courier New"/>
              </a:rPr>
              <a:t>&gt; cor(prediction, actual)</a:t>
            </a:r>
            <a:endParaRPr sz="1400" b="1">
              <a:solidFill>
                <a:srgbClr val="0000FF"/>
              </a:solidFill>
              <a:highlight>
                <a:srgbClr val="FFFFFF"/>
              </a:highlight>
              <a:latin typeface="Courier New"/>
              <a:ea typeface="Courier New"/>
              <a:cs typeface="Courier New"/>
              <a:sym typeface="Courier New"/>
            </a:endParaRPr>
          </a:p>
          <a:p>
            <a:pPr marL="0" lvl="0" indent="0" algn="l" rtl="0">
              <a:lnSpc>
                <a:spcPct val="120000"/>
              </a:lnSpc>
              <a:spcBef>
                <a:spcPts val="1600"/>
              </a:spcBef>
              <a:spcAft>
                <a:spcPts val="0"/>
              </a:spcAft>
              <a:buNone/>
            </a:pPr>
            <a:r>
              <a:rPr lang="en-US" sz="1400" b="1">
                <a:solidFill>
                  <a:schemeClr val="dk1"/>
                </a:solidFill>
                <a:highlight>
                  <a:srgbClr val="FFFFFF"/>
                </a:highlight>
                <a:latin typeface="Courier New"/>
                <a:ea typeface="Courier New"/>
                <a:cs typeface="Courier New"/>
                <a:sym typeface="Courier New"/>
              </a:rPr>
              <a:t>[1] 0.9215453</a:t>
            </a:r>
            <a:endParaRPr sz="1400" b="1">
              <a:solidFill>
                <a:schemeClr val="dk1"/>
              </a:solidFill>
              <a:highlight>
                <a:srgbClr val="FFFFFF"/>
              </a:highlight>
              <a:latin typeface="Courier New"/>
              <a:ea typeface="Courier New"/>
              <a:cs typeface="Courier New"/>
              <a:sym typeface="Courier New"/>
            </a:endParaRPr>
          </a:p>
          <a:p>
            <a:pPr marL="0" lvl="0" indent="0" algn="l" rtl="0">
              <a:spcBef>
                <a:spcPts val="0"/>
              </a:spcBef>
              <a:spcAft>
                <a:spcPts val="0"/>
              </a:spcAft>
              <a:buNone/>
            </a:pPr>
            <a:endParaRPr b="1"/>
          </a:p>
          <a:p>
            <a:pPr marL="0" lvl="0" indent="0" algn="l" rtl="0">
              <a:spcBef>
                <a:spcPts val="1600"/>
              </a:spcBef>
              <a:spcAft>
                <a:spcPts val="0"/>
              </a:spcAft>
              <a:buNone/>
            </a:pPr>
            <a:r>
              <a:rPr lang="en-US" sz="1800"/>
              <a:t>- The correlation coefficient is close to +1 indicating a perfect positive relationship between the actual and predicted values.</a:t>
            </a:r>
            <a:endParaRPr sz="1800"/>
          </a:p>
          <a:p>
            <a:pPr marL="0" lvl="0" indent="0" algn="l" rtl="0">
              <a:spcBef>
                <a:spcPts val="1600"/>
              </a:spcBef>
              <a:spcAft>
                <a:spcPts val="1600"/>
              </a:spcAft>
              <a:buNone/>
            </a:pPr>
            <a:endParaRPr sz="200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p62"/>
          <p:cNvSpPr txBox="1">
            <a:spLocks noGrp="1"/>
          </p:cNvSpPr>
          <p:nvPr>
            <p:ph type="title"/>
          </p:nvPr>
        </p:nvSpPr>
        <p:spPr>
          <a:xfrm>
            <a:off x="415600" y="593367"/>
            <a:ext cx="11360700" cy="763500"/>
          </a:xfrm>
          <a:prstGeom prst="rect">
            <a:avLst/>
          </a:prstGeom>
        </p:spPr>
        <p:txBody>
          <a:bodyPr spcFirstLastPara="1" wrap="square" lIns="121900" tIns="121900" rIns="121900" bIns="121900" anchor="t" anchorCtr="0">
            <a:normAutofit fontScale="90000"/>
          </a:bodyPr>
          <a:lstStyle/>
          <a:p>
            <a:pPr marL="0" lvl="0" indent="0" algn="ctr" rtl="0">
              <a:spcBef>
                <a:spcPts val="0"/>
              </a:spcBef>
              <a:spcAft>
                <a:spcPts val="0"/>
              </a:spcAft>
              <a:buNone/>
            </a:pPr>
            <a:r>
              <a:rPr lang="en-US"/>
              <a:t>Conclusion</a:t>
            </a:r>
            <a:endParaRPr/>
          </a:p>
        </p:txBody>
      </p:sp>
      <p:sp>
        <p:nvSpPr>
          <p:cNvPr id="405" name="Google Shape;405;p62"/>
          <p:cNvSpPr txBox="1">
            <a:spLocks noGrp="1"/>
          </p:cNvSpPr>
          <p:nvPr>
            <p:ph type="body" idx="1"/>
          </p:nvPr>
        </p:nvSpPr>
        <p:spPr>
          <a:xfrm>
            <a:off x="415600" y="1536633"/>
            <a:ext cx="11360700" cy="4555200"/>
          </a:xfrm>
          <a:prstGeom prst="rect">
            <a:avLst/>
          </a:prstGeom>
        </p:spPr>
        <p:txBody>
          <a:bodyPr spcFirstLastPara="1" wrap="square" lIns="121900" tIns="121900" rIns="121900" bIns="121900" anchor="t" anchorCtr="0">
            <a:normAutofit/>
          </a:bodyPr>
          <a:lstStyle/>
          <a:p>
            <a:pPr marL="457200" lvl="0" indent="-381000" algn="just" rtl="0">
              <a:spcBef>
                <a:spcPts val="0"/>
              </a:spcBef>
              <a:spcAft>
                <a:spcPts val="0"/>
              </a:spcAft>
              <a:buSzPts val="2400"/>
              <a:buChar char="-"/>
            </a:pPr>
            <a:r>
              <a:rPr lang="en-US"/>
              <a:t>The final regression model achieved has an R-squared value of 0.85 which explains about 85% of variance in predicting the Life Expectancy.</a:t>
            </a:r>
            <a:endParaRPr/>
          </a:p>
          <a:p>
            <a:pPr marL="457200" lvl="0" indent="-381000" algn="just" rtl="0">
              <a:spcBef>
                <a:spcPts val="1000"/>
              </a:spcBef>
              <a:spcAft>
                <a:spcPts val="0"/>
              </a:spcAft>
              <a:buSzPts val="2400"/>
              <a:buChar char="-"/>
            </a:pPr>
            <a:r>
              <a:rPr lang="en-US"/>
              <a:t>It is observed that the life expectancy increases with an increase in the socio-economic factors like GDP, Percentage_Expenditure, Income Composition of resources, Immunization Coverage(Polio, Hepatitis_B, Diphtheria) and Schooling.</a:t>
            </a:r>
            <a:endParaRPr/>
          </a:p>
          <a:p>
            <a:pPr marL="457200" lvl="0" indent="-381000" algn="just" rtl="0">
              <a:spcBef>
                <a:spcPts val="1000"/>
              </a:spcBef>
              <a:spcAft>
                <a:spcPts val="1000"/>
              </a:spcAft>
              <a:buSzPts val="2400"/>
              <a:buChar char="-"/>
            </a:pPr>
            <a:r>
              <a:rPr lang="en-US"/>
              <a:t>There is a negative relationship with demographic variables like Adult_Mortality, Infant_Deaths and Alcohol.</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sp>
        <p:nvSpPr>
          <p:cNvPr id="410" name="Google Shape;410;p63"/>
          <p:cNvSpPr txBox="1">
            <a:spLocks noGrp="1"/>
          </p:cNvSpPr>
          <p:nvPr>
            <p:ph type="title"/>
          </p:nvPr>
        </p:nvSpPr>
        <p:spPr>
          <a:xfrm>
            <a:off x="415600" y="593367"/>
            <a:ext cx="11360700" cy="763500"/>
          </a:xfrm>
          <a:prstGeom prst="rect">
            <a:avLst/>
          </a:prstGeom>
        </p:spPr>
        <p:txBody>
          <a:bodyPr spcFirstLastPara="1" wrap="square" lIns="121900" tIns="121900" rIns="121900" bIns="121900" anchor="t" anchorCtr="0">
            <a:normAutofit fontScale="90000"/>
          </a:bodyPr>
          <a:lstStyle/>
          <a:p>
            <a:pPr marL="0" lvl="0" indent="0" algn="ctr" rtl="0">
              <a:spcBef>
                <a:spcPts val="0"/>
              </a:spcBef>
              <a:spcAft>
                <a:spcPts val="0"/>
              </a:spcAft>
              <a:buNone/>
            </a:pPr>
            <a:r>
              <a:rPr lang="en-US"/>
              <a:t>Future Scope</a:t>
            </a:r>
            <a:endParaRPr/>
          </a:p>
        </p:txBody>
      </p:sp>
      <p:sp>
        <p:nvSpPr>
          <p:cNvPr id="411" name="Google Shape;411;p63"/>
          <p:cNvSpPr txBox="1">
            <a:spLocks noGrp="1"/>
          </p:cNvSpPr>
          <p:nvPr>
            <p:ph type="body" idx="1"/>
          </p:nvPr>
        </p:nvSpPr>
        <p:spPr>
          <a:xfrm>
            <a:off x="415600" y="1536633"/>
            <a:ext cx="11360700" cy="4555200"/>
          </a:xfrm>
          <a:prstGeom prst="rect">
            <a:avLst/>
          </a:prstGeom>
        </p:spPr>
        <p:txBody>
          <a:bodyPr spcFirstLastPara="1" wrap="square" lIns="121900" tIns="121900" rIns="121900" bIns="121900" anchor="t" anchorCtr="0">
            <a:normAutofit/>
          </a:bodyPr>
          <a:lstStyle/>
          <a:p>
            <a:pPr marL="457200" lvl="0" indent="-381000" algn="l" rtl="0">
              <a:spcBef>
                <a:spcPts val="0"/>
              </a:spcBef>
              <a:spcAft>
                <a:spcPts val="0"/>
              </a:spcAft>
              <a:buSzPts val="2400"/>
              <a:buChar char="-"/>
            </a:pPr>
            <a:r>
              <a:rPr lang="en-US"/>
              <a:t>The model can further be refined employing various advanced regression methods for a deeper analysis into the data.</a:t>
            </a:r>
            <a:endParaRPr/>
          </a:p>
          <a:p>
            <a:pPr marL="457200" lvl="0" indent="-381000" algn="l" rtl="0">
              <a:spcBef>
                <a:spcPts val="1000"/>
              </a:spcBef>
              <a:spcAft>
                <a:spcPts val="0"/>
              </a:spcAft>
              <a:buSzPts val="2400"/>
              <a:buChar char="-"/>
            </a:pPr>
            <a:r>
              <a:rPr lang="en-US"/>
              <a:t>Several other influential factors like the pollution, diet, lifestyle and more could be introduced in order to predict the average life expectancy at a better extent.</a:t>
            </a:r>
            <a:endParaRPr/>
          </a:p>
          <a:p>
            <a:pPr marL="0" lvl="0" indent="0" algn="l" rtl="0">
              <a:spcBef>
                <a:spcPts val="1000"/>
              </a:spcBef>
              <a:spcAft>
                <a:spcPts val="1000"/>
              </a:spcAft>
              <a:buNone/>
            </a:pPr>
            <a:r>
              <a:rPr lang="en-US"/>
              <a:t> For example, the variable ‘alcohol’ is inversely proportional to the response variable. Which means, the increase in the alcohol consumption would lower the life expectancy. But, delving deep into the lifestyle, diet and other factors, there is a potential chance of maintaining the average life expectancy despite the alcohol consumption.</a:t>
            </a: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5451</Words>
  <Application>Microsoft Office PowerPoint</Application>
  <PresentationFormat>Widescreen</PresentationFormat>
  <Paragraphs>482</Paragraphs>
  <Slides>48</Slides>
  <Notes>48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48</vt:i4>
      </vt:variant>
    </vt:vector>
  </HeadingPairs>
  <TitlesOfParts>
    <vt:vector size="54" baseType="lpstr">
      <vt:lpstr>Corbel</vt:lpstr>
      <vt:lpstr>Courier New</vt:lpstr>
      <vt:lpstr>Times New Roman</vt:lpstr>
      <vt:lpstr>Arial</vt:lpstr>
      <vt:lpstr>Inter</vt:lpstr>
      <vt:lpstr>Simple Light</vt:lpstr>
      <vt:lpstr>Life Expectancy Based on Various Health and Demographic Factors</vt:lpstr>
      <vt:lpstr>DATA SYNERGISTS</vt:lpstr>
      <vt:lpstr>Overview</vt:lpstr>
      <vt:lpstr>Introduction</vt:lpstr>
      <vt:lpstr>Data Description Summary </vt:lpstr>
      <vt:lpstr> Data Description</vt:lpstr>
      <vt:lpstr>Data Pre-Processing </vt:lpstr>
      <vt:lpstr>Histogram of Life Expectancy in Asia And Africa</vt:lpstr>
      <vt:lpstr>Correlation Matrix  </vt:lpstr>
      <vt:lpstr>Simple Linear Model</vt:lpstr>
      <vt:lpstr>Performing VIF Performing VIF Peforming VIF Values</vt:lpstr>
      <vt:lpstr>Step Wise Regression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Predictive analysis of life expectancy over various continents in the  Health &amp; Demographics dataset.</vt:lpstr>
      <vt:lpstr>Data Preprocessing</vt:lpstr>
      <vt:lpstr>Variables</vt:lpstr>
      <vt:lpstr>Data Preprocessing</vt:lpstr>
      <vt:lpstr>Summary Statistics</vt:lpstr>
      <vt:lpstr>SCATTERPLOTS</vt:lpstr>
      <vt:lpstr>PowerPoint Presentation</vt:lpstr>
      <vt:lpstr>PowerPoint Presentation</vt:lpstr>
      <vt:lpstr>PowerPoint Presentation</vt:lpstr>
      <vt:lpstr>PowerPoint Presentation</vt:lpstr>
      <vt:lpstr>BOX PLOTS</vt:lpstr>
      <vt:lpstr>PowerPoint Presentation</vt:lpstr>
      <vt:lpstr>MULTICOLLINEARITY - Correlation Matrix</vt:lpstr>
      <vt:lpstr>Correlation Plot</vt:lpstr>
      <vt:lpstr>Linear Regression Model</vt:lpstr>
      <vt:lpstr>Stepwise Regression - Backward Elimination </vt:lpstr>
      <vt:lpstr>Stepwise Regression - Forward Selection </vt:lpstr>
      <vt:lpstr>Multicollinearity - Variance Inflation Factor (VIF)</vt:lpstr>
      <vt:lpstr>Final model after removing values with high VIF</vt:lpstr>
      <vt:lpstr>Residual Analysis</vt:lpstr>
      <vt:lpstr>Residual Plots </vt:lpstr>
      <vt:lpstr>PowerPoint Presentation</vt:lpstr>
      <vt:lpstr>Test and Train Models</vt:lpstr>
      <vt:lpstr>Conclusion</vt:lpstr>
      <vt:lpstr>Future Scope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Sai Raga Mounika Darimireddy</cp:lastModifiedBy>
  <cp:revision>2</cp:revision>
  <dcterms:modified xsi:type="dcterms:W3CDTF">2025-11-03T18:28:06Z</dcterms:modified>
</cp:coreProperties>
</file>